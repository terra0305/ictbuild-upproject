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DD35203B-2076-13B2-C53D-C6D8ACCCC3F8}">
          <p14:sldIdLst>
            <p14:sldId id="256"/>
            <p14:sldId id="257"/>
            <p14:sldId id="258"/>
          </p14:sldIdLst>
        </p14:section>
        <p14:section name="서비스" id="{C58BFC5F-894E-9DA6-13EA-4629C2695D90}">
          <p14:sldIdLst>
            <p14:sldId id="259"/>
            <p14:sldId id="260"/>
            <p14:sldId id="261"/>
          </p14:sldIdLst>
        </p14:section>
        <p14:section name="핵심 기술" id="{0D787139-E52C-633C-8357-D5509A443E1A}">
          <p14:sldIdLst>
            <p14:sldId id="262"/>
            <p14:sldId id="263"/>
            <p14:sldId id="264"/>
          </p14:sldIdLst>
        </p14:section>
        <p14:section name="성과" id="{F42ABE59-356C-29BB-3E1B-9C8A885E3C8C}">
          <p14:sldIdLst>
            <p14:sldId id="265"/>
            <p14:sldId id="266"/>
          </p14:sldIdLst>
        </p14:section>
        <p14:section name="마무리" id="{AAFC32F7-E95E-9D0A-3EFF-900258B59255}">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592"/>
  </p:normalViewPr>
  <p:slideViewPr>
    <p:cSldViewPr snapToGrid="0" snapToObjects="1">
      <p:cViewPr varScale="1">
        <p:scale>
          <a:sx n="149" d="100"/>
          <a:sy n="149" d="100"/>
        </p:scale>
        <p:origin x="19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반환율</c:v>
                </c:pt>
              </c:strCache>
            </c:strRef>
          </c:tx>
          <c:spPr>
            <a:solidFill>
              <a:srgbClr val="AEAEB2"/>
            </a:solidFill>
            <a:effectLst/>
          </c:spPr>
          <c:invertIfNegative val="0"/>
          <c:dPt>
            <c:idx val="0"/>
            <c:invertIfNegative val="0"/>
            <c:bubble3D val="0"/>
            <c:extLst>
              <c:ext xmlns:c16="http://schemas.microsoft.com/office/drawing/2014/chart" uri="{C3380CC4-5D6E-409C-BE32-E72D297353CC}">
                <c16:uniqueId val="{00000001-B816-8042-9BDD-82AFF3D7BB5C}"/>
              </c:ext>
            </c:extLst>
          </c:dPt>
          <c:dPt>
            <c:idx val="1"/>
            <c:invertIfNegative val="0"/>
            <c:bubble3D val="0"/>
            <c:extLst>
              <c:ext xmlns:c16="http://schemas.microsoft.com/office/drawing/2014/chart" uri="{C3380CC4-5D6E-409C-BE32-E72D297353CC}">
                <c16:uniqueId val="{00000003-B816-8042-9BDD-82AFF3D7BB5C}"/>
              </c:ext>
            </c:extLst>
          </c:dPt>
          <c:dPt>
            <c:idx val="2"/>
            <c:invertIfNegative val="0"/>
            <c:bubble3D val="0"/>
            <c:extLst>
              <c:ext xmlns:c16="http://schemas.microsoft.com/office/drawing/2014/chart" uri="{C3380CC4-5D6E-409C-BE32-E72D297353CC}">
                <c16:uniqueId val="{00000005-B816-8042-9BDD-82AFF3D7BB5C}"/>
              </c:ext>
            </c:extLst>
          </c:dPt>
          <c:dPt>
            <c:idx val="3"/>
            <c:invertIfNegative val="0"/>
            <c:bubble3D val="0"/>
            <c:extLst>
              <c:ext xmlns:c16="http://schemas.microsoft.com/office/drawing/2014/chart" uri="{C3380CC4-5D6E-409C-BE32-E72D297353CC}">
                <c16:uniqueId val="{00000007-B816-8042-9BDD-82AFF3D7BB5C}"/>
              </c:ext>
            </c:extLst>
          </c:dPt>
          <c:dPt>
            <c:idx val="4"/>
            <c:invertIfNegative val="0"/>
            <c:bubble3D val="0"/>
            <c:spPr>
              <a:solidFill>
                <a:srgbClr val="000000"/>
              </a:solidFill>
              <a:effectLst/>
            </c:spPr>
            <c:extLst>
              <c:ext xmlns:c16="http://schemas.microsoft.com/office/drawing/2014/chart" uri="{C3380CC4-5D6E-409C-BE32-E72D297353CC}">
                <c16:uniqueId val="{00000009-B816-8042-9BDD-82AFF3D7BB5C}"/>
              </c:ext>
            </c:extLst>
          </c:dPt>
          <c:dLbls>
            <c:numFmt formatCode="0.0&quot;%&quot;" sourceLinked="0"/>
            <c:spPr>
              <a:noFill/>
              <a:ln>
                <a:noFill/>
              </a:ln>
              <a:effectLst/>
            </c:spPr>
            <c:txPr>
              <a:bodyPr/>
              <a:lstStyle/>
              <a:p>
                <a:pPr>
                  <a:defRPr sz="1400" b="1" i="0" u="none" strike="noStrike">
                    <a:solidFill>
                      <a:srgbClr val="000000"/>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65.599999999999994</c:v>
                </c:pt>
                <c:pt idx="1">
                  <c:v>63</c:v>
                </c:pt>
                <c:pt idx="2">
                  <c:v>60</c:v>
                </c:pt>
                <c:pt idx="3">
                  <c:v>56.9</c:v>
                </c:pt>
                <c:pt idx="4">
                  <c:v>51.5</c:v>
                </c:pt>
              </c:numCache>
            </c:numRef>
          </c:val>
          <c:extLst>
            <c:ext xmlns:c16="http://schemas.microsoft.com/office/drawing/2014/chart" uri="{C3380CC4-5D6E-409C-BE32-E72D297353CC}">
              <c16:uniqueId val="{0000000A-B816-8042-9BDD-82AFF3D7BB5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가중치</c:v>
                </c:pt>
              </c:strCache>
            </c:strRef>
          </c:tx>
          <c:spPr>
            <a:solidFill>
              <a:srgbClr val="000000"/>
            </a:solidFill>
            <a:effectLst/>
          </c:spPr>
          <c:invertIfNegative val="0"/>
          <c:dPt>
            <c:idx val="0"/>
            <c:invertIfNegative val="0"/>
            <c:bubble3D val="0"/>
            <c:extLst>
              <c:ext xmlns:c16="http://schemas.microsoft.com/office/drawing/2014/chart" uri="{C3380CC4-5D6E-409C-BE32-E72D297353CC}">
                <c16:uniqueId val="{00000001-D972-1343-91D4-66E02E4BBDC5}"/>
              </c:ext>
            </c:extLst>
          </c:dPt>
          <c:dPt>
            <c:idx val="1"/>
            <c:invertIfNegative val="0"/>
            <c:bubble3D val="0"/>
            <c:extLst>
              <c:ext xmlns:c16="http://schemas.microsoft.com/office/drawing/2014/chart" uri="{C3380CC4-5D6E-409C-BE32-E72D297353CC}">
                <c16:uniqueId val="{00000003-D972-1343-91D4-66E02E4BBDC5}"/>
              </c:ext>
            </c:extLst>
          </c:dPt>
          <c:dPt>
            <c:idx val="2"/>
            <c:invertIfNegative val="0"/>
            <c:bubble3D val="0"/>
            <c:extLst>
              <c:ext xmlns:c16="http://schemas.microsoft.com/office/drawing/2014/chart" uri="{C3380CC4-5D6E-409C-BE32-E72D297353CC}">
                <c16:uniqueId val="{00000005-D972-1343-91D4-66E02E4BBDC5}"/>
              </c:ext>
            </c:extLst>
          </c:dPt>
          <c:dPt>
            <c:idx val="3"/>
            <c:invertIfNegative val="0"/>
            <c:bubble3D val="0"/>
            <c:extLst>
              <c:ext xmlns:c16="http://schemas.microsoft.com/office/drawing/2014/chart" uri="{C3380CC4-5D6E-409C-BE32-E72D297353CC}">
                <c16:uniqueId val="{00000007-D972-1343-91D4-66E02E4BBDC5}"/>
              </c:ext>
            </c:extLst>
          </c:dPt>
          <c:dPt>
            <c:idx val="4"/>
            <c:invertIfNegative val="0"/>
            <c:bubble3D val="0"/>
            <c:extLst>
              <c:ext xmlns:c16="http://schemas.microsoft.com/office/drawing/2014/chart" uri="{C3380CC4-5D6E-409C-BE32-E72D297353CC}">
                <c16:uniqueId val="{00000009-D972-1343-91D4-66E02E4BBDC5}"/>
              </c:ext>
            </c:extLst>
          </c:dPt>
          <c:dPt>
            <c:idx val="5"/>
            <c:invertIfNegative val="0"/>
            <c:bubble3D val="0"/>
            <c:spPr>
              <a:solidFill>
                <a:srgbClr val="AEAEB2"/>
              </a:solidFill>
              <a:effectLst/>
            </c:spPr>
            <c:extLst>
              <c:ext xmlns:c16="http://schemas.microsoft.com/office/drawing/2014/chart" uri="{C3380CC4-5D6E-409C-BE32-E72D297353CC}">
                <c16:uniqueId val="{0000000B-D972-1343-91D4-66E02E4BBDC5}"/>
              </c:ext>
            </c:extLst>
          </c:dPt>
          <c:dLbls>
            <c:numFmt formatCode="0&quot;%&quot;" sourceLinked="0"/>
            <c:spPr>
              <a:noFill/>
              <a:ln>
                <a:noFill/>
              </a:ln>
              <a:effectLst/>
            </c:spPr>
            <c:txPr>
              <a:bodyPr/>
              <a:lstStyle/>
              <a:p>
                <a:pPr>
                  <a:defRPr sz="1400" b="1" i="0" u="none" strike="noStrike">
                    <a:solidFill>
                      <a:srgbClr val="000000"/>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텍스트 유사도</c:v>
                </c:pt>
                <c:pt idx="1">
                  <c:v>카테고리</c:v>
                </c:pt>
                <c:pt idx="2">
                  <c:v>색상</c:v>
                </c:pt>
                <c:pt idx="3">
                  <c:v>분실 장소</c:v>
                </c:pt>
                <c:pt idx="4">
                  <c:v>날짜</c:v>
                </c:pt>
                <c:pt idx="5">
                  <c:v>사진 (로드맵)</c:v>
                </c:pt>
              </c:strCache>
            </c:strRef>
          </c:cat>
          <c:val>
            <c:numRef>
              <c:f>Sheet1!$B$2:$B$7</c:f>
              <c:numCache>
                <c:formatCode>General</c:formatCode>
                <c:ptCount val="6"/>
                <c:pt idx="0">
                  <c:v>35</c:v>
                </c:pt>
                <c:pt idx="1">
                  <c:v>15</c:v>
                </c:pt>
                <c:pt idx="2">
                  <c:v>10</c:v>
                </c:pt>
                <c:pt idx="3">
                  <c:v>10</c:v>
                </c:pt>
                <c:pt idx="4">
                  <c:v>5</c:v>
                </c:pt>
                <c:pt idx="5">
                  <c:v>25</c:v>
                </c:pt>
              </c:numCache>
            </c:numRef>
          </c:val>
          <c:extLst>
            <c:ext xmlns:c16="http://schemas.microsoft.com/office/drawing/2014/chart" uri="{C3380CC4-5D6E-409C-BE32-E72D297353CC}">
              <c16:uniqueId val="{0000000C-D972-1343-91D4-66E02E4BBDC5}"/>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TOP 5 적중률</c:v>
                </c:pt>
              </c:strCache>
            </c:strRef>
          </c:tx>
          <c:spPr>
            <a:solidFill>
              <a:srgbClr val="AEAEB2"/>
            </a:solidFill>
            <a:effectLst/>
          </c:spPr>
          <c:invertIfNegative val="0"/>
          <c:dPt>
            <c:idx val="0"/>
            <c:invertIfNegative val="0"/>
            <c:bubble3D val="0"/>
            <c:extLst>
              <c:ext xmlns:c16="http://schemas.microsoft.com/office/drawing/2014/chart" uri="{C3380CC4-5D6E-409C-BE32-E72D297353CC}">
                <c16:uniqueId val="{00000001-14F3-4A4B-A35E-BF54B9221108}"/>
              </c:ext>
            </c:extLst>
          </c:dPt>
          <c:dPt>
            <c:idx val="1"/>
            <c:invertIfNegative val="0"/>
            <c:bubble3D val="0"/>
            <c:extLst>
              <c:ext xmlns:c16="http://schemas.microsoft.com/office/drawing/2014/chart" uri="{C3380CC4-5D6E-409C-BE32-E72D297353CC}">
                <c16:uniqueId val="{00000003-14F3-4A4B-A35E-BF54B9221108}"/>
              </c:ext>
            </c:extLst>
          </c:dPt>
          <c:dPt>
            <c:idx val="2"/>
            <c:invertIfNegative val="0"/>
            <c:bubble3D val="0"/>
            <c:extLst>
              <c:ext xmlns:c16="http://schemas.microsoft.com/office/drawing/2014/chart" uri="{C3380CC4-5D6E-409C-BE32-E72D297353CC}">
                <c16:uniqueId val="{00000005-14F3-4A4B-A35E-BF54B9221108}"/>
              </c:ext>
            </c:extLst>
          </c:dPt>
          <c:dPt>
            <c:idx val="3"/>
            <c:invertIfNegative val="0"/>
            <c:bubble3D val="0"/>
            <c:spPr>
              <a:solidFill>
                <a:srgbClr val="000000"/>
              </a:solidFill>
              <a:effectLst/>
            </c:spPr>
            <c:extLst>
              <c:ext xmlns:c16="http://schemas.microsoft.com/office/drawing/2014/chart" uri="{C3380CC4-5D6E-409C-BE32-E72D297353CC}">
                <c16:uniqueId val="{00000007-14F3-4A4B-A35E-BF54B9221108}"/>
              </c:ext>
            </c:extLst>
          </c:dPt>
          <c:dLbls>
            <c:numFmt formatCode="0.0&quot;%&quot;" sourceLinked="0"/>
            <c:spPr>
              <a:noFill/>
              <a:ln>
                <a:noFill/>
              </a:ln>
              <a:effectLst/>
            </c:spPr>
            <c:txPr>
              <a:bodyPr/>
              <a:lstStyle/>
              <a:p>
                <a:pPr>
                  <a:defRPr sz="1400" b="1" i="0" u="none" strike="noStrike">
                    <a:solidFill>
                      <a:srgbClr val="000000"/>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키워드 단어 일치</c:v>
                </c:pt>
                <c:pt idx="1">
                  <c:v>키워드 TF-IDF</c:v>
                </c:pt>
                <c:pt idx="2">
                  <c:v>TF-IDF + 지역·날짜 필터</c:v>
                </c:pt>
                <c:pt idx="3">
                  <c:v>ReFind</c:v>
                </c:pt>
              </c:strCache>
            </c:strRef>
          </c:cat>
          <c:val>
            <c:numRef>
              <c:f>Sheet1!$B$2:$B$5</c:f>
              <c:numCache>
                <c:formatCode>General</c:formatCode>
                <c:ptCount val="4"/>
                <c:pt idx="0">
                  <c:v>57.7</c:v>
                </c:pt>
                <c:pt idx="1">
                  <c:v>68.3</c:v>
                </c:pt>
                <c:pt idx="2">
                  <c:v>85</c:v>
                </c:pt>
                <c:pt idx="3">
                  <c:v>96.7</c:v>
                </c:pt>
              </c:numCache>
            </c:numRef>
          </c:val>
          <c:extLst>
            <c:ext xmlns:c16="http://schemas.microsoft.com/office/drawing/2014/chart" uri="{C3380CC4-5D6E-409C-BE32-E72D297353CC}">
              <c16:uniqueId val="{00000008-14F3-4A4B-A35E-BF54B922110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1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69416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20초]
안녕하세요, ICT 빌드업 캠프 최종발표를 맡은 김민서입니다.
저희가 만든 서비스는 ReFind, "잃어버린 물건이 나를 먼저 찾아옵니다"라는 한 줄로 요약할 수 있습니다.
지금부터 8분 동안 문제, 해결 방법, 실제 시연, 그리고 핵심 기술까지 차례대로 말씀드리겠습니다.
(화면 오른쪽의 카드는 실제 서비스 첫 화면의 매칭 결과 구성입니다.)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 40초]
먼저 문제입니다. 서울 지하철 유실물 접수는 2021년 약 10만 2천 건에서 2025년 16만 8천 건으로 65% 늘었습니다.
그런데 주인에게 돌아간 비율은 같은 기간 65.6%에서 51.5%로 떨어졌습니다.
물건은 늘고, 돌아가는 비율은 줄고 있다는 뜻입니다.
출처는 서울교통공사 유실물 데이터를 분석한 보도이며, 서울 지하철 기준이라는 점을 함께 밝혀 둡니다.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[1:00–1:40 · 40초]
그렇다면 이미 있는 서비스는 어디까지 해결했을까요?
경찰청 LOST112는 전국 습득물을 조회할 수 있지만 유사 판단 기준이 공개되어 있지 않고, 신고에는 실명인증이 필요합니다.
당근은 이웃의 글에 의존하는 수동 방식이고, 파인딩올은 QR 스티커와 거점 확보가 중심입니다.
서울교통공사의 집앞배송은 돌려주는 단계를 개선한 것입니다.
그래서 ReFind는 전국 공식 습득물 전체를, 근거를 보여 주며, 자동으로 매칭하는 자리에 집중했습니다.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[1:40–2:15 · 35초]
ReFind의 사용 방법은 세 단계입니다.
첫째, 물품과 색상, 장소, 날짜, 특징을 4단계로 등록합니다.
둘째, 경찰청 LOST112 습득물과 자동으로 비교해서 가능성 높은 후보 TOP 5와 그 근거를 보여 드립니다.
셋째, 지금 후보가 없어도 괜찮습니다. 새 습득물이 들어오면 다시 비교해서 먼저 알려 드립니다.
오른쪽이 실제 서비스의 결과 화면 구성입니다.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[2:15–3:25 · 약 70초 — 영상 재생]
지금부터 시연 영상을 보시겠습니다. (슬라이드의 영상을 클릭해 재생. 영상은 가입 → 분실물 등록 4단계 → TOP 5 후보와 근거 → 후보 상세 → 알림 순서이고, 약 1분 10초입니다.)
영상 속 포인트 세 가지만 짚겠습니다.
① 등록은 이름과 특징, 날짜, 지역만으로 끝나고, ② 후보마다 점수와 이유가 함께 나오며, ③ 새 습득물이 생기면 알림으로 먼저 알려 줍니다.
(영상은 운영 서비스에서 시연 계정으로 녹화했고, 분실 날짜를 2주 전으로 등록해 이미 보관 중인 습득물이 후보로 나온 장면입니다. 영상이 끝나면 다음 슬라이드로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[3:15–3:45 · 30초]
서비스 화면을 한 번 더 정리해 보겠습니다.
디자인은 흑백 단색의 "분실물 태그" 콘셉트로 통일했습니다. 점수는 검은 태그 안에 크게 보여 줍니다.
라이트와 다크 테마를 지원하고, 선택값은 저장되어 첫 화면에서 깜빡임 없이 적용됩니다.
당황한 상태에서 휴대폰으로 급하게 등록하는 경우가 많기 때문에 모바일 우선으로 설계했고, 본문 건너뛰기 링크와 동작 줄이기 같은 접근성도 반영했습니다.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[3:45–4:25 · 40초]
첫 번째 차별점은 이름이 달라도 같은 물건을 알아본다는 점입니다.
제가 "갈색 가죽 카드지갑, 카드 5장"을 등록했다고 해 보겠습니다.
습득물 A는 "명함 케이스, 갈색 가죽 명함지갑"으로 이름이 다르지만 의미가 비슷해서 0.92점으로 상위 후보가 됩니다.
습득물 B는 이름은 같은 카드지갑이지만 색과 재질, 내용이 달라서 0.76점에 그칩니다.
이 점수는 다국어 문장 임베딩의 코사인 유사도이고, 확정 확률이 아니라 유사도라는 점을 화면에도 그대로 안내하고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[4:25–5:10 · 45초]
두 번째 차별점은 왜 추천했는지 점수로 보여 준다는 점입니다.
최종 점수는 텍스트 유사도 35%, 카테고리 15%, 색상 10%, 분실 장소 10%, 날짜 5%를 합산합니다. 사진 유사도 25%는 로드맵 항목입니다.
오른쪽이 실제 코드의 핵심입니다. 가중치를 딕셔너리로 두고, 값이 없는 항목은 빼고 남은 가중치로 다시 정규화합니다.
그래서 사진이 없어도, 장소 정보가 없어도 점수가 왜곡되지 않습니다.
이 계산 결과가 후보 카드의 "종류가 일치합니다" 같은 근거 문장으로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[5:10–5:50 · 40초]
세 번째는 엉뚱한 후보를 걸러내는 일입니다.
개선 전에는 조선대에서 잃어버린 카드지갑에 대전, 제주, 부산 경찰서의 습득물이 후보로 나왔습니다. 경찰서 이름에서 지역을 잘못 뽑았기 때문입니다. "제주동부경찰서"를 광주로 판정한 경우도 있었습니다.
지금은 코드처럼 종류, 날짜 범위, 시·도, 거리 조건을 모두 통과한 습득물만 점수를 계산합니다.
알림은 점수가 0.78 이상일 때만, 같은 매칭은 한 번만 보냅니다. 습득물은 매일 새벽 4시에 수집하고 다시 매칭합니다.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[5:50–6:30 · 40초]
그럼 실제로 얼마나 잘 찾을까요?
자체 검증셋으로 측정한 TOP 5 적중률은 96.7%입니다. 지역·날짜 필터를 쓴 키워드 검색의 85.0%보다 11.7%p 높고, 계획서 목표인 70%를 넘었습니다. MRR은 0.855, 1위 적중은 76.0%입니다.
다만 솔직하게 말씀드리면, 이 검증셋은 정답쌍 60건과 방해 습득물 600건으로 직접 만든 것입니다. 실제 데이터로 평가하는 일은 앞으로의 과제로 남겨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[6:30–7:00 · 30초]
ReFind는 데모가 아니라 AWS 서울 리전에서 운영 중인 서비스입니다.
사용자는 CloudFront로 접속하고, EC2의 Docker 안에서 Next.js와 FastAPI, PostgreSQL, 매일 수집 크론이 돌면서 LOST112 공공데이터를 가져옵니다.
분실물 1건 임베딩은 CPU에서 중앙값 4.5밀리초, 습득물 660건과의 비교는 0.7밀리초입니다.
자동 테스트 23개가 있고, main에 push하면 자동 배포되며 시크릿은 AWS Secrets Manager로 관리합니다.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[7:00–7:35 · 35초]
기대효과입니다. 서울 지하철 기준으로 주인에게 직접 반환되지 않은 유실물이 약 8만 1천 건입니다.
반환율이 1%p 오를 때마다 약 1,700건이 더 돌아간다는 산술 추정이고, 도입 효과를 실측한 값은 아니라는 점을 분명히 해 둡니다.
이용자뿐 아니라 유실물센터, 대학과 지자체도 쓸 수 있습니다.
다음 단계로는 사진 유사도, 이메일 알림 운영 연동, 기관 습득물 직접 등록, 그리고 실데이터 정확도 평가를 계획하고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[7:35–8:00 · 25초]
정리하겠습니다. ReFind는 공식 습득물 데이터 위에 매칭 계층을 더해, 등록 한 번으로 후보와 근거를 보여 주고 새 습득물을 먼저 알려 주는 서비스입니다.
서비스와 코드는 화면의 QR 코드와 링크로 바로 확인하실 수 있습니다. GitHub에는 이번 발표에서 보여 드린 코드가 모두 공개되어 있습니다.
들어 주셔서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8D68C-0D8C-F37C-2140-2DBA0638D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50B5E-9647-DE62-D040-2A270E620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428341-0307-B851-400E-8EEA037D61A8}"/>
              </a:ext>
            </a:extLst>
          </p:cNvPr>
          <p:cNvSpPr>
            <a:spLocks noGrp="1"/>
          </p:cNvSpPr>
          <p:nvPr>
            <p:ph type="body" idx="1"/>
          </p:nvPr>
        </p:nvSpPr>
        <p:spPr/>
        <p:txBody>
          <a:bodyPr/>
          <a:lstStyle/>
          <a:p>
            <a:r>
              <a:rPr lang="en-US" dirty="0"/>
              <a:t>[7:35–8:00 · 25초]
정리하겠습니다. ReFind는 공식 습득물 데이터 위에 매칭 계층을 더해, 등록 한 번으로 후보와 근거를 보여 주고 새 습득물을 먼저 알려 주는 서비스입니다.
서비스와 코드는 화면의 QR 코드와 링크로 바로 확인하실 수 있습니다. GitHub에는 이번 발표에서 보여 드린 코드가 모두 공개되어 있습니다.
들어 주셔서 감사합니다. 질문 받겠습니다.</a:t>
            </a:r>
          </a:p>
        </p:txBody>
      </p:sp>
      <p:sp>
        <p:nvSpPr>
          <p:cNvPr id="4" name="Slide Number Placeholder 3">
            <a:extLst>
              <a:ext uri="{FF2B5EF4-FFF2-40B4-BE49-F238E27FC236}">
                <a16:creationId xmlns:a16="http://schemas.microsoft.com/office/drawing/2014/main" id="{06D1C6C1-3A06-A2AC-7ABA-37ECBCEA38E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75214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070A9-B1D5-0FA7-C14D-65257B423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D958C-C9E0-0F6E-9872-8DDDC5F02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B4362-4C8C-1910-5E60-66F84B51D53F}"/>
              </a:ext>
            </a:extLst>
          </p:cNvPr>
          <p:cNvSpPr>
            <a:spLocks noGrp="1"/>
          </p:cNvSpPr>
          <p:nvPr>
            <p:ph type="body" idx="1"/>
          </p:nvPr>
        </p:nvSpPr>
        <p:spPr/>
        <p:txBody>
          <a:bodyPr/>
          <a:lstStyle/>
          <a:p>
            <a:r>
              <a:rPr lang="en-US" dirty="0"/>
              <a:t>[7:35–8:00 · 25초]
정리하겠습니다. ReFind는 공식 습득물 데이터 위에 매칭 계층을 더해, 등록 한 번으로 후보와 근거를 보여 주고 새 습득물을 먼저 알려 주는 서비스입니다.
서비스와 코드는 화면의 QR 코드와 링크로 바로 확인하실 수 있습니다. GitHub에는 이번 발표에서 보여 드린 코드가 모두 공개되어 있습니다.
들어 주셔서 감사합니다. 질문 받겠습니다.</a:t>
            </a:r>
          </a:p>
        </p:txBody>
      </p:sp>
      <p:sp>
        <p:nvSpPr>
          <p:cNvPr id="4" name="Slide Number Placeholder 3">
            <a:extLst>
              <a:ext uri="{FF2B5EF4-FFF2-40B4-BE49-F238E27FC236}">
                <a16:creationId xmlns:a16="http://schemas.microsoft.com/office/drawing/2014/main" id="{DCFF3954-3D33-3408-8E77-F6D38B7C4E0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22165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pic>
        <p:nvPicPr>
          <p:cNvPr id="3" name="Image 0" descr="/private/tmp/claude-501/-Users-ming-Desktop--------ICTbuild-upProject/ad517a1d-c5d3-4091-b925-7e5679a63f19/scratchpad/build/assets/logo-black.png"/>
          <p:cNvPicPr>
            <a:picLocks noChangeAspect="1"/>
          </p:cNvPicPr>
          <p:nvPr/>
        </p:nvPicPr>
        <p:blipFill>
          <a:blip r:embed="rId2"/>
          <a:stretch>
            <a:fillRect/>
          </a:stretch>
        </p:blipFill>
        <p:spPr>
          <a:xfrm>
            <a:off x="548640" y="6400800"/>
            <a:ext cx="237744" cy="237744"/>
          </a:xfrm>
          <a:prstGeom prst="rect">
            <a:avLst/>
          </a:prstGeom>
        </p:spPr>
      </p:pic>
      <p:sp>
        <p:nvSpPr>
          <p:cNvPr id="4" name="Text 0"/>
          <p:cNvSpPr txBox="1"/>
          <p:nvPr/>
        </p:nvSpPr>
        <p:spPr>
          <a:xfrm>
            <a:off x="877824" y="6382512"/>
            <a:ext cx="1371600" cy="274320"/>
          </a:xfrm>
          <a:prstGeom prst="rect">
            <a:avLst/>
          </a:prstGeom>
          <a:noFill/>
          <a:ln/>
        </p:spPr>
        <p:txBody>
          <a:bodyPr wrap="square" lIns="0" tIns="0" rIns="0" bIns="0" rtlCol="0" anchor="ctr"/>
          <a:lstStyle/>
          <a:p>
            <a:pPr marL="0" indent="0">
              <a:buNone/>
            </a:pPr>
            <a:r>
              <a:rPr lang="en-US" sz="1200" b="1" dirty="0">
                <a:solidFill>
                  <a:schemeClr val="tx2"/>
                </a:solidFill>
              </a:rPr>
              <a:t>ReFind</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pic>
        <p:nvPicPr>
          <p:cNvPr id="3" name="Image 0" descr="/private/tmp/claude-501/-Users-ming-Desktop--------ICTbuild-upProject/ad517a1d-c5d3-4091-b925-7e5679a63f19/scratchpad/build/assets/logo-white.png"/>
          <p:cNvPicPr>
            <a:picLocks noChangeAspect="1"/>
          </p:cNvPicPr>
          <p:nvPr/>
        </p:nvPicPr>
        <p:blipFill>
          <a:blip r:embed="rId2"/>
          <a:stretch>
            <a:fillRect/>
          </a:stretch>
        </p:blipFill>
        <p:spPr>
          <a:xfrm>
            <a:off x="548640" y="6400800"/>
            <a:ext cx="237744" cy="237744"/>
          </a:xfrm>
          <a:prstGeom prst="rect">
            <a:avLst/>
          </a:prstGeom>
        </p:spPr>
      </p:pic>
      <p:sp>
        <p:nvSpPr>
          <p:cNvPr id="4" name="Text 0"/>
          <p:cNvSpPr txBox="1"/>
          <p:nvPr/>
        </p:nvSpPr>
        <p:spPr>
          <a:xfrm>
            <a:off x="877824" y="6382512"/>
            <a:ext cx="1371600" cy="274320"/>
          </a:xfrm>
          <a:prstGeom prst="rect">
            <a:avLst/>
          </a:prstGeom>
          <a:noFill/>
          <a:ln/>
        </p:spPr>
        <p:txBody>
          <a:bodyPr wrap="square" lIns="0" tIns="0" rIns="0" bIns="0" rtlCol="0" anchor="ctr"/>
          <a:lstStyle/>
          <a:p>
            <a:pPr marL="0" indent="0">
              <a:buNone/>
            </a:pPr>
            <a:r>
              <a:rPr lang="en-US" sz="1200" b="1" dirty="0">
                <a:solidFill>
                  <a:schemeClr val="accent6"/>
                </a:solidFill>
              </a:rPr>
              <a:t>ReFind</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hyperlink" Target="https://github.com/Terra0305/ICTbuild-upProject" TargetMode="External"/><Relationship Id="rId4" Type="http://schemas.openxmlformats.org/officeDocument/2006/relationships/hyperlink" Target="https://d29d7xry7tkopu.cloudfront.net" TargetMode="Externa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d29d7xry7tkopu.cloudfront.net" TargetMode="External"/><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hyperlink" Target="https://d29d7xry7tkopu.cloudfront.net" TargetMode="External"/><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hyperlink" Target="https://github.com/Terra0305/ICTbuild-upProject"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s://d29d7xry7tkopu.cloudfront.net" TargetMode="External"/><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hyperlink" Target="https://github.com/Terra0305/ICTbuild-upProject"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hyperlink" Target="https://d29d7xry7tkopu.cloudfront.net" TargetMode="External"/><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hyperlink" Target="https://github.com/Terra0305/ICTbuild-upProje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eFind logo"/>
          <p:cNvPicPr>
            <a:picLocks noChangeAspect="1"/>
          </p:cNvPicPr>
          <p:nvPr/>
        </p:nvPicPr>
        <p:blipFill>
          <a:blip r:embed="rId3"/>
          <a:stretch>
            <a:fillRect/>
          </a:stretch>
        </p:blipFill>
        <p:spPr>
          <a:xfrm>
            <a:off x="548640" y="640080"/>
            <a:ext cx="640080" cy="640080"/>
          </a:xfrm>
          <a:prstGeom prst="rect">
            <a:avLst/>
          </a:prstGeom>
        </p:spPr>
      </p:pic>
      <p:sp>
        <p:nvSpPr>
          <p:cNvPr id="3" name="Chip ICT 빌드업 캠프 · 최종발표"/>
          <p:cNvSpPr/>
          <p:nvPr/>
        </p:nvSpPr>
        <p:spPr>
          <a:xfrm>
            <a:off x="548640" y="1600200"/>
            <a:ext cx="3017520" cy="384048"/>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4" name="Text 1"/>
          <p:cNvSpPr txBox="1"/>
          <p:nvPr/>
        </p:nvSpPr>
        <p:spPr>
          <a:xfrm>
            <a:off x="548640" y="1600200"/>
            <a:ext cx="3017520" cy="384048"/>
          </a:xfrm>
          <a:prstGeom prst="rect">
            <a:avLst/>
          </a:prstGeom>
          <a:noFill/>
          <a:ln/>
        </p:spPr>
        <p:txBody>
          <a:bodyPr wrap="square" lIns="0" tIns="0" rIns="0" bIns="0" rtlCol="0" anchor="ctr"/>
          <a:lstStyle/>
          <a:p>
            <a:pPr marL="0" indent="0" algn="ctr">
              <a:buNone/>
            </a:pPr>
            <a:r>
              <a:rPr lang="en-US" sz="1400" b="1" dirty="0">
                <a:solidFill>
                  <a:schemeClr val="bg1"/>
                </a:solidFill>
              </a:rPr>
              <a:t>ICT 빌드업 캠프 · 최종발표</a:t>
            </a:r>
            <a:endParaRPr lang="en-US" sz="1400" dirty="0"/>
          </a:p>
        </p:txBody>
      </p:sp>
      <p:sp>
        <p:nvSpPr>
          <p:cNvPr id="5" name="Text 2"/>
          <p:cNvSpPr txBox="1"/>
          <p:nvPr/>
        </p:nvSpPr>
        <p:spPr>
          <a:xfrm>
            <a:off x="548640" y="2148840"/>
            <a:ext cx="6035040" cy="1371600"/>
          </a:xfrm>
          <a:prstGeom prst="rect">
            <a:avLst/>
          </a:prstGeom>
          <a:noFill/>
          <a:ln/>
        </p:spPr>
        <p:txBody>
          <a:bodyPr wrap="square" lIns="0" tIns="0" rIns="0" bIns="0" rtlCol="0" anchor="ctr"/>
          <a:lstStyle/>
          <a:p>
            <a:pPr marL="0" indent="0">
              <a:buNone/>
            </a:pPr>
            <a:r>
              <a:rPr lang="en-US" sz="8800" b="1" dirty="0">
                <a:solidFill>
                  <a:schemeClr val="bg1"/>
                </a:solidFill>
              </a:rPr>
              <a:t>ReFind</a:t>
            </a:r>
            <a:endParaRPr lang="en-US" sz="8800" dirty="0"/>
          </a:p>
        </p:txBody>
      </p:sp>
      <p:sp>
        <p:nvSpPr>
          <p:cNvPr id="6" name="Text 3"/>
          <p:cNvSpPr txBox="1"/>
          <p:nvPr/>
        </p:nvSpPr>
        <p:spPr>
          <a:xfrm>
            <a:off x="548640" y="3611880"/>
            <a:ext cx="6035040" cy="1188720"/>
          </a:xfrm>
          <a:prstGeom prst="rect">
            <a:avLst/>
          </a:prstGeom>
          <a:noFill/>
          <a:ln/>
        </p:spPr>
        <p:txBody>
          <a:bodyPr wrap="square" lIns="0" tIns="0" rIns="0" bIns="0" rtlCol="0" anchor="t"/>
          <a:lstStyle/>
          <a:p>
            <a:pPr marL="0" indent="0">
              <a:buNone/>
            </a:pPr>
            <a:r>
              <a:rPr lang="en-US" sz="3000" dirty="0">
                <a:solidFill>
                  <a:schemeClr val="accent6"/>
                </a:solidFill>
              </a:rPr>
              <a:t>잃어버린 물건이</a:t>
            </a:r>
            <a:endParaRPr lang="en-US" sz="3000" dirty="0"/>
          </a:p>
          <a:p>
            <a:pPr marL="0" indent="0">
              <a:buNone/>
            </a:pPr>
            <a:r>
              <a:rPr lang="en-US" sz="3000" dirty="0">
                <a:solidFill>
                  <a:schemeClr val="accent6"/>
                </a:solidFill>
              </a:rPr>
              <a:t>나를 먼저 찾아옵니다</a:t>
            </a:r>
            <a:endParaRPr lang="en-US" sz="3000" dirty="0"/>
          </a:p>
        </p:txBody>
      </p:sp>
      <p:sp>
        <p:nvSpPr>
          <p:cNvPr id="7" name="Text 4"/>
          <p:cNvSpPr txBox="1"/>
          <p:nvPr/>
        </p:nvSpPr>
        <p:spPr>
          <a:xfrm>
            <a:off x="548640" y="5029200"/>
            <a:ext cx="6035040" cy="365760"/>
          </a:xfrm>
          <a:prstGeom prst="rect">
            <a:avLst/>
          </a:prstGeom>
          <a:noFill/>
          <a:ln/>
        </p:spPr>
        <p:txBody>
          <a:bodyPr wrap="square" lIns="0" tIns="0" rIns="0" bIns="0" rtlCol="0" anchor="t"/>
          <a:lstStyle/>
          <a:p>
            <a:pPr marL="0" indent="0">
              <a:buNone/>
            </a:pPr>
            <a:r>
              <a:rPr lang="en-US" sz="1600" dirty="0">
                <a:solidFill>
                  <a:schemeClr val="bg1"/>
                </a:solidFill>
              </a:rPr>
              <a:t>김민서 · ReFind  |  2026.10</a:t>
            </a:r>
            <a:endParaRPr lang="en-US" sz="1600" dirty="0"/>
          </a:p>
        </p:txBody>
      </p:sp>
      <p:sp>
        <p:nvSpPr>
          <p:cNvPr id="8" name="Text 5"/>
          <p:cNvSpPr txBox="1"/>
          <p:nvPr/>
        </p:nvSpPr>
        <p:spPr>
          <a:xfrm>
            <a:off x="548640" y="5806440"/>
            <a:ext cx="6035040" cy="274320"/>
          </a:xfrm>
          <a:prstGeom prst="rect">
            <a:avLst/>
          </a:prstGeom>
          <a:noFill/>
          <a:ln/>
        </p:spPr>
        <p:txBody>
          <a:bodyPr wrap="square" lIns="0" tIns="0" rIns="0" bIns="0" rtlCol="0" anchor="t"/>
          <a:lstStyle/>
          <a:p>
            <a:pPr marL="0" indent="0">
              <a:buNone/>
            </a:pPr>
            <a:r>
              <a:rPr lang="en-US" sz="1300" dirty="0">
                <a:solidFill>
                  <a:schemeClr val="accent6"/>
                </a:solidFill>
              </a:rPr>
              <a:t>서비스  </a:t>
            </a:r>
            <a:r>
              <a:rPr lang="en-US" sz="1300" u="sng" dirty="0">
                <a:solidFill>
                  <a:schemeClr val="bg1"/>
                </a:solidFill>
                <a:hlinkClick r:id="rId4">
                  <a:extLst>
                    <a:ext uri="{A12FA001-AC4F-418D-AE19-62706E023703}">
                      <ahyp:hlinkClr xmlns:ahyp="http://schemas.microsoft.com/office/drawing/2018/hyperlinkcolor" val="tx"/>
                    </a:ext>
                  </a:extLst>
                </a:hlinkClick>
              </a:rPr>
              <a:t>d29d7xry7tkopu.cloudfront.net</a:t>
            </a:r>
            <a:endParaRPr lang="en-US" sz="1300" dirty="0"/>
          </a:p>
        </p:txBody>
      </p:sp>
      <p:sp>
        <p:nvSpPr>
          <p:cNvPr id="9" name="Text 6"/>
          <p:cNvSpPr txBox="1"/>
          <p:nvPr/>
        </p:nvSpPr>
        <p:spPr>
          <a:xfrm>
            <a:off x="548640" y="6126480"/>
            <a:ext cx="6035040" cy="274320"/>
          </a:xfrm>
          <a:prstGeom prst="rect">
            <a:avLst/>
          </a:prstGeom>
          <a:noFill/>
          <a:ln/>
        </p:spPr>
        <p:txBody>
          <a:bodyPr wrap="square" lIns="0" tIns="0" rIns="0" bIns="0" rtlCol="0" anchor="t"/>
          <a:lstStyle/>
          <a:p>
            <a:pPr marL="0" indent="0">
              <a:buNone/>
            </a:pPr>
            <a:r>
              <a:rPr lang="en-US" sz="1300" dirty="0">
                <a:solidFill>
                  <a:schemeClr val="accent6"/>
                </a:solidFill>
              </a:rPr>
              <a:t>GitHub  </a:t>
            </a:r>
            <a:r>
              <a:rPr lang="en-US" sz="1300" u="sng" dirty="0">
                <a:solidFill>
                  <a:schemeClr val="bg1"/>
                </a:solidFill>
                <a:hlinkClick r:id="rId5">
                  <a:extLst>
                    <a:ext uri="{A12FA001-AC4F-418D-AE19-62706E023703}">
                      <ahyp:hlinkClr xmlns:ahyp="http://schemas.microsoft.com/office/drawing/2018/hyperlinkcolor" val="tx"/>
                    </a:ext>
                  </a:extLst>
                </a:hlinkClick>
              </a:rPr>
              <a:t>github.com/Terra0305/ICTbuild-upProject</a:t>
            </a:r>
            <a:endParaRPr lang="en-US" sz="1300" dirty="0"/>
          </a:p>
        </p:txBody>
      </p:sp>
      <p:sp>
        <p:nvSpPr>
          <p:cNvPr id="10" name="Tag card"/>
          <p:cNvSpPr/>
          <p:nvPr/>
        </p:nvSpPr>
        <p:spPr>
          <a:xfrm>
            <a:off x="7040880" y="1463040"/>
            <a:ext cx="4599432" cy="2240280"/>
          </a:xfrm>
          <a:prstGeom prst="roundRect">
            <a:avLst>
              <a:gd name="adj" fmla="val 8163"/>
            </a:avLst>
          </a:prstGeom>
          <a:solidFill>
            <a:schemeClr val="accent1"/>
          </a:solidFill>
          <a:ln w="12700">
            <a:solidFill>
              <a:schemeClr val="accent1"/>
            </a:solidFill>
            <a:prstDash val="solid"/>
          </a:ln>
        </p:spPr>
        <p:txBody>
          <a:bodyPr/>
          <a:lstStyle/>
          <a:p>
            <a:endParaRPr lang="ko-KR" altLang="en-US"/>
          </a:p>
        </p:txBody>
      </p:sp>
      <p:sp>
        <p:nvSpPr>
          <p:cNvPr id="11" name="Score panel"/>
          <p:cNvSpPr/>
          <p:nvPr/>
        </p:nvSpPr>
        <p:spPr>
          <a:xfrm>
            <a:off x="10222992" y="1463040"/>
            <a:ext cx="1417320" cy="2240280"/>
          </a:xfrm>
          <a:prstGeom prst="roundRect">
            <a:avLst>
              <a:gd name="adj" fmla="val 12903"/>
            </a:avLst>
          </a:prstGeom>
          <a:solidFill>
            <a:schemeClr val="bg1"/>
          </a:solidFill>
          <a:ln w="12700">
            <a:solidFill>
              <a:schemeClr val="bg1"/>
            </a:solidFill>
            <a:prstDash val="solid"/>
          </a:ln>
        </p:spPr>
        <p:txBody>
          <a:bodyPr/>
          <a:lstStyle/>
          <a:p>
            <a:endParaRPr lang="ko-KR" altLang="en-US"/>
          </a:p>
        </p:txBody>
      </p:sp>
      <p:sp>
        <p:nvSpPr>
          <p:cNvPr id="12" name="Text 9"/>
          <p:cNvSpPr txBox="1"/>
          <p:nvPr/>
        </p:nvSpPr>
        <p:spPr>
          <a:xfrm>
            <a:off x="7315200" y="1691640"/>
            <a:ext cx="2286000" cy="274320"/>
          </a:xfrm>
          <a:prstGeom prst="rect">
            <a:avLst/>
          </a:prstGeom>
          <a:noFill/>
          <a:ln/>
        </p:spPr>
        <p:txBody>
          <a:bodyPr wrap="square" lIns="0" tIns="0" rIns="0" bIns="0" rtlCol="0" anchor="t"/>
          <a:lstStyle/>
          <a:p>
            <a:pPr marL="0" indent="0">
              <a:buNone/>
            </a:pPr>
            <a:r>
              <a:rPr lang="en-US" sz="1100" dirty="0">
                <a:solidFill>
                  <a:schemeClr val="accent6"/>
                </a:solidFill>
                <a:latin typeface="Menlo" pitchFamily="34" charset="0"/>
                <a:ea typeface="Menlo" pitchFamily="34" charset="-122"/>
                <a:cs typeface="Menlo" pitchFamily="34" charset="-120"/>
              </a:rPr>
              <a:t>RF-7K2D91</a:t>
            </a:r>
            <a:endParaRPr lang="en-US" sz="1100" dirty="0"/>
          </a:p>
        </p:txBody>
      </p:sp>
      <p:sp>
        <p:nvSpPr>
          <p:cNvPr id="13" name="Text 10"/>
          <p:cNvSpPr txBox="1"/>
          <p:nvPr/>
        </p:nvSpPr>
        <p:spPr>
          <a:xfrm>
            <a:off x="7315200" y="2103120"/>
            <a:ext cx="2926080" cy="411480"/>
          </a:xfrm>
          <a:prstGeom prst="rect">
            <a:avLst/>
          </a:prstGeom>
          <a:noFill/>
          <a:ln/>
        </p:spPr>
        <p:txBody>
          <a:bodyPr wrap="square" lIns="0" tIns="0" rIns="0" bIns="0" rtlCol="0" anchor="t"/>
          <a:lstStyle/>
          <a:p>
            <a:pPr marL="0" indent="0">
              <a:buNone/>
            </a:pPr>
            <a:r>
              <a:rPr lang="en-US" sz="2000" b="1" dirty="0">
                <a:solidFill>
                  <a:schemeClr val="bg1"/>
                </a:solidFill>
              </a:rPr>
              <a:t>검정 가죽 카드지갑</a:t>
            </a:r>
            <a:endParaRPr lang="en-US" sz="2000" dirty="0"/>
          </a:p>
        </p:txBody>
      </p:sp>
      <p:sp>
        <p:nvSpPr>
          <p:cNvPr id="14" name="Text 11"/>
          <p:cNvSpPr txBox="1"/>
          <p:nvPr/>
        </p:nvSpPr>
        <p:spPr>
          <a:xfrm>
            <a:off x="7315200" y="2560320"/>
            <a:ext cx="2926080" cy="274320"/>
          </a:xfrm>
          <a:prstGeom prst="rect">
            <a:avLst/>
          </a:prstGeom>
          <a:noFill/>
          <a:ln/>
        </p:spPr>
        <p:txBody>
          <a:bodyPr wrap="square" lIns="0" tIns="0" rIns="0" bIns="0" rtlCol="0" anchor="t"/>
          <a:lstStyle/>
          <a:p>
            <a:pPr marL="0" indent="0">
              <a:buNone/>
            </a:pPr>
            <a:r>
              <a:rPr lang="en-US" sz="1300" dirty="0">
                <a:solidFill>
                  <a:schemeClr val="accent6"/>
                </a:solidFill>
              </a:rPr>
              <a:t>습득 2일 전 · 서울특별시</a:t>
            </a:r>
            <a:endParaRPr lang="en-US" sz="1300" dirty="0"/>
          </a:p>
        </p:txBody>
      </p:sp>
      <p:sp>
        <p:nvSpPr>
          <p:cNvPr id="15" name="Chip 종류 일치"/>
          <p:cNvSpPr/>
          <p:nvPr/>
        </p:nvSpPr>
        <p:spPr>
          <a:xfrm>
            <a:off x="7315200" y="3063240"/>
            <a:ext cx="859536" cy="310896"/>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16" name="Text 13"/>
          <p:cNvSpPr txBox="1"/>
          <p:nvPr/>
        </p:nvSpPr>
        <p:spPr>
          <a:xfrm>
            <a:off x="7315200" y="3063240"/>
            <a:ext cx="859536" cy="310896"/>
          </a:xfrm>
          <a:prstGeom prst="rect">
            <a:avLst/>
          </a:prstGeom>
          <a:noFill/>
          <a:ln/>
        </p:spPr>
        <p:txBody>
          <a:bodyPr wrap="square" lIns="0" tIns="0" rIns="0" bIns="0" rtlCol="0" anchor="ctr"/>
          <a:lstStyle/>
          <a:p>
            <a:pPr marL="0" indent="0" algn="ctr">
              <a:buNone/>
            </a:pPr>
            <a:r>
              <a:rPr lang="en-US" sz="1100" b="1" dirty="0">
                <a:solidFill>
                  <a:schemeClr val="bg1"/>
                </a:solidFill>
              </a:rPr>
              <a:t>종류 일치</a:t>
            </a:r>
            <a:endParaRPr lang="en-US" sz="1100" dirty="0"/>
          </a:p>
        </p:txBody>
      </p:sp>
      <p:sp>
        <p:nvSpPr>
          <p:cNvPr id="17" name="Chip 색상 일치"/>
          <p:cNvSpPr/>
          <p:nvPr/>
        </p:nvSpPr>
        <p:spPr>
          <a:xfrm>
            <a:off x="8229600" y="3063240"/>
            <a:ext cx="859536" cy="310896"/>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18" name="Text 15"/>
          <p:cNvSpPr txBox="1"/>
          <p:nvPr/>
        </p:nvSpPr>
        <p:spPr>
          <a:xfrm>
            <a:off x="8229600" y="3063240"/>
            <a:ext cx="859536" cy="310896"/>
          </a:xfrm>
          <a:prstGeom prst="rect">
            <a:avLst/>
          </a:prstGeom>
          <a:noFill/>
          <a:ln/>
        </p:spPr>
        <p:txBody>
          <a:bodyPr wrap="square" lIns="0" tIns="0" rIns="0" bIns="0" rtlCol="0" anchor="ctr"/>
          <a:lstStyle/>
          <a:p>
            <a:pPr marL="0" indent="0" algn="ctr">
              <a:buNone/>
            </a:pPr>
            <a:r>
              <a:rPr lang="en-US" sz="1100" b="1" dirty="0">
                <a:solidFill>
                  <a:schemeClr val="bg1"/>
                </a:solidFill>
              </a:rPr>
              <a:t>색상 일치</a:t>
            </a:r>
            <a:endParaRPr lang="en-US" sz="1100" dirty="0"/>
          </a:p>
        </p:txBody>
      </p:sp>
      <p:sp>
        <p:nvSpPr>
          <p:cNvPr id="19" name="Chip 같은 지역"/>
          <p:cNvSpPr/>
          <p:nvPr/>
        </p:nvSpPr>
        <p:spPr>
          <a:xfrm>
            <a:off x="9144000" y="3063240"/>
            <a:ext cx="859536" cy="310896"/>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20" name="Text 17"/>
          <p:cNvSpPr txBox="1"/>
          <p:nvPr/>
        </p:nvSpPr>
        <p:spPr>
          <a:xfrm>
            <a:off x="9144000" y="3063240"/>
            <a:ext cx="859536" cy="310896"/>
          </a:xfrm>
          <a:prstGeom prst="rect">
            <a:avLst/>
          </a:prstGeom>
          <a:noFill/>
          <a:ln/>
        </p:spPr>
        <p:txBody>
          <a:bodyPr wrap="square" lIns="0" tIns="0" rIns="0" bIns="0" rtlCol="0" anchor="ctr"/>
          <a:lstStyle/>
          <a:p>
            <a:pPr marL="0" indent="0" algn="ctr">
              <a:buNone/>
            </a:pPr>
            <a:r>
              <a:rPr lang="en-US" sz="1100" b="1" dirty="0">
                <a:solidFill>
                  <a:schemeClr val="bg1"/>
                </a:solidFill>
              </a:rPr>
              <a:t>같은 지역</a:t>
            </a:r>
            <a:endParaRPr lang="en-US" sz="1100" dirty="0"/>
          </a:p>
        </p:txBody>
      </p:sp>
      <p:sp>
        <p:nvSpPr>
          <p:cNvPr id="21" name="Text 18"/>
          <p:cNvSpPr txBox="1"/>
          <p:nvPr/>
        </p:nvSpPr>
        <p:spPr>
          <a:xfrm>
            <a:off x="10222992" y="1828800"/>
            <a:ext cx="1417320" cy="274320"/>
          </a:xfrm>
          <a:prstGeom prst="rect">
            <a:avLst/>
          </a:prstGeom>
          <a:noFill/>
          <a:ln/>
        </p:spPr>
        <p:txBody>
          <a:bodyPr wrap="square" lIns="0" tIns="0" rIns="0" bIns="0" rtlCol="0" anchor="t"/>
          <a:lstStyle/>
          <a:p>
            <a:pPr marL="0" indent="0" algn="ctr">
              <a:buNone/>
            </a:pPr>
            <a:r>
              <a:rPr lang="en-US" sz="1100" dirty="0">
                <a:solidFill>
                  <a:schemeClr val="tx1"/>
                </a:solidFill>
              </a:rPr>
              <a:t>매칭 점수</a:t>
            </a:r>
            <a:endParaRPr lang="en-US" sz="1100" dirty="0"/>
          </a:p>
        </p:txBody>
      </p:sp>
      <p:sp>
        <p:nvSpPr>
          <p:cNvPr id="22" name="Text 19"/>
          <p:cNvSpPr txBox="1"/>
          <p:nvPr/>
        </p:nvSpPr>
        <p:spPr>
          <a:xfrm>
            <a:off x="10222992" y="2103120"/>
            <a:ext cx="1417320" cy="731520"/>
          </a:xfrm>
          <a:prstGeom prst="rect">
            <a:avLst/>
          </a:prstGeom>
          <a:noFill/>
          <a:ln/>
        </p:spPr>
        <p:txBody>
          <a:bodyPr wrap="square" lIns="0" tIns="0" rIns="0" bIns="0" rtlCol="0" anchor="ctr"/>
          <a:lstStyle/>
          <a:p>
            <a:pPr marL="0" indent="0" algn="ctr">
              <a:buNone/>
            </a:pPr>
            <a:r>
              <a:rPr lang="en-US" sz="4400" b="1" dirty="0">
                <a:solidFill>
                  <a:schemeClr val="tx1"/>
                </a:solidFill>
              </a:rPr>
              <a:t>92</a:t>
            </a:r>
            <a:endParaRPr lang="en-US" sz="4400" dirty="0"/>
          </a:p>
        </p:txBody>
      </p:sp>
      <p:sp>
        <p:nvSpPr>
          <p:cNvPr id="23" name="Text 20"/>
          <p:cNvSpPr txBox="1"/>
          <p:nvPr/>
        </p:nvSpPr>
        <p:spPr>
          <a:xfrm>
            <a:off x="10222992" y="2880360"/>
            <a:ext cx="1417320" cy="274320"/>
          </a:xfrm>
          <a:prstGeom prst="rect">
            <a:avLst/>
          </a:prstGeom>
          <a:noFill/>
          <a:ln/>
        </p:spPr>
        <p:txBody>
          <a:bodyPr wrap="square" lIns="0" tIns="0" rIns="0" bIns="0" rtlCol="0" anchor="t"/>
          <a:lstStyle/>
          <a:p>
            <a:pPr marL="0" indent="0" algn="ctr">
              <a:buNone/>
            </a:pPr>
            <a:r>
              <a:rPr lang="en-US" sz="1100" dirty="0">
                <a:solidFill>
                  <a:schemeClr val="tx1"/>
                </a:solidFill>
              </a:rPr>
              <a:t>가능성 높음</a:t>
            </a:r>
            <a:endParaRPr lang="en-US" sz="1100" dirty="0"/>
          </a:p>
        </p:txBody>
      </p:sp>
      <p:sp>
        <p:nvSpPr>
          <p:cNvPr id="24" name="Row 81"/>
          <p:cNvSpPr/>
          <p:nvPr/>
        </p:nvSpPr>
        <p:spPr>
          <a:xfrm>
            <a:off x="7040880" y="3886200"/>
            <a:ext cx="4599432" cy="777240"/>
          </a:xfrm>
          <a:prstGeom prst="roundRect">
            <a:avLst>
              <a:gd name="adj" fmla="val 16471"/>
            </a:avLst>
          </a:prstGeom>
          <a:solidFill>
            <a:schemeClr val="accent1"/>
          </a:solidFill>
          <a:ln w="12700">
            <a:solidFill>
              <a:schemeClr val="accent1"/>
            </a:solidFill>
            <a:prstDash val="solid"/>
          </a:ln>
        </p:spPr>
        <p:txBody>
          <a:bodyPr/>
          <a:lstStyle/>
          <a:p>
            <a:endParaRPr lang="ko-KR" altLang="en-US"/>
          </a:p>
        </p:txBody>
      </p:sp>
      <p:sp>
        <p:nvSpPr>
          <p:cNvPr id="25" name="Text 22"/>
          <p:cNvSpPr txBox="1"/>
          <p:nvPr/>
        </p:nvSpPr>
        <p:spPr>
          <a:xfrm>
            <a:off x="7315200" y="4014216"/>
            <a:ext cx="3017520" cy="274320"/>
          </a:xfrm>
          <a:prstGeom prst="rect">
            <a:avLst/>
          </a:prstGeom>
          <a:noFill/>
          <a:ln/>
        </p:spPr>
        <p:txBody>
          <a:bodyPr wrap="square" lIns="0" tIns="0" rIns="0" bIns="0" rtlCol="0" anchor="t"/>
          <a:lstStyle/>
          <a:p>
            <a:pPr marL="0" indent="0">
              <a:buNone/>
            </a:pPr>
            <a:r>
              <a:rPr lang="en-US" sz="1500" b="1" dirty="0">
                <a:solidFill>
                  <a:schemeClr val="bg1"/>
                </a:solidFill>
              </a:rPr>
              <a:t>검정색 지갑</a:t>
            </a:r>
            <a:endParaRPr lang="en-US" sz="1500" dirty="0"/>
          </a:p>
        </p:txBody>
      </p:sp>
      <p:sp>
        <p:nvSpPr>
          <p:cNvPr id="26" name="Text 23"/>
          <p:cNvSpPr txBox="1"/>
          <p:nvPr/>
        </p:nvSpPr>
        <p:spPr>
          <a:xfrm>
            <a:off x="7315200" y="4325112"/>
            <a:ext cx="3017520" cy="228600"/>
          </a:xfrm>
          <a:prstGeom prst="rect">
            <a:avLst/>
          </a:prstGeom>
          <a:noFill/>
          <a:ln/>
        </p:spPr>
        <p:txBody>
          <a:bodyPr wrap="square" lIns="0" tIns="0" rIns="0" bIns="0" rtlCol="0" anchor="t"/>
          <a:lstStyle/>
          <a:p>
            <a:pPr marL="0" indent="0">
              <a:buNone/>
            </a:pPr>
            <a:r>
              <a:rPr lang="en-US" sz="1100" dirty="0">
                <a:solidFill>
                  <a:schemeClr val="accent6"/>
                </a:solidFill>
              </a:rPr>
              <a:t>서울교통공사 유실물센터</a:t>
            </a:r>
            <a:endParaRPr lang="en-US" sz="1100" dirty="0"/>
          </a:p>
        </p:txBody>
      </p:sp>
      <p:sp>
        <p:nvSpPr>
          <p:cNvPr id="27" name="Text 24"/>
          <p:cNvSpPr txBox="1"/>
          <p:nvPr/>
        </p:nvSpPr>
        <p:spPr>
          <a:xfrm>
            <a:off x="10451592" y="3886200"/>
            <a:ext cx="914400" cy="777240"/>
          </a:xfrm>
          <a:prstGeom prst="rect">
            <a:avLst/>
          </a:prstGeom>
          <a:noFill/>
          <a:ln/>
        </p:spPr>
        <p:txBody>
          <a:bodyPr wrap="square" lIns="0" tIns="0" rIns="0" bIns="0" rtlCol="0" anchor="ctr"/>
          <a:lstStyle/>
          <a:p>
            <a:pPr marL="0" indent="0" algn="r">
              <a:buNone/>
            </a:pPr>
            <a:r>
              <a:rPr lang="en-US" sz="2600" b="1" dirty="0">
                <a:solidFill>
                  <a:schemeClr val="accent6"/>
                </a:solidFill>
              </a:rPr>
              <a:t>81</a:t>
            </a:r>
            <a:endParaRPr lang="en-US" sz="2600" dirty="0"/>
          </a:p>
        </p:txBody>
      </p:sp>
      <p:sp>
        <p:nvSpPr>
          <p:cNvPr id="28" name="Row 66"/>
          <p:cNvSpPr/>
          <p:nvPr/>
        </p:nvSpPr>
        <p:spPr>
          <a:xfrm>
            <a:off x="7040880" y="4754880"/>
            <a:ext cx="4599432" cy="777240"/>
          </a:xfrm>
          <a:prstGeom prst="roundRect">
            <a:avLst>
              <a:gd name="adj" fmla="val 16471"/>
            </a:avLst>
          </a:prstGeom>
          <a:solidFill>
            <a:schemeClr val="accent1"/>
          </a:solidFill>
          <a:ln w="12700">
            <a:solidFill>
              <a:schemeClr val="accent1"/>
            </a:solidFill>
            <a:prstDash val="solid"/>
          </a:ln>
        </p:spPr>
        <p:txBody>
          <a:bodyPr/>
          <a:lstStyle/>
          <a:p>
            <a:endParaRPr lang="ko-KR" altLang="en-US"/>
          </a:p>
        </p:txBody>
      </p:sp>
      <p:sp>
        <p:nvSpPr>
          <p:cNvPr id="29" name="Text 26"/>
          <p:cNvSpPr txBox="1"/>
          <p:nvPr/>
        </p:nvSpPr>
        <p:spPr>
          <a:xfrm>
            <a:off x="7315200" y="4882896"/>
            <a:ext cx="3017520" cy="274320"/>
          </a:xfrm>
          <a:prstGeom prst="rect">
            <a:avLst/>
          </a:prstGeom>
          <a:noFill/>
          <a:ln/>
        </p:spPr>
        <p:txBody>
          <a:bodyPr wrap="square" lIns="0" tIns="0" rIns="0" bIns="0" rtlCol="0" anchor="t"/>
          <a:lstStyle/>
          <a:p>
            <a:pPr marL="0" indent="0">
              <a:buNone/>
            </a:pPr>
            <a:r>
              <a:rPr lang="en-US" sz="1500" b="1" dirty="0">
                <a:solidFill>
                  <a:schemeClr val="bg1"/>
                </a:solidFill>
              </a:rPr>
              <a:t>카드 케이스 (갈색)</a:t>
            </a:r>
            <a:endParaRPr lang="en-US" sz="1500" dirty="0"/>
          </a:p>
        </p:txBody>
      </p:sp>
      <p:sp>
        <p:nvSpPr>
          <p:cNvPr id="30" name="Text 27"/>
          <p:cNvSpPr txBox="1"/>
          <p:nvPr/>
        </p:nvSpPr>
        <p:spPr>
          <a:xfrm>
            <a:off x="7315200" y="5193792"/>
            <a:ext cx="3017520" cy="228600"/>
          </a:xfrm>
          <a:prstGeom prst="rect">
            <a:avLst/>
          </a:prstGeom>
          <a:noFill/>
          <a:ln/>
        </p:spPr>
        <p:txBody>
          <a:bodyPr wrap="square" lIns="0" tIns="0" rIns="0" bIns="0" rtlCol="0" anchor="t"/>
          <a:lstStyle/>
          <a:p>
            <a:pPr marL="0" indent="0">
              <a:buNone/>
            </a:pPr>
            <a:r>
              <a:rPr lang="en-US" sz="1100" dirty="0">
                <a:solidFill>
                  <a:schemeClr val="accent6"/>
                </a:solidFill>
              </a:rPr>
              <a:t>역삼파출소 보관</a:t>
            </a:r>
            <a:endParaRPr lang="en-US" sz="1100" dirty="0"/>
          </a:p>
        </p:txBody>
      </p:sp>
      <p:sp>
        <p:nvSpPr>
          <p:cNvPr id="31" name="Text 28"/>
          <p:cNvSpPr txBox="1"/>
          <p:nvPr/>
        </p:nvSpPr>
        <p:spPr>
          <a:xfrm>
            <a:off x="10451592" y="4754880"/>
            <a:ext cx="914400" cy="777240"/>
          </a:xfrm>
          <a:prstGeom prst="rect">
            <a:avLst/>
          </a:prstGeom>
          <a:noFill/>
          <a:ln/>
        </p:spPr>
        <p:txBody>
          <a:bodyPr wrap="square" lIns="0" tIns="0" rIns="0" bIns="0" rtlCol="0" anchor="ctr"/>
          <a:lstStyle/>
          <a:p>
            <a:pPr marL="0" indent="0" algn="r">
              <a:buNone/>
            </a:pPr>
            <a:r>
              <a:rPr lang="en-US" sz="2600" b="1" dirty="0">
                <a:solidFill>
                  <a:schemeClr val="accent6"/>
                </a:solidFill>
              </a:rPr>
              <a:t>66</a:t>
            </a:r>
            <a:endParaRPr lang="en-US" sz="2600" dirty="0"/>
          </a:p>
        </p:txBody>
      </p:sp>
      <p:sp>
        <p:nvSpPr>
          <p:cNvPr id="32" name="Text 29"/>
          <p:cNvSpPr txBox="1"/>
          <p:nvPr/>
        </p:nvSpPr>
        <p:spPr>
          <a:xfrm>
            <a:off x="7040880" y="5669280"/>
            <a:ext cx="4599432" cy="274320"/>
          </a:xfrm>
          <a:prstGeom prst="rect">
            <a:avLst/>
          </a:prstGeom>
          <a:noFill/>
          <a:ln/>
        </p:spPr>
        <p:txBody>
          <a:bodyPr wrap="square" lIns="0" tIns="0" rIns="0" bIns="0" rtlCol="0" anchor="t"/>
          <a:lstStyle/>
          <a:p>
            <a:pPr marL="0" indent="0">
              <a:buNone/>
            </a:pPr>
            <a:r>
              <a:rPr lang="en-US" sz="1100" dirty="0">
                <a:solidFill>
                  <a:schemeClr val="accent6"/>
                </a:solidFill>
              </a:rPr>
              <a:t>예시 화면 (서비스 랜딩 구성)</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주인에게 돌아가는 유실물이 줄고 있습니다</a:t>
            </a:r>
            <a:endParaRPr lang="en-US" sz="3400" dirty="0"/>
          </a:p>
        </p:txBody>
      </p:sp>
      <p:sp>
        <p:nvSpPr>
          <p:cNvPr id="3" name="Stat intake"/>
          <p:cNvSpPr/>
          <p:nvPr/>
        </p:nvSpPr>
        <p:spPr>
          <a:xfrm>
            <a:off x="548640" y="1463040"/>
            <a:ext cx="4480560" cy="2011680"/>
          </a:xfrm>
          <a:prstGeom prst="roundRect">
            <a:avLst>
              <a:gd name="adj" fmla="val 7273"/>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4" name="Text 2"/>
          <p:cNvSpPr txBox="1"/>
          <p:nvPr/>
        </p:nvSpPr>
        <p:spPr>
          <a:xfrm>
            <a:off x="914400" y="1691640"/>
            <a:ext cx="3749040" cy="274320"/>
          </a:xfrm>
          <a:prstGeom prst="rect">
            <a:avLst/>
          </a:prstGeom>
          <a:noFill/>
          <a:ln/>
        </p:spPr>
        <p:txBody>
          <a:bodyPr wrap="square" lIns="0" tIns="0" rIns="0" bIns="0" rtlCol="0" anchor="t"/>
          <a:lstStyle/>
          <a:p>
            <a:pPr marL="0" indent="0">
              <a:buNone/>
            </a:pPr>
            <a:r>
              <a:rPr lang="en-US" sz="1400" dirty="0">
                <a:solidFill>
                  <a:schemeClr val="tx2"/>
                </a:solidFill>
              </a:rPr>
              <a:t>유실물 접수 건수</a:t>
            </a:r>
            <a:endParaRPr lang="en-US" sz="1400" dirty="0"/>
          </a:p>
        </p:txBody>
      </p:sp>
      <p:sp>
        <p:nvSpPr>
          <p:cNvPr id="5" name="Text 3"/>
          <p:cNvSpPr txBox="1"/>
          <p:nvPr/>
        </p:nvSpPr>
        <p:spPr>
          <a:xfrm>
            <a:off x="914400" y="2011680"/>
            <a:ext cx="3749040" cy="868680"/>
          </a:xfrm>
          <a:prstGeom prst="rect">
            <a:avLst/>
          </a:prstGeom>
          <a:noFill/>
          <a:ln/>
        </p:spPr>
        <p:txBody>
          <a:bodyPr wrap="square" lIns="0" tIns="0" rIns="0" bIns="0" rtlCol="0" anchor="ctr"/>
          <a:lstStyle/>
          <a:p>
            <a:pPr marL="0" indent="0">
              <a:buNone/>
            </a:pPr>
            <a:r>
              <a:rPr lang="en-US" sz="5400" b="1" dirty="0">
                <a:solidFill>
                  <a:schemeClr val="tx1"/>
                </a:solidFill>
              </a:rPr>
              <a:t>+65%</a:t>
            </a:r>
            <a:endParaRPr lang="en-US" sz="5400" dirty="0"/>
          </a:p>
        </p:txBody>
      </p:sp>
      <p:sp>
        <p:nvSpPr>
          <p:cNvPr id="6" name="Text 4"/>
          <p:cNvSpPr txBox="1"/>
          <p:nvPr/>
        </p:nvSpPr>
        <p:spPr>
          <a:xfrm>
            <a:off x="914400" y="2926080"/>
            <a:ext cx="3749040" cy="320040"/>
          </a:xfrm>
          <a:prstGeom prst="rect">
            <a:avLst/>
          </a:prstGeom>
          <a:noFill/>
          <a:ln/>
        </p:spPr>
        <p:txBody>
          <a:bodyPr wrap="square" lIns="0" tIns="0" rIns="0" bIns="0" rtlCol="0" anchor="t"/>
          <a:lstStyle/>
          <a:p>
            <a:pPr marL="0" indent="0">
              <a:buNone/>
            </a:pPr>
            <a:r>
              <a:rPr lang="en-US" sz="1400" dirty="0">
                <a:solidFill>
                  <a:schemeClr val="tx2"/>
                </a:solidFill>
              </a:rPr>
              <a:t>2021년 10.2만 건 → 2025년 16.8만 건</a:t>
            </a:r>
            <a:endParaRPr lang="en-US" sz="1400" dirty="0"/>
          </a:p>
        </p:txBody>
      </p:sp>
      <p:sp>
        <p:nvSpPr>
          <p:cNvPr id="7" name="Stat return"/>
          <p:cNvSpPr/>
          <p:nvPr/>
        </p:nvSpPr>
        <p:spPr>
          <a:xfrm>
            <a:off x="548640" y="3703320"/>
            <a:ext cx="4480560" cy="2011680"/>
          </a:xfrm>
          <a:prstGeom prst="roundRect">
            <a:avLst>
              <a:gd name="adj" fmla="val 7273"/>
            </a:avLst>
          </a:prstGeom>
          <a:solidFill>
            <a:schemeClr val="tx1"/>
          </a:solidFill>
          <a:ln w="12700">
            <a:solidFill>
              <a:schemeClr val="tx1"/>
            </a:solidFill>
            <a:prstDash val="solid"/>
          </a:ln>
        </p:spPr>
        <p:txBody>
          <a:bodyPr/>
          <a:lstStyle/>
          <a:p>
            <a:endParaRPr lang="ko-KR" altLang="en-US"/>
          </a:p>
        </p:txBody>
      </p:sp>
      <p:sp>
        <p:nvSpPr>
          <p:cNvPr id="8" name="Text 6"/>
          <p:cNvSpPr txBox="1"/>
          <p:nvPr/>
        </p:nvSpPr>
        <p:spPr>
          <a:xfrm>
            <a:off x="914400" y="3931920"/>
            <a:ext cx="3749040" cy="274320"/>
          </a:xfrm>
          <a:prstGeom prst="rect">
            <a:avLst/>
          </a:prstGeom>
          <a:noFill/>
          <a:ln/>
        </p:spPr>
        <p:txBody>
          <a:bodyPr wrap="square" lIns="0" tIns="0" rIns="0" bIns="0" rtlCol="0" anchor="t"/>
          <a:lstStyle/>
          <a:p>
            <a:pPr marL="0" indent="0">
              <a:buNone/>
            </a:pPr>
            <a:r>
              <a:rPr lang="en-US" sz="1400" dirty="0">
                <a:solidFill>
                  <a:schemeClr val="accent6"/>
                </a:solidFill>
              </a:rPr>
              <a:t>주인에게 돌아간 비율</a:t>
            </a:r>
            <a:endParaRPr lang="en-US" sz="1400" dirty="0"/>
          </a:p>
        </p:txBody>
      </p:sp>
      <p:sp>
        <p:nvSpPr>
          <p:cNvPr id="9" name="Text 7"/>
          <p:cNvSpPr txBox="1"/>
          <p:nvPr/>
        </p:nvSpPr>
        <p:spPr>
          <a:xfrm>
            <a:off x="914400" y="4251960"/>
            <a:ext cx="3749040" cy="868680"/>
          </a:xfrm>
          <a:prstGeom prst="rect">
            <a:avLst/>
          </a:prstGeom>
          <a:noFill/>
          <a:ln/>
        </p:spPr>
        <p:txBody>
          <a:bodyPr wrap="square" lIns="0" tIns="0" rIns="0" bIns="0" rtlCol="0" anchor="ctr"/>
          <a:lstStyle/>
          <a:p>
            <a:pPr marL="0" indent="0">
              <a:buNone/>
            </a:pPr>
            <a:r>
              <a:rPr lang="en-US" sz="3400" b="1" dirty="0">
                <a:solidFill>
                  <a:schemeClr val="bg1"/>
                </a:solidFill>
              </a:rPr>
              <a:t>65.6 → 51.5%</a:t>
            </a:r>
            <a:endParaRPr lang="en-US" sz="3400" dirty="0"/>
          </a:p>
        </p:txBody>
      </p:sp>
      <p:sp>
        <p:nvSpPr>
          <p:cNvPr id="10" name="Text 8"/>
          <p:cNvSpPr txBox="1"/>
          <p:nvPr/>
        </p:nvSpPr>
        <p:spPr>
          <a:xfrm>
            <a:off x="914400" y="5212080"/>
            <a:ext cx="3749040" cy="320040"/>
          </a:xfrm>
          <a:prstGeom prst="rect">
            <a:avLst/>
          </a:prstGeom>
          <a:noFill/>
          <a:ln/>
        </p:spPr>
        <p:txBody>
          <a:bodyPr wrap="square" lIns="0" tIns="0" rIns="0" bIns="0" rtlCol="0" anchor="t"/>
          <a:lstStyle/>
          <a:p>
            <a:pPr marL="0" indent="0">
              <a:buNone/>
            </a:pPr>
            <a:r>
              <a:rPr lang="en-US" sz="1400" dirty="0">
                <a:solidFill>
                  <a:schemeClr val="accent6"/>
                </a:solidFill>
              </a:rPr>
              <a:t>2021년 → 2025년, 14.1%p 하락</a:t>
            </a:r>
            <a:endParaRPr lang="en-US" sz="1400" dirty="0"/>
          </a:p>
        </p:txBody>
      </p:sp>
      <p:sp>
        <p:nvSpPr>
          <p:cNvPr id="11" name="Chart card"/>
          <p:cNvSpPr/>
          <p:nvPr/>
        </p:nvSpPr>
        <p:spPr>
          <a:xfrm>
            <a:off x="5303520" y="1463040"/>
            <a:ext cx="6336792" cy="4251960"/>
          </a:xfrm>
          <a:prstGeom prst="roundRect">
            <a:avLst>
              <a:gd name="adj" fmla="val 3441"/>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2" name="Text 10"/>
          <p:cNvSpPr txBox="1"/>
          <p:nvPr/>
        </p:nvSpPr>
        <p:spPr>
          <a:xfrm>
            <a:off x="5669280" y="1691640"/>
            <a:ext cx="3657600" cy="274320"/>
          </a:xfrm>
          <a:prstGeom prst="rect">
            <a:avLst/>
          </a:prstGeom>
          <a:noFill/>
          <a:ln/>
        </p:spPr>
        <p:txBody>
          <a:bodyPr wrap="square" lIns="0" tIns="0" rIns="0" bIns="0" rtlCol="0" anchor="t"/>
          <a:lstStyle/>
          <a:p>
            <a:pPr marL="0" indent="0">
              <a:buNone/>
            </a:pPr>
            <a:r>
              <a:rPr lang="en-US" sz="1400" b="1" dirty="0">
                <a:solidFill>
                  <a:schemeClr val="tx1"/>
                </a:solidFill>
              </a:rPr>
              <a:t>주인에게 돌아간 비율 (%)</a:t>
            </a:r>
            <a:endParaRPr lang="en-US" sz="1400" dirty="0"/>
          </a:p>
        </p:txBody>
      </p:sp>
      <p:graphicFrame>
        <p:nvGraphicFramePr>
          <p:cNvPr id="13" name="Chart 0"/>
          <p:cNvGraphicFramePr/>
          <p:nvPr/>
        </p:nvGraphicFramePr>
        <p:xfrm>
          <a:off x="5486400" y="2057400"/>
          <a:ext cx="5971032"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txBox="1"/>
          <p:nvPr/>
        </p:nvSpPr>
        <p:spPr>
          <a:xfrm>
            <a:off x="548640" y="5989320"/>
            <a:ext cx="11094415" cy="274320"/>
          </a:xfrm>
          <a:prstGeom prst="rect">
            <a:avLst/>
          </a:prstGeom>
          <a:noFill/>
          <a:ln/>
        </p:spPr>
        <p:txBody>
          <a:bodyPr wrap="square" lIns="0" tIns="0" rIns="0" bIns="0" rtlCol="0" anchor="t"/>
          <a:lstStyle/>
          <a:p>
            <a:pPr marL="0" indent="0">
              <a:buNone/>
            </a:pPr>
            <a:r>
              <a:rPr lang="en-US" sz="1000" dirty="0">
                <a:solidFill>
                  <a:schemeClr val="tx2"/>
                </a:solidFill>
              </a:rPr>
              <a:t>출처: 서울교통공사 유실물 데이터(황희 의원 분석), The Herald Business, 2026.10.16 · 서울 지하철 기준</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이미 있는 서비스는 어디까지 해결했을까</a:t>
            </a:r>
            <a:endParaRPr lang="en-US" sz="3400" dirty="0"/>
          </a:p>
        </p:txBody>
      </p:sp>
      <p:graphicFrame>
        <p:nvGraphicFramePr>
          <p:cNvPr id="4" name="Competitor table"/>
          <p:cNvGraphicFramePr>
            <a:graphicFrameLocks noGrp="1"/>
          </p:cNvGraphicFramePr>
          <p:nvPr>
            <p:extLst>
              <p:ext uri="{D42A27DB-BD31-4B8C-83A1-F6EECF244321}">
                <p14:modId xmlns:p14="http://schemas.microsoft.com/office/powerpoint/2010/main" val="3647578054"/>
              </p:ext>
            </p:extLst>
          </p:nvPr>
        </p:nvGraphicFramePr>
        <p:xfrm>
          <a:off x="548640" y="1463040"/>
          <a:ext cx="11091672" cy="3520440"/>
        </p:xfrm>
        <a:graphic>
          <a:graphicData uri="http://schemas.openxmlformats.org/drawingml/2006/table">
            <a:tbl>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411480">
                <a:tc>
                  <a:txBody>
                    <a:bodyPr/>
                    <a:lstStyle/>
                    <a:p>
                      <a:pPr marL="0" indent="0">
                        <a:buNone/>
                      </a:pPr>
                      <a:r>
                        <a:rPr lang="en-US" sz="1400" b="1" dirty="0">
                          <a:solidFill>
                            <a:schemeClr val="bg1"/>
                          </a:solidFill>
                        </a:rPr>
                        <a:t>서비스</a:t>
                      </a:r>
                      <a:endParaRPr lang="en-US" sz="14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c>
                  <a:txBody>
                    <a:bodyPr/>
                    <a:lstStyle/>
                    <a:p>
                      <a:pPr marL="0" indent="0">
                        <a:buNone/>
                      </a:pPr>
                      <a:r>
                        <a:rPr lang="en-US" sz="1400" b="1" dirty="0">
                          <a:solidFill>
                            <a:schemeClr val="bg1"/>
                          </a:solidFill>
                        </a:rPr>
                        <a:t>하는 일</a:t>
                      </a:r>
                      <a:endParaRPr lang="en-US" sz="14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tc>
                  <a:txBody>
                    <a:bodyPr/>
                    <a:lstStyle/>
                    <a:p>
                      <a:pPr marL="0" indent="0">
                        <a:buNone/>
                      </a:pPr>
                      <a:r>
                        <a:rPr lang="en-US" sz="1400" b="1" dirty="0">
                          <a:solidFill>
                            <a:schemeClr val="bg1"/>
                          </a:solidFill>
                        </a:rPr>
                        <a:t>남아 있는 빈틈</a:t>
                      </a:r>
                      <a:endParaRPr lang="en-US" sz="14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777240">
                <a:tc>
                  <a:txBody>
                    <a:bodyPr/>
                    <a:lstStyle/>
                    <a:p>
                      <a:pPr marL="0" indent="0">
                        <a:buNone/>
                      </a:pPr>
                      <a:r>
                        <a:rPr lang="en-US" sz="1500" b="1" dirty="0">
                          <a:solidFill>
                            <a:srgbClr val="000000"/>
                          </a:solidFill>
                        </a:rPr>
                        <a:t>경찰청 LOST112</a:t>
                      </a:r>
                      <a:endParaRPr lang="en-US" sz="1500" dirty="0"/>
                    </a:p>
                    <a:p>
                      <a:pPr marL="0" indent="0">
                        <a:buNone/>
                      </a:pPr>
                      <a:r>
                        <a:rPr lang="en-US" sz="1200" dirty="0">
                          <a:solidFill>
                            <a:schemeClr val="tx2"/>
                          </a:solidFill>
                        </a:rPr>
                        <a:t>공공</a:t>
                      </a:r>
                      <a:endParaRPr lang="en-US" sz="15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전국 습득물 통합 조회, 유사물품 입고 시 문자·이메일 통보</a:t>
                      </a:r>
                      <a:endParaRPr lang="en-US" sz="14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유사 판단 기준이 공개되지 않음 · </a:t>
                      </a:r>
                      <a:r>
                        <a:rPr lang="en-US" sz="1400" b="1" dirty="0">
                          <a:solidFill>
                            <a:schemeClr val="tx1"/>
                          </a:solidFill>
                        </a:rPr>
                        <a:t>신고에 가입·실명인증 필요</a:t>
                      </a:r>
                      <a:endParaRPr lang="en-US" sz="1400" b="1"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500" b="1" dirty="0">
                          <a:solidFill>
                            <a:srgbClr val="000000"/>
                          </a:solidFill>
                        </a:rPr>
                        <a:t>당근 분실·실종</a:t>
                      </a:r>
                      <a:endParaRPr lang="en-US" sz="1500" dirty="0"/>
                    </a:p>
                    <a:p>
                      <a:pPr marL="0" indent="0">
                        <a:buNone/>
                      </a:pPr>
                      <a:r>
                        <a:rPr lang="en-US" sz="1200" dirty="0">
                          <a:solidFill>
                            <a:schemeClr val="tx2"/>
                          </a:solidFill>
                        </a:rPr>
                        <a:t>민간</a:t>
                      </a:r>
                      <a:endParaRPr lang="en-US" sz="15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이웃이 올린 게시글로 찾기 (1년 약 17만 건)</a:t>
                      </a:r>
                      <a:endParaRPr lang="en-US" sz="14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글을 올리고 읽어야 하는 </a:t>
                      </a:r>
                      <a:r>
                        <a:rPr lang="en-US" sz="1400" b="1" dirty="0">
                          <a:solidFill>
                            <a:schemeClr val="tx1"/>
                          </a:solidFill>
                        </a:rPr>
                        <a:t>수동 방식 · 사람이 직접 판단</a:t>
                      </a:r>
                      <a:endParaRPr lang="en-US" sz="1400" b="1"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500" b="1" dirty="0">
                          <a:solidFill>
                            <a:srgbClr val="000000"/>
                          </a:solidFill>
                        </a:rPr>
                        <a:t>파인딩올</a:t>
                      </a:r>
                      <a:endParaRPr lang="en-US" sz="1500" dirty="0"/>
                    </a:p>
                    <a:p>
                      <a:pPr marL="0" indent="0">
                        <a:buNone/>
                      </a:pPr>
                      <a:r>
                        <a:rPr lang="en-US" sz="1200" dirty="0">
                          <a:solidFill>
                            <a:schemeClr val="tx2"/>
                          </a:solidFill>
                        </a:rPr>
                        <a:t>민간</a:t>
                      </a:r>
                      <a:endParaRPr lang="en-US" sz="15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AI 이미지 분석, QR 스티커, 경찰청 연동 검색</a:t>
                      </a:r>
                      <a:endParaRPr lang="en-US" sz="14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확대는 거점 확보·</a:t>
                      </a:r>
                      <a:r>
                        <a:rPr lang="en-US" sz="1400" b="1" dirty="0">
                          <a:solidFill>
                            <a:schemeClr val="tx1"/>
                          </a:solidFill>
                        </a:rPr>
                        <a:t>QR 부착 중심 · 매칭 정확도 수치 미확인</a:t>
                      </a:r>
                      <a:endParaRPr lang="en-US" sz="1400" b="1"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500" b="1" dirty="0">
                          <a:solidFill>
                            <a:srgbClr val="000000"/>
                          </a:solidFill>
                        </a:rPr>
                        <a:t>서울교통공사</a:t>
                      </a:r>
                      <a:endParaRPr lang="en-US" sz="1500" dirty="0"/>
                    </a:p>
                    <a:p>
                      <a:pPr marL="0" indent="0">
                        <a:buNone/>
                      </a:pPr>
                      <a:r>
                        <a:rPr lang="en-US" sz="1200" dirty="0">
                          <a:solidFill>
                            <a:schemeClr val="tx2"/>
                          </a:solidFill>
                        </a:rPr>
                        <a:t>기관</a:t>
                      </a:r>
                      <a:endParaRPr lang="en-US" sz="15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기관 보관 유실물, 집앞배송(2026.7~)</a:t>
                      </a:r>
                      <a:endParaRPr lang="en-US" sz="1400"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배송은 반환 단계 개선 · </a:t>
                      </a:r>
                      <a:r>
                        <a:rPr lang="en-US" sz="1400" b="1" dirty="0">
                          <a:solidFill>
                            <a:schemeClr val="tx1"/>
                          </a:solidFill>
                        </a:rPr>
                        <a:t>찾기는 LOST112 조회 안내</a:t>
                      </a:r>
                      <a:endParaRPr lang="en-US" sz="1400" b="1" dirty="0"/>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 name="Focus callout"/>
          <p:cNvSpPr/>
          <p:nvPr/>
        </p:nvSpPr>
        <p:spPr>
          <a:xfrm>
            <a:off x="548640" y="5349240"/>
            <a:ext cx="11094415" cy="640080"/>
          </a:xfrm>
          <a:prstGeom prst="roundRect">
            <a:avLst>
              <a:gd name="adj" fmla="val 20000"/>
            </a:avLst>
          </a:prstGeom>
          <a:solidFill>
            <a:schemeClr val="tx1"/>
          </a:solidFill>
          <a:ln w="12700">
            <a:solidFill>
              <a:schemeClr val="tx1"/>
            </a:solidFill>
            <a:prstDash val="solid"/>
          </a:ln>
        </p:spPr>
        <p:txBody>
          <a:bodyPr/>
          <a:lstStyle/>
          <a:p>
            <a:endParaRPr lang="ko-KR" altLang="en-US"/>
          </a:p>
        </p:txBody>
      </p:sp>
      <p:sp>
        <p:nvSpPr>
          <p:cNvPr id="5" name="Text 2"/>
          <p:cNvSpPr txBox="1"/>
          <p:nvPr/>
        </p:nvSpPr>
        <p:spPr>
          <a:xfrm>
            <a:off x="868680" y="5349240"/>
            <a:ext cx="10454335" cy="640080"/>
          </a:xfrm>
          <a:prstGeom prst="rect">
            <a:avLst/>
          </a:prstGeom>
          <a:noFill/>
          <a:ln/>
        </p:spPr>
        <p:txBody>
          <a:bodyPr wrap="square" lIns="0" tIns="0" rIns="0" bIns="0" rtlCol="0" anchor="ctr"/>
          <a:lstStyle/>
          <a:p>
            <a:pPr marL="0" indent="0">
              <a:buNone/>
            </a:pPr>
            <a:r>
              <a:rPr lang="en-US" sz="1800" b="1" dirty="0">
                <a:solidFill>
                  <a:schemeClr val="accent6"/>
                </a:solidFill>
              </a:rPr>
              <a:t>ReFind가 집중하는 자리  </a:t>
            </a:r>
            <a:r>
              <a:rPr lang="en-US" sz="1800" b="1" dirty="0">
                <a:solidFill>
                  <a:schemeClr val="bg1"/>
                </a:solidFill>
              </a:rPr>
              <a:t>전국 공식 습득물 전체를, 근거를 보여주며, 자동으로 매칭</a:t>
            </a:r>
            <a:endParaRPr lang="en-US" sz="1800" dirty="0"/>
          </a:p>
        </p:txBody>
      </p:sp>
      <p:sp>
        <p:nvSpPr>
          <p:cNvPr id="6" name="Text 3"/>
          <p:cNvSpPr txBox="1"/>
          <p:nvPr/>
        </p:nvSpPr>
        <p:spPr>
          <a:xfrm>
            <a:off x="548640" y="6089904"/>
            <a:ext cx="11094415" cy="274320"/>
          </a:xfrm>
          <a:prstGeom prst="rect">
            <a:avLst/>
          </a:prstGeom>
          <a:noFill/>
          <a:ln/>
        </p:spPr>
        <p:txBody>
          <a:bodyPr wrap="square" lIns="0" tIns="0" rIns="0" bIns="0" rtlCol="0" anchor="t"/>
          <a:lstStyle/>
          <a:p>
            <a:pPr marL="0" indent="0">
              <a:buNone/>
            </a:pPr>
            <a:r>
              <a:rPr lang="en-US" sz="1000" dirty="0">
                <a:solidFill>
                  <a:schemeClr val="tx2"/>
                </a:solidFill>
              </a:rPr>
              <a:t>출처: LOST112 안내, 유니콘팩토리(2024.6), 전자신문(2025.2), 파이낸셜뉴스(2024.11), 서울시 뉴스·세계일보(2026.7)</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등록 한 번이면, 나머지는 ReFind가 합니다</a:t>
            </a:r>
            <a:endParaRPr lang="en-US" sz="3400" dirty="0"/>
          </a:p>
        </p:txBody>
      </p:sp>
      <p:sp>
        <p:nvSpPr>
          <p:cNvPr id="3" name="Step card 1"/>
          <p:cNvSpPr/>
          <p:nvPr/>
        </p:nvSpPr>
        <p:spPr>
          <a:xfrm>
            <a:off x="548640" y="1554480"/>
            <a:ext cx="4937760" cy="1325880"/>
          </a:xfrm>
          <a:prstGeom prst="roundRect">
            <a:avLst>
              <a:gd name="adj" fmla="val 11034"/>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4" name="Step 1"/>
          <p:cNvSpPr/>
          <p:nvPr/>
        </p:nvSpPr>
        <p:spPr>
          <a:xfrm>
            <a:off x="822960" y="1874520"/>
            <a:ext cx="457200" cy="457200"/>
          </a:xfrm>
          <a:prstGeom prst="ellipse">
            <a:avLst/>
          </a:prstGeom>
          <a:solidFill>
            <a:schemeClr val="tx1"/>
          </a:solidFill>
          <a:ln w="12700">
            <a:solidFill>
              <a:schemeClr val="tx1"/>
            </a:solidFill>
            <a:prstDash val="solid"/>
          </a:ln>
        </p:spPr>
        <p:txBody>
          <a:bodyPr/>
          <a:lstStyle/>
          <a:p>
            <a:endParaRPr lang="ko-KR" altLang="en-US"/>
          </a:p>
        </p:txBody>
      </p:sp>
      <p:sp>
        <p:nvSpPr>
          <p:cNvPr id="5" name="Text 3"/>
          <p:cNvSpPr txBox="1"/>
          <p:nvPr/>
        </p:nvSpPr>
        <p:spPr>
          <a:xfrm>
            <a:off x="822960" y="18745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1463040" y="1755648"/>
            <a:ext cx="3108960" cy="365760"/>
          </a:xfrm>
          <a:prstGeom prst="rect">
            <a:avLst/>
          </a:prstGeom>
          <a:noFill/>
          <a:ln/>
        </p:spPr>
        <p:txBody>
          <a:bodyPr wrap="square" lIns="0" tIns="0" rIns="0" bIns="0" rtlCol="0" anchor="t"/>
          <a:lstStyle/>
          <a:p>
            <a:pPr marL="0" indent="0">
              <a:buNone/>
            </a:pPr>
            <a:r>
              <a:rPr lang="en-US" sz="2000" b="1" dirty="0">
                <a:solidFill>
                  <a:schemeClr val="tx1"/>
                </a:solidFill>
              </a:rPr>
              <a:t>등록</a:t>
            </a:r>
            <a:endParaRPr lang="en-US" sz="2000" dirty="0"/>
          </a:p>
        </p:txBody>
      </p:sp>
      <p:sp>
        <p:nvSpPr>
          <p:cNvPr id="7" name="Text 5"/>
          <p:cNvSpPr txBox="1"/>
          <p:nvPr/>
        </p:nvSpPr>
        <p:spPr>
          <a:xfrm>
            <a:off x="1463040" y="2176272"/>
            <a:ext cx="3840480" cy="594360"/>
          </a:xfrm>
          <a:prstGeom prst="rect">
            <a:avLst/>
          </a:prstGeom>
          <a:noFill/>
          <a:ln/>
        </p:spPr>
        <p:txBody>
          <a:bodyPr wrap="square" lIns="0" tIns="0" rIns="0" bIns="0" rtlCol="0" anchor="t"/>
          <a:lstStyle/>
          <a:p>
            <a:pPr marL="0" indent="0">
              <a:buNone/>
            </a:pPr>
            <a:r>
              <a:rPr lang="en-US" sz="1400" dirty="0">
                <a:solidFill>
                  <a:schemeClr val="tx2"/>
                </a:solidFill>
              </a:rPr>
              <a:t>물품·색상·장소·날짜·특징을</a:t>
            </a:r>
            <a:endParaRPr lang="en-US" sz="1400" dirty="0"/>
          </a:p>
          <a:p>
            <a:pPr marL="0" indent="0">
              <a:buNone/>
            </a:pPr>
            <a:r>
              <a:rPr lang="en-US" sz="1400" dirty="0">
                <a:solidFill>
                  <a:schemeClr val="tx2"/>
                </a:solidFill>
              </a:rPr>
              <a:t>4단계로 입력</a:t>
            </a:r>
            <a:endParaRPr lang="en-US" sz="1400" dirty="0"/>
          </a:p>
        </p:txBody>
      </p:sp>
      <p:sp>
        <p:nvSpPr>
          <p:cNvPr id="8" name="Step card 2"/>
          <p:cNvSpPr/>
          <p:nvPr/>
        </p:nvSpPr>
        <p:spPr>
          <a:xfrm>
            <a:off x="548640" y="3063240"/>
            <a:ext cx="4937760" cy="1325880"/>
          </a:xfrm>
          <a:prstGeom prst="roundRect">
            <a:avLst>
              <a:gd name="adj" fmla="val 11034"/>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9" name="Step 2"/>
          <p:cNvSpPr/>
          <p:nvPr/>
        </p:nvSpPr>
        <p:spPr>
          <a:xfrm>
            <a:off x="822960" y="3383280"/>
            <a:ext cx="457200" cy="457200"/>
          </a:xfrm>
          <a:prstGeom prst="ellipse">
            <a:avLst/>
          </a:prstGeom>
          <a:solidFill>
            <a:schemeClr val="tx1"/>
          </a:solidFill>
          <a:ln w="12700">
            <a:solidFill>
              <a:schemeClr val="tx1"/>
            </a:solidFill>
            <a:prstDash val="solid"/>
          </a:ln>
        </p:spPr>
        <p:txBody>
          <a:bodyPr/>
          <a:lstStyle/>
          <a:p>
            <a:endParaRPr lang="ko-KR" altLang="en-US"/>
          </a:p>
        </p:txBody>
      </p:sp>
      <p:sp>
        <p:nvSpPr>
          <p:cNvPr id="10" name="Text 8"/>
          <p:cNvSpPr txBox="1"/>
          <p:nvPr/>
        </p:nvSpPr>
        <p:spPr>
          <a:xfrm>
            <a:off x="822960" y="33832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1463040" y="3264408"/>
            <a:ext cx="3108960" cy="365760"/>
          </a:xfrm>
          <a:prstGeom prst="rect">
            <a:avLst/>
          </a:prstGeom>
          <a:noFill/>
          <a:ln/>
        </p:spPr>
        <p:txBody>
          <a:bodyPr wrap="square" lIns="0" tIns="0" rIns="0" bIns="0" rtlCol="0" anchor="t"/>
          <a:lstStyle/>
          <a:p>
            <a:pPr marL="0" indent="0">
              <a:buNone/>
            </a:pPr>
            <a:r>
              <a:rPr lang="en-US" sz="2000" b="1" dirty="0">
                <a:solidFill>
                  <a:schemeClr val="tx1"/>
                </a:solidFill>
              </a:rPr>
              <a:t>자동 매칭</a:t>
            </a:r>
            <a:endParaRPr lang="en-US" sz="2000" dirty="0"/>
          </a:p>
        </p:txBody>
      </p:sp>
      <p:sp>
        <p:nvSpPr>
          <p:cNvPr id="12" name="Text 10"/>
          <p:cNvSpPr txBox="1"/>
          <p:nvPr/>
        </p:nvSpPr>
        <p:spPr>
          <a:xfrm>
            <a:off x="1463040" y="3685032"/>
            <a:ext cx="3840480" cy="594360"/>
          </a:xfrm>
          <a:prstGeom prst="rect">
            <a:avLst/>
          </a:prstGeom>
          <a:noFill/>
          <a:ln/>
        </p:spPr>
        <p:txBody>
          <a:bodyPr wrap="square" lIns="0" tIns="0" rIns="0" bIns="0" rtlCol="0" anchor="t"/>
          <a:lstStyle/>
          <a:p>
            <a:pPr marL="0" indent="0">
              <a:buNone/>
            </a:pPr>
            <a:r>
              <a:rPr lang="en-US" sz="1400" dirty="0">
                <a:solidFill>
                  <a:schemeClr val="tx2"/>
                </a:solidFill>
              </a:rPr>
              <a:t>경찰청 LOST112 습득물과 비교해</a:t>
            </a:r>
            <a:endParaRPr lang="en-US" sz="1400" dirty="0"/>
          </a:p>
          <a:p>
            <a:pPr marL="0" indent="0">
              <a:buNone/>
            </a:pPr>
            <a:r>
              <a:rPr lang="en-US" sz="1400" dirty="0">
                <a:solidFill>
                  <a:schemeClr val="tx2"/>
                </a:solidFill>
              </a:rPr>
              <a:t>TOP 5와 근거 제시</a:t>
            </a:r>
            <a:endParaRPr lang="en-US" sz="1400" dirty="0"/>
          </a:p>
        </p:txBody>
      </p:sp>
      <p:sp>
        <p:nvSpPr>
          <p:cNvPr id="13" name="Step card 3"/>
          <p:cNvSpPr/>
          <p:nvPr/>
        </p:nvSpPr>
        <p:spPr>
          <a:xfrm>
            <a:off x="548640" y="4572000"/>
            <a:ext cx="4937760" cy="1325880"/>
          </a:xfrm>
          <a:prstGeom prst="roundRect">
            <a:avLst>
              <a:gd name="adj" fmla="val 11034"/>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4" name="Step 3"/>
          <p:cNvSpPr/>
          <p:nvPr/>
        </p:nvSpPr>
        <p:spPr>
          <a:xfrm>
            <a:off x="822960" y="4892040"/>
            <a:ext cx="457200" cy="457200"/>
          </a:xfrm>
          <a:prstGeom prst="ellipse">
            <a:avLst/>
          </a:prstGeom>
          <a:solidFill>
            <a:schemeClr val="tx1"/>
          </a:solidFill>
          <a:ln w="12700">
            <a:solidFill>
              <a:schemeClr val="tx1"/>
            </a:solidFill>
            <a:prstDash val="solid"/>
          </a:ln>
        </p:spPr>
        <p:txBody>
          <a:bodyPr/>
          <a:lstStyle/>
          <a:p>
            <a:endParaRPr lang="ko-KR" altLang="en-US"/>
          </a:p>
        </p:txBody>
      </p:sp>
      <p:sp>
        <p:nvSpPr>
          <p:cNvPr id="15" name="Text 13"/>
          <p:cNvSpPr txBox="1"/>
          <p:nvPr/>
        </p:nvSpPr>
        <p:spPr>
          <a:xfrm>
            <a:off x="822960" y="48920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1463040" y="4773168"/>
            <a:ext cx="3108960" cy="365760"/>
          </a:xfrm>
          <a:prstGeom prst="rect">
            <a:avLst/>
          </a:prstGeom>
          <a:noFill/>
          <a:ln/>
        </p:spPr>
        <p:txBody>
          <a:bodyPr wrap="square" lIns="0" tIns="0" rIns="0" bIns="0" rtlCol="0" anchor="t"/>
          <a:lstStyle/>
          <a:p>
            <a:pPr marL="0" indent="0">
              <a:buNone/>
            </a:pPr>
            <a:r>
              <a:rPr lang="en-US" sz="2000" b="1" dirty="0">
                <a:solidFill>
                  <a:schemeClr val="tx1"/>
                </a:solidFill>
              </a:rPr>
              <a:t>알림</a:t>
            </a:r>
            <a:endParaRPr lang="en-US" sz="2000" dirty="0"/>
          </a:p>
        </p:txBody>
      </p:sp>
      <p:sp>
        <p:nvSpPr>
          <p:cNvPr id="17" name="Text 15"/>
          <p:cNvSpPr txBox="1"/>
          <p:nvPr/>
        </p:nvSpPr>
        <p:spPr>
          <a:xfrm>
            <a:off x="1463040" y="5193792"/>
            <a:ext cx="3840480" cy="594360"/>
          </a:xfrm>
          <a:prstGeom prst="rect">
            <a:avLst/>
          </a:prstGeom>
          <a:noFill/>
          <a:ln/>
        </p:spPr>
        <p:txBody>
          <a:bodyPr wrap="square" lIns="0" tIns="0" rIns="0" bIns="0" rtlCol="0" anchor="t"/>
          <a:lstStyle/>
          <a:p>
            <a:pPr marL="0" indent="0">
              <a:buNone/>
            </a:pPr>
            <a:r>
              <a:rPr lang="en-US" sz="1400" dirty="0">
                <a:solidFill>
                  <a:schemeClr val="tx2"/>
                </a:solidFill>
              </a:rPr>
              <a:t>새 습득물이 들어오면 다시 비교해</a:t>
            </a:r>
            <a:endParaRPr lang="en-US" sz="1400" dirty="0"/>
          </a:p>
          <a:p>
            <a:pPr marL="0" indent="0">
              <a:buNone/>
            </a:pPr>
            <a:r>
              <a:rPr lang="en-US" sz="1400" dirty="0">
                <a:solidFill>
                  <a:schemeClr val="tx2"/>
                </a:solidFill>
              </a:rPr>
              <a:t>먼저 알려줌</a:t>
            </a:r>
            <a:endParaRPr lang="en-US" sz="1400" dirty="0"/>
          </a:p>
        </p:txBody>
      </p:sp>
      <p:pic>
        <p:nvPicPr>
          <p:cNvPr id="18" name="Screenshot TOP5 real" descr="ReFind 서비스 화면: 추천 후보 TOP 5 1위, 매칭 점수 88과 근거"/>
          <p:cNvPicPr>
            <a:picLocks noChangeAspect="1"/>
          </p:cNvPicPr>
          <p:nvPr/>
        </p:nvPicPr>
        <p:blipFill>
          <a:blip r:embed="rId3"/>
          <a:stretch>
            <a:fillRect/>
          </a:stretch>
        </p:blipFill>
        <p:spPr>
          <a:xfrm>
            <a:off x="6062472" y="1554480"/>
            <a:ext cx="5577840" cy="3803073"/>
          </a:xfrm>
          <a:prstGeom prst="rect">
            <a:avLst/>
          </a:prstGeom>
        </p:spPr>
      </p:pic>
      <p:sp>
        <p:nvSpPr>
          <p:cNvPr id="19" name="Text 16"/>
          <p:cNvSpPr txBox="1"/>
          <p:nvPr/>
        </p:nvSpPr>
        <p:spPr>
          <a:xfrm>
            <a:off x="6062472" y="5486400"/>
            <a:ext cx="5577840" cy="274320"/>
          </a:xfrm>
          <a:prstGeom prst="rect">
            <a:avLst/>
          </a:prstGeom>
          <a:noFill/>
          <a:ln/>
        </p:spPr>
        <p:txBody>
          <a:bodyPr wrap="square" lIns="0" tIns="0" rIns="0" bIns="0" rtlCol="0" anchor="t"/>
          <a:lstStyle/>
          <a:p>
            <a:pPr marL="0" indent="0">
              <a:buNone/>
            </a:pPr>
            <a:r>
              <a:rPr lang="en-US" sz="1100" dirty="0">
                <a:solidFill>
                  <a:schemeClr val="tx2"/>
                </a:solidFill>
              </a:rPr>
              <a:t>실제 서비스 화면 · 운영 환경에서 시연 계정으로 캡처</a:t>
            </a:r>
            <a:endParaRPr lang="en-US" sz="11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bg1"/>
                </a:solidFill>
              </a:rPr>
              <a:t>시연: 등록부터 알림까지</a:t>
            </a:r>
            <a:endParaRPr lang="en-US" sz="34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417320"/>
            <a:ext cx="7680960" cy="4320540"/>
          </a:xfrm>
          <a:prstGeom prst="rect">
            <a:avLst/>
          </a:prstGeom>
        </p:spPr>
      </p:pic>
      <p:sp>
        <p:nvSpPr>
          <p:cNvPr id="4" name="Flow 1"/>
          <p:cNvSpPr/>
          <p:nvPr/>
        </p:nvSpPr>
        <p:spPr>
          <a:xfrm>
            <a:off x="8503920" y="1417320"/>
            <a:ext cx="3139135" cy="868680"/>
          </a:xfrm>
          <a:prstGeom prst="roundRect">
            <a:avLst>
              <a:gd name="adj" fmla="val 14737"/>
            </a:avLst>
          </a:prstGeom>
          <a:solidFill>
            <a:schemeClr val="accent1"/>
          </a:solidFill>
          <a:ln w="12700">
            <a:solidFill>
              <a:schemeClr val="accent1"/>
            </a:solidFill>
            <a:prstDash val="solid"/>
          </a:ln>
        </p:spPr>
        <p:txBody>
          <a:bodyPr/>
          <a:lstStyle/>
          <a:p>
            <a:endParaRPr lang="ko-KR" altLang="en-US"/>
          </a:p>
        </p:txBody>
      </p:sp>
      <p:sp>
        <p:nvSpPr>
          <p:cNvPr id="5" name="Text 2"/>
          <p:cNvSpPr txBox="1"/>
          <p:nvPr/>
        </p:nvSpPr>
        <p:spPr>
          <a:xfrm>
            <a:off x="8686800" y="1417320"/>
            <a:ext cx="365760" cy="868680"/>
          </a:xfrm>
          <a:prstGeom prst="rect">
            <a:avLst/>
          </a:prstGeom>
          <a:noFill/>
          <a:ln/>
        </p:spPr>
        <p:txBody>
          <a:bodyPr wrap="square" lIns="0" tIns="0" rIns="0" bIns="0" rtlCol="0" anchor="ctr"/>
          <a:lstStyle/>
          <a:p>
            <a:pPr marL="0" indent="0">
              <a:buNone/>
            </a:pPr>
            <a:r>
              <a:rPr lang="en-US" sz="2400" b="1" dirty="0">
                <a:solidFill>
                  <a:schemeClr val="accent6"/>
                </a:solidFill>
              </a:rPr>
              <a:t>1</a:t>
            </a:r>
            <a:endParaRPr lang="en-US" sz="2400" dirty="0"/>
          </a:p>
        </p:txBody>
      </p:sp>
      <p:sp>
        <p:nvSpPr>
          <p:cNvPr id="6" name="Text 3"/>
          <p:cNvSpPr txBox="1"/>
          <p:nvPr/>
        </p:nvSpPr>
        <p:spPr>
          <a:xfrm>
            <a:off x="9144000" y="1600200"/>
            <a:ext cx="1828800" cy="274320"/>
          </a:xfrm>
          <a:prstGeom prst="rect">
            <a:avLst/>
          </a:prstGeom>
          <a:noFill/>
          <a:ln/>
        </p:spPr>
        <p:txBody>
          <a:bodyPr wrap="square" lIns="0" tIns="0" rIns="0" bIns="0" rtlCol="0" anchor="t"/>
          <a:lstStyle/>
          <a:p>
            <a:pPr marL="0" indent="0">
              <a:buNone/>
            </a:pPr>
            <a:r>
              <a:rPr lang="en-US" sz="1600" b="1" dirty="0">
                <a:solidFill>
                  <a:schemeClr val="bg1"/>
                </a:solidFill>
              </a:rPr>
              <a:t>분실물 등록</a:t>
            </a:r>
            <a:endParaRPr lang="en-US" sz="1600" dirty="0"/>
          </a:p>
        </p:txBody>
      </p:sp>
      <p:sp>
        <p:nvSpPr>
          <p:cNvPr id="7" name="Text 4"/>
          <p:cNvSpPr txBox="1"/>
          <p:nvPr/>
        </p:nvSpPr>
        <p:spPr>
          <a:xfrm>
            <a:off x="9144000" y="1947672"/>
            <a:ext cx="1874520" cy="274320"/>
          </a:xfrm>
          <a:prstGeom prst="rect">
            <a:avLst/>
          </a:prstGeom>
          <a:noFill/>
          <a:ln/>
        </p:spPr>
        <p:txBody>
          <a:bodyPr wrap="square" lIns="0" tIns="0" rIns="0" bIns="0" rtlCol="0" anchor="t"/>
          <a:lstStyle/>
          <a:p>
            <a:pPr marL="0" indent="0">
              <a:buNone/>
            </a:pPr>
            <a:r>
              <a:rPr lang="en-US" sz="1200" dirty="0">
                <a:solidFill>
                  <a:schemeClr val="accent6"/>
                </a:solidFill>
              </a:rPr>
              <a:t>4단계 위저드</a:t>
            </a:r>
            <a:endParaRPr lang="en-US" sz="1200" dirty="0"/>
          </a:p>
        </p:txBody>
      </p:sp>
      <p:sp>
        <p:nvSpPr>
          <p:cNvPr id="8" name="Flow 2"/>
          <p:cNvSpPr/>
          <p:nvPr/>
        </p:nvSpPr>
        <p:spPr>
          <a:xfrm>
            <a:off x="8503920" y="2423160"/>
            <a:ext cx="3139135" cy="868680"/>
          </a:xfrm>
          <a:prstGeom prst="roundRect">
            <a:avLst>
              <a:gd name="adj" fmla="val 14737"/>
            </a:avLst>
          </a:prstGeom>
          <a:solidFill>
            <a:schemeClr val="accent1"/>
          </a:solidFill>
          <a:ln w="12700">
            <a:solidFill>
              <a:schemeClr val="accent1"/>
            </a:solidFill>
            <a:prstDash val="solid"/>
          </a:ln>
        </p:spPr>
        <p:txBody>
          <a:bodyPr/>
          <a:lstStyle/>
          <a:p>
            <a:endParaRPr lang="ko-KR" altLang="en-US"/>
          </a:p>
        </p:txBody>
      </p:sp>
      <p:sp>
        <p:nvSpPr>
          <p:cNvPr id="9" name="Text 6"/>
          <p:cNvSpPr txBox="1"/>
          <p:nvPr/>
        </p:nvSpPr>
        <p:spPr>
          <a:xfrm>
            <a:off x="8686800" y="2423160"/>
            <a:ext cx="365760" cy="868680"/>
          </a:xfrm>
          <a:prstGeom prst="rect">
            <a:avLst/>
          </a:prstGeom>
          <a:noFill/>
          <a:ln/>
        </p:spPr>
        <p:txBody>
          <a:bodyPr wrap="square" lIns="0" tIns="0" rIns="0" bIns="0" rtlCol="0" anchor="ctr"/>
          <a:lstStyle/>
          <a:p>
            <a:pPr marL="0" indent="0">
              <a:buNone/>
            </a:pPr>
            <a:r>
              <a:rPr lang="en-US" sz="2400" b="1" dirty="0">
                <a:solidFill>
                  <a:schemeClr val="accent6"/>
                </a:solidFill>
              </a:rPr>
              <a:t>2</a:t>
            </a:r>
            <a:endParaRPr lang="en-US" sz="2400" dirty="0"/>
          </a:p>
        </p:txBody>
      </p:sp>
      <p:sp>
        <p:nvSpPr>
          <p:cNvPr id="10" name="Text 7"/>
          <p:cNvSpPr txBox="1"/>
          <p:nvPr/>
        </p:nvSpPr>
        <p:spPr>
          <a:xfrm>
            <a:off x="9144000" y="2606040"/>
            <a:ext cx="1828800" cy="274320"/>
          </a:xfrm>
          <a:prstGeom prst="rect">
            <a:avLst/>
          </a:prstGeom>
          <a:noFill/>
          <a:ln/>
        </p:spPr>
        <p:txBody>
          <a:bodyPr wrap="square" lIns="0" tIns="0" rIns="0" bIns="0" rtlCol="0" anchor="t"/>
          <a:lstStyle/>
          <a:p>
            <a:pPr marL="0" indent="0">
              <a:buNone/>
            </a:pPr>
            <a:r>
              <a:rPr lang="en-US" sz="1600" b="1" dirty="0">
                <a:solidFill>
                  <a:schemeClr val="bg1"/>
                </a:solidFill>
              </a:rPr>
              <a:t>후보 확인</a:t>
            </a:r>
            <a:endParaRPr lang="en-US" sz="1600" dirty="0"/>
          </a:p>
        </p:txBody>
      </p:sp>
      <p:sp>
        <p:nvSpPr>
          <p:cNvPr id="11" name="Text 8"/>
          <p:cNvSpPr txBox="1"/>
          <p:nvPr/>
        </p:nvSpPr>
        <p:spPr>
          <a:xfrm>
            <a:off x="9144000" y="2953512"/>
            <a:ext cx="1874520" cy="274320"/>
          </a:xfrm>
          <a:prstGeom prst="rect">
            <a:avLst/>
          </a:prstGeom>
          <a:noFill/>
          <a:ln/>
        </p:spPr>
        <p:txBody>
          <a:bodyPr wrap="square" lIns="0" tIns="0" rIns="0" bIns="0" rtlCol="0" anchor="t"/>
          <a:lstStyle/>
          <a:p>
            <a:pPr marL="0" indent="0">
              <a:buNone/>
            </a:pPr>
            <a:r>
              <a:rPr lang="en-US" sz="1200" dirty="0">
                <a:solidFill>
                  <a:schemeClr val="accent6"/>
                </a:solidFill>
              </a:rPr>
              <a:t>TOP 5 + 점수 근거</a:t>
            </a:r>
            <a:endParaRPr lang="en-US" sz="1200" dirty="0"/>
          </a:p>
        </p:txBody>
      </p:sp>
      <p:sp>
        <p:nvSpPr>
          <p:cNvPr id="12" name="Flow 3"/>
          <p:cNvSpPr/>
          <p:nvPr/>
        </p:nvSpPr>
        <p:spPr>
          <a:xfrm>
            <a:off x="8503920" y="3429000"/>
            <a:ext cx="3139135" cy="868680"/>
          </a:xfrm>
          <a:prstGeom prst="roundRect">
            <a:avLst>
              <a:gd name="adj" fmla="val 14737"/>
            </a:avLst>
          </a:prstGeom>
          <a:solidFill>
            <a:schemeClr val="accent1"/>
          </a:solidFill>
          <a:ln w="12700">
            <a:solidFill>
              <a:schemeClr val="accent1"/>
            </a:solidFill>
            <a:prstDash val="solid"/>
          </a:ln>
        </p:spPr>
        <p:txBody>
          <a:bodyPr/>
          <a:lstStyle/>
          <a:p>
            <a:endParaRPr lang="ko-KR" altLang="en-US"/>
          </a:p>
        </p:txBody>
      </p:sp>
      <p:sp>
        <p:nvSpPr>
          <p:cNvPr id="13" name="Text 10"/>
          <p:cNvSpPr txBox="1"/>
          <p:nvPr/>
        </p:nvSpPr>
        <p:spPr>
          <a:xfrm>
            <a:off x="8686800" y="3429000"/>
            <a:ext cx="365760" cy="868680"/>
          </a:xfrm>
          <a:prstGeom prst="rect">
            <a:avLst/>
          </a:prstGeom>
          <a:noFill/>
          <a:ln/>
        </p:spPr>
        <p:txBody>
          <a:bodyPr wrap="square" lIns="0" tIns="0" rIns="0" bIns="0" rtlCol="0" anchor="ctr"/>
          <a:lstStyle/>
          <a:p>
            <a:pPr marL="0" indent="0">
              <a:buNone/>
            </a:pPr>
            <a:r>
              <a:rPr lang="en-US" sz="2400" b="1" dirty="0">
                <a:solidFill>
                  <a:schemeClr val="accent6"/>
                </a:solidFill>
              </a:rPr>
              <a:t>3</a:t>
            </a:r>
            <a:endParaRPr lang="en-US" sz="2400" dirty="0"/>
          </a:p>
        </p:txBody>
      </p:sp>
      <p:sp>
        <p:nvSpPr>
          <p:cNvPr id="14" name="Text 11"/>
          <p:cNvSpPr txBox="1"/>
          <p:nvPr/>
        </p:nvSpPr>
        <p:spPr>
          <a:xfrm>
            <a:off x="9144000" y="3611880"/>
            <a:ext cx="1828800" cy="274320"/>
          </a:xfrm>
          <a:prstGeom prst="rect">
            <a:avLst/>
          </a:prstGeom>
          <a:noFill/>
          <a:ln/>
        </p:spPr>
        <p:txBody>
          <a:bodyPr wrap="square" lIns="0" tIns="0" rIns="0" bIns="0" rtlCol="0" anchor="t"/>
          <a:lstStyle/>
          <a:p>
            <a:pPr marL="0" indent="0">
              <a:buNone/>
            </a:pPr>
            <a:r>
              <a:rPr lang="en-US" sz="1600" b="1" dirty="0">
                <a:solidFill>
                  <a:schemeClr val="bg1"/>
                </a:solidFill>
              </a:rPr>
              <a:t>알림</a:t>
            </a:r>
            <a:endParaRPr lang="en-US" sz="1600" dirty="0"/>
          </a:p>
        </p:txBody>
      </p:sp>
      <p:sp>
        <p:nvSpPr>
          <p:cNvPr id="15" name="Text 12"/>
          <p:cNvSpPr txBox="1"/>
          <p:nvPr/>
        </p:nvSpPr>
        <p:spPr>
          <a:xfrm>
            <a:off x="9144000" y="3959352"/>
            <a:ext cx="1874520" cy="274320"/>
          </a:xfrm>
          <a:prstGeom prst="rect">
            <a:avLst/>
          </a:prstGeom>
          <a:noFill/>
          <a:ln/>
        </p:spPr>
        <p:txBody>
          <a:bodyPr wrap="square" lIns="0" tIns="0" rIns="0" bIns="0" rtlCol="0" anchor="t"/>
          <a:lstStyle/>
          <a:p>
            <a:pPr marL="0" indent="0">
              <a:buNone/>
            </a:pPr>
            <a:r>
              <a:rPr lang="en-US" sz="1200" dirty="0">
                <a:solidFill>
                  <a:schemeClr val="accent6"/>
                </a:solidFill>
              </a:rPr>
              <a:t>새 습득물 0.78점 이상</a:t>
            </a:r>
            <a:endParaRPr lang="en-US" sz="1200" dirty="0"/>
          </a:p>
        </p:txBody>
      </p:sp>
      <p:sp>
        <p:nvSpPr>
          <p:cNvPr id="16" name="Try it"/>
          <p:cNvSpPr/>
          <p:nvPr/>
        </p:nvSpPr>
        <p:spPr>
          <a:xfrm>
            <a:off x="8503920" y="4480560"/>
            <a:ext cx="3139135" cy="1257300"/>
          </a:xfrm>
          <a:prstGeom prst="roundRect">
            <a:avLst>
              <a:gd name="adj" fmla="val 10182"/>
            </a:avLst>
          </a:prstGeom>
          <a:solidFill>
            <a:schemeClr val="bg1"/>
          </a:solidFill>
          <a:ln w="12700">
            <a:solidFill>
              <a:schemeClr val="bg1"/>
            </a:solidFill>
            <a:prstDash val="solid"/>
          </a:ln>
        </p:spPr>
        <p:txBody>
          <a:bodyPr/>
          <a:lstStyle/>
          <a:p>
            <a:endParaRPr lang="ko-KR" altLang="en-US"/>
          </a:p>
        </p:txBody>
      </p:sp>
      <p:sp>
        <p:nvSpPr>
          <p:cNvPr id="17" name="Text 14"/>
          <p:cNvSpPr txBox="1"/>
          <p:nvPr/>
        </p:nvSpPr>
        <p:spPr>
          <a:xfrm>
            <a:off x="8732520" y="4645152"/>
            <a:ext cx="2681935" cy="274320"/>
          </a:xfrm>
          <a:prstGeom prst="rect">
            <a:avLst/>
          </a:prstGeom>
          <a:noFill/>
          <a:ln/>
        </p:spPr>
        <p:txBody>
          <a:bodyPr wrap="square" lIns="0" tIns="0" rIns="0" bIns="0" rtlCol="0" anchor="t"/>
          <a:lstStyle/>
          <a:p>
            <a:pPr marL="0" indent="0">
              <a:buNone/>
            </a:pPr>
            <a:r>
              <a:rPr lang="en-US" sz="1200" b="1" dirty="0">
                <a:solidFill>
                  <a:schemeClr val="tx2"/>
                </a:solidFill>
              </a:rPr>
              <a:t>직접 체험</a:t>
            </a:r>
            <a:endParaRPr lang="en-US" sz="1200" dirty="0"/>
          </a:p>
        </p:txBody>
      </p:sp>
      <p:sp>
        <p:nvSpPr>
          <p:cNvPr id="18" name="Text 15">
            <a:hlinkClick r:id="rId6"/>
          </p:cNvPr>
          <p:cNvSpPr txBox="1"/>
          <p:nvPr/>
        </p:nvSpPr>
        <p:spPr>
          <a:xfrm>
            <a:off x="8732520" y="4983480"/>
            <a:ext cx="2681935" cy="548640"/>
          </a:xfrm>
          <a:prstGeom prst="rect">
            <a:avLst/>
          </a:prstGeom>
          <a:noFill/>
          <a:ln/>
        </p:spPr>
        <p:txBody>
          <a:bodyPr wrap="square" lIns="0" tIns="0" rIns="0" bIns="0" rtlCol="0" anchor="t"/>
          <a:lstStyle/>
          <a:p>
            <a:pPr marL="0" indent="0">
              <a:buNone/>
            </a:pPr>
            <a:r>
              <a:rPr lang="en-US" sz="1200" b="1" u="sng" dirty="0">
                <a:solidFill>
                  <a:schemeClr val="tx1"/>
                </a:solidFill>
                <a:hlinkClick r:id="rId6">
                  <a:extLst>
                    <a:ext uri="{A12FA001-AC4F-418D-AE19-62706E023703}">
                      <ahyp:hlinkClr xmlns:ahyp="http://schemas.microsoft.com/office/drawing/2018/hyperlinkcolor" val="tx"/>
                    </a:ext>
                  </a:extLst>
                </a:hlinkClick>
              </a:rPr>
              <a:t>d29d7xry7tkopu.cloudfront.net</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서비스 화면: 라이트 · 다크 · 모바일</a:t>
            </a:r>
            <a:endParaRPr lang="en-US" sz="3400" dirty="0"/>
          </a:p>
        </p:txBody>
      </p:sp>
      <p:pic>
        <p:nvPicPr>
          <p:cNvPr id="3" name="Screenshot light" descr="라이트 테마 랜딩 화면"/>
          <p:cNvPicPr>
            <a:picLocks noChangeAspect="1"/>
          </p:cNvPicPr>
          <p:nvPr/>
        </p:nvPicPr>
        <p:blipFill>
          <a:blip r:embed="rId3"/>
          <a:stretch>
            <a:fillRect/>
          </a:stretch>
        </p:blipFill>
        <p:spPr>
          <a:xfrm>
            <a:off x="548640" y="1554480"/>
            <a:ext cx="4522895" cy="2826810"/>
          </a:xfrm>
          <a:prstGeom prst="rect">
            <a:avLst/>
          </a:prstGeom>
        </p:spPr>
      </p:pic>
      <p:pic>
        <p:nvPicPr>
          <p:cNvPr id="4" name="Screenshot dark" descr="다크 테마 랜딩 화면"/>
          <p:cNvPicPr>
            <a:picLocks noChangeAspect="1"/>
          </p:cNvPicPr>
          <p:nvPr/>
        </p:nvPicPr>
        <p:blipFill>
          <a:blip r:embed="rId4"/>
          <a:stretch>
            <a:fillRect/>
          </a:stretch>
        </p:blipFill>
        <p:spPr>
          <a:xfrm>
            <a:off x="5345855" y="1554480"/>
            <a:ext cx="4522895" cy="2826810"/>
          </a:xfrm>
          <a:prstGeom prst="rect">
            <a:avLst/>
          </a:prstGeom>
        </p:spPr>
      </p:pic>
      <p:pic>
        <p:nvPicPr>
          <p:cNvPr id="5" name="Screenshot mobile" descr="모바일 화면"/>
          <p:cNvPicPr>
            <a:picLocks noChangeAspect="1"/>
          </p:cNvPicPr>
          <p:nvPr/>
        </p:nvPicPr>
        <p:blipFill>
          <a:blip r:embed="rId5"/>
          <a:stretch>
            <a:fillRect/>
          </a:stretch>
        </p:blipFill>
        <p:spPr>
          <a:xfrm>
            <a:off x="10143071" y="1554480"/>
            <a:ext cx="1499984" cy="3246120"/>
          </a:xfrm>
          <a:prstGeom prst="rect">
            <a:avLst/>
          </a:prstGeom>
        </p:spPr>
      </p:pic>
      <p:sp>
        <p:nvSpPr>
          <p:cNvPr id="6" name="Screenshot outline"/>
          <p:cNvSpPr/>
          <p:nvPr/>
        </p:nvSpPr>
        <p:spPr>
          <a:xfrm>
            <a:off x="548640" y="1554480"/>
            <a:ext cx="4522895" cy="2826810"/>
          </a:xfrm>
          <a:prstGeom prst="roundRect">
            <a:avLst>
              <a:gd name="adj" fmla="val 3235"/>
            </a:avLst>
          </a:prstGeom>
          <a:solidFill>
            <a:srgbClr val="FFFFFF">
              <a:alpha val="0"/>
            </a:srgbClr>
          </a:solidFill>
          <a:ln w="9525">
            <a:solidFill>
              <a:srgbClr val="C7C7CC"/>
            </a:solidFill>
            <a:prstDash val="solid"/>
          </a:ln>
        </p:spPr>
        <p:txBody>
          <a:bodyPr/>
          <a:lstStyle/>
          <a:p>
            <a:endParaRPr lang="ko-KR" altLang="en-US"/>
          </a:p>
        </p:txBody>
      </p:sp>
      <p:sp>
        <p:nvSpPr>
          <p:cNvPr id="7" name="Screenshot outline"/>
          <p:cNvSpPr/>
          <p:nvPr/>
        </p:nvSpPr>
        <p:spPr>
          <a:xfrm>
            <a:off x="5345855" y="1554480"/>
            <a:ext cx="4522895" cy="2826810"/>
          </a:xfrm>
          <a:prstGeom prst="roundRect">
            <a:avLst>
              <a:gd name="adj" fmla="val 3235"/>
            </a:avLst>
          </a:prstGeom>
          <a:solidFill>
            <a:srgbClr val="FFFFFF">
              <a:alpha val="0"/>
            </a:srgbClr>
          </a:solidFill>
          <a:ln w="9525">
            <a:solidFill>
              <a:srgbClr val="C7C7CC"/>
            </a:solidFill>
            <a:prstDash val="solid"/>
          </a:ln>
        </p:spPr>
        <p:txBody>
          <a:bodyPr/>
          <a:lstStyle/>
          <a:p>
            <a:endParaRPr lang="ko-KR" altLang="en-US"/>
          </a:p>
        </p:txBody>
      </p:sp>
      <p:sp>
        <p:nvSpPr>
          <p:cNvPr id="8" name="Text 3"/>
          <p:cNvSpPr txBox="1"/>
          <p:nvPr/>
        </p:nvSpPr>
        <p:spPr>
          <a:xfrm>
            <a:off x="548640" y="4472730"/>
            <a:ext cx="4522895" cy="274320"/>
          </a:xfrm>
          <a:prstGeom prst="rect">
            <a:avLst/>
          </a:prstGeom>
          <a:noFill/>
          <a:ln/>
        </p:spPr>
        <p:txBody>
          <a:bodyPr wrap="square" lIns="0" tIns="0" rIns="0" bIns="0" rtlCol="0" anchor="t"/>
          <a:lstStyle/>
          <a:p>
            <a:pPr marL="0" indent="0">
              <a:buNone/>
            </a:pPr>
            <a:r>
              <a:rPr lang="en-US" sz="1200" dirty="0">
                <a:solidFill>
                  <a:schemeClr val="tx2"/>
                </a:solidFill>
              </a:rPr>
              <a:t>라이트</a:t>
            </a:r>
            <a:endParaRPr lang="en-US" sz="1200" dirty="0"/>
          </a:p>
        </p:txBody>
      </p:sp>
      <p:sp>
        <p:nvSpPr>
          <p:cNvPr id="9" name="Text 4"/>
          <p:cNvSpPr txBox="1"/>
          <p:nvPr/>
        </p:nvSpPr>
        <p:spPr>
          <a:xfrm>
            <a:off x="5345855" y="4472730"/>
            <a:ext cx="4522895" cy="274320"/>
          </a:xfrm>
          <a:prstGeom prst="rect">
            <a:avLst/>
          </a:prstGeom>
          <a:noFill/>
          <a:ln/>
        </p:spPr>
        <p:txBody>
          <a:bodyPr wrap="square" lIns="0" tIns="0" rIns="0" bIns="0" rtlCol="0" anchor="t"/>
          <a:lstStyle/>
          <a:p>
            <a:pPr marL="0" indent="0">
              <a:buNone/>
            </a:pPr>
            <a:r>
              <a:rPr lang="en-US" sz="1200" dirty="0">
                <a:solidFill>
                  <a:schemeClr val="tx2"/>
                </a:solidFill>
              </a:rPr>
              <a:t>다크</a:t>
            </a:r>
            <a:endParaRPr lang="en-US" sz="1200" dirty="0"/>
          </a:p>
        </p:txBody>
      </p:sp>
      <p:sp>
        <p:nvSpPr>
          <p:cNvPr id="10" name="Text 5"/>
          <p:cNvSpPr txBox="1"/>
          <p:nvPr/>
        </p:nvSpPr>
        <p:spPr>
          <a:xfrm>
            <a:off x="10143071" y="4892040"/>
            <a:ext cx="1499984" cy="274320"/>
          </a:xfrm>
          <a:prstGeom prst="rect">
            <a:avLst/>
          </a:prstGeom>
          <a:noFill/>
          <a:ln/>
        </p:spPr>
        <p:txBody>
          <a:bodyPr wrap="square" lIns="0" tIns="0" rIns="0" bIns="0" rtlCol="0" anchor="t"/>
          <a:lstStyle/>
          <a:p>
            <a:pPr marL="0" indent="0">
              <a:buNone/>
            </a:pPr>
            <a:r>
              <a:rPr lang="en-US" sz="1200" dirty="0">
                <a:solidFill>
                  <a:schemeClr val="tx2"/>
                </a:solidFill>
              </a:rPr>
              <a:t>모바일</a:t>
            </a:r>
            <a:endParaRPr lang="en-US" sz="1200" dirty="0"/>
          </a:p>
        </p:txBody>
      </p:sp>
      <p:sp>
        <p:nvSpPr>
          <p:cNvPr id="11" name="Feature 분실물 태그 콘셉트"/>
          <p:cNvSpPr/>
          <p:nvPr/>
        </p:nvSpPr>
        <p:spPr>
          <a:xfrm>
            <a:off x="548640" y="5212080"/>
            <a:ext cx="3515258" cy="960120"/>
          </a:xfrm>
          <a:prstGeom prst="roundRect">
            <a:avLst>
              <a:gd name="adj" fmla="val 15238"/>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pic>
        <p:nvPicPr>
          <p:cNvPr id="12" name="Image 3" descr="tag icon"/>
          <p:cNvPicPr>
            <a:picLocks noChangeAspect="1"/>
          </p:cNvPicPr>
          <p:nvPr/>
        </p:nvPicPr>
        <p:blipFill>
          <a:blip r:embed="rId6"/>
          <a:stretch>
            <a:fillRect/>
          </a:stretch>
        </p:blipFill>
        <p:spPr>
          <a:xfrm>
            <a:off x="777240" y="5468112"/>
            <a:ext cx="365760" cy="365760"/>
          </a:xfrm>
          <a:prstGeom prst="rect">
            <a:avLst/>
          </a:prstGeom>
        </p:spPr>
      </p:pic>
      <p:sp>
        <p:nvSpPr>
          <p:cNvPr id="13" name="Text 7"/>
          <p:cNvSpPr txBox="1"/>
          <p:nvPr/>
        </p:nvSpPr>
        <p:spPr>
          <a:xfrm>
            <a:off x="1325880" y="5321808"/>
            <a:ext cx="2600858" cy="320040"/>
          </a:xfrm>
          <a:prstGeom prst="rect">
            <a:avLst/>
          </a:prstGeom>
          <a:noFill/>
          <a:ln/>
        </p:spPr>
        <p:txBody>
          <a:bodyPr wrap="square" lIns="0" tIns="0" rIns="0" bIns="0" rtlCol="0" anchor="t"/>
          <a:lstStyle/>
          <a:p>
            <a:pPr marL="0" indent="0">
              <a:buNone/>
            </a:pPr>
            <a:r>
              <a:rPr lang="en-US" sz="1600" b="1" dirty="0">
                <a:solidFill>
                  <a:schemeClr val="tx1"/>
                </a:solidFill>
              </a:rPr>
              <a:t>분실물 태그 콘셉트</a:t>
            </a:r>
            <a:endParaRPr lang="en-US" sz="1600" dirty="0"/>
          </a:p>
        </p:txBody>
      </p:sp>
      <p:sp>
        <p:nvSpPr>
          <p:cNvPr id="14" name="Text 8"/>
          <p:cNvSpPr txBox="1"/>
          <p:nvPr/>
        </p:nvSpPr>
        <p:spPr>
          <a:xfrm>
            <a:off x="1325880" y="5669280"/>
            <a:ext cx="2600858" cy="411480"/>
          </a:xfrm>
          <a:prstGeom prst="rect">
            <a:avLst/>
          </a:prstGeom>
          <a:noFill/>
          <a:ln/>
        </p:spPr>
        <p:txBody>
          <a:bodyPr wrap="square" lIns="0" tIns="0" rIns="0" bIns="0" rtlCol="0" anchor="t"/>
          <a:lstStyle/>
          <a:p>
            <a:pPr marL="0" indent="0">
              <a:buNone/>
            </a:pPr>
            <a:r>
              <a:rPr lang="en-US" sz="1300" dirty="0">
                <a:solidFill>
                  <a:schemeClr val="tx2"/>
                </a:solidFill>
              </a:rPr>
              <a:t>흑백 단색 · 점수는 검은 태그에</a:t>
            </a:r>
            <a:endParaRPr lang="en-US" sz="1300" dirty="0"/>
          </a:p>
        </p:txBody>
      </p:sp>
      <p:sp>
        <p:nvSpPr>
          <p:cNvPr id="15" name="Feature 테마 전환"/>
          <p:cNvSpPr/>
          <p:nvPr/>
        </p:nvSpPr>
        <p:spPr>
          <a:xfrm>
            <a:off x="4338218" y="5212080"/>
            <a:ext cx="3515258" cy="960120"/>
          </a:xfrm>
          <a:prstGeom prst="roundRect">
            <a:avLst>
              <a:gd name="adj" fmla="val 15238"/>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pic>
        <p:nvPicPr>
          <p:cNvPr id="16" name="Image 4" descr="check icon"/>
          <p:cNvPicPr>
            <a:picLocks noChangeAspect="1"/>
          </p:cNvPicPr>
          <p:nvPr/>
        </p:nvPicPr>
        <p:blipFill>
          <a:blip r:embed="rId7"/>
          <a:stretch>
            <a:fillRect/>
          </a:stretch>
        </p:blipFill>
        <p:spPr>
          <a:xfrm>
            <a:off x="4566818" y="5468112"/>
            <a:ext cx="365760" cy="365760"/>
          </a:xfrm>
          <a:prstGeom prst="rect">
            <a:avLst/>
          </a:prstGeom>
        </p:spPr>
      </p:pic>
      <p:sp>
        <p:nvSpPr>
          <p:cNvPr id="17" name="Text 10"/>
          <p:cNvSpPr txBox="1"/>
          <p:nvPr/>
        </p:nvSpPr>
        <p:spPr>
          <a:xfrm>
            <a:off x="5115458" y="5321808"/>
            <a:ext cx="2600858" cy="320040"/>
          </a:xfrm>
          <a:prstGeom prst="rect">
            <a:avLst/>
          </a:prstGeom>
          <a:noFill/>
          <a:ln/>
        </p:spPr>
        <p:txBody>
          <a:bodyPr wrap="square" lIns="0" tIns="0" rIns="0" bIns="0" rtlCol="0" anchor="t"/>
          <a:lstStyle/>
          <a:p>
            <a:pPr marL="0" indent="0">
              <a:buNone/>
            </a:pPr>
            <a:r>
              <a:rPr lang="en-US" sz="1600" b="1" dirty="0">
                <a:solidFill>
                  <a:schemeClr val="tx1"/>
                </a:solidFill>
              </a:rPr>
              <a:t>테마 전환</a:t>
            </a:r>
            <a:endParaRPr lang="en-US" sz="1600" dirty="0"/>
          </a:p>
        </p:txBody>
      </p:sp>
      <p:sp>
        <p:nvSpPr>
          <p:cNvPr id="18" name="Text 11"/>
          <p:cNvSpPr txBox="1"/>
          <p:nvPr/>
        </p:nvSpPr>
        <p:spPr>
          <a:xfrm>
            <a:off x="5115458" y="5669280"/>
            <a:ext cx="2600858" cy="411480"/>
          </a:xfrm>
          <a:prstGeom prst="rect">
            <a:avLst/>
          </a:prstGeom>
          <a:noFill/>
          <a:ln/>
        </p:spPr>
        <p:txBody>
          <a:bodyPr wrap="square" lIns="0" tIns="0" rIns="0" bIns="0" rtlCol="0" anchor="t"/>
          <a:lstStyle/>
          <a:p>
            <a:pPr marL="0" indent="0">
              <a:buNone/>
            </a:pPr>
            <a:r>
              <a:rPr lang="en-US" sz="1300" dirty="0">
                <a:solidFill>
                  <a:schemeClr val="tx2"/>
                </a:solidFill>
              </a:rPr>
              <a:t>선택값 저장 · 첫 페인트 전 적용</a:t>
            </a:r>
            <a:endParaRPr lang="en-US" sz="1300" dirty="0"/>
          </a:p>
        </p:txBody>
      </p:sp>
      <p:sp>
        <p:nvSpPr>
          <p:cNvPr id="19" name="Feature 접근성"/>
          <p:cNvSpPr/>
          <p:nvPr/>
        </p:nvSpPr>
        <p:spPr>
          <a:xfrm>
            <a:off x="8127797" y="5212080"/>
            <a:ext cx="3515258" cy="960120"/>
          </a:xfrm>
          <a:prstGeom prst="roundRect">
            <a:avLst>
              <a:gd name="adj" fmla="val 15238"/>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pic>
        <p:nvPicPr>
          <p:cNvPr id="20" name="Image 5" descr="shield icon"/>
          <p:cNvPicPr>
            <a:picLocks noChangeAspect="1"/>
          </p:cNvPicPr>
          <p:nvPr/>
        </p:nvPicPr>
        <p:blipFill>
          <a:blip r:embed="rId8"/>
          <a:stretch>
            <a:fillRect/>
          </a:stretch>
        </p:blipFill>
        <p:spPr>
          <a:xfrm>
            <a:off x="8356397" y="5468112"/>
            <a:ext cx="365760" cy="365760"/>
          </a:xfrm>
          <a:prstGeom prst="rect">
            <a:avLst/>
          </a:prstGeom>
        </p:spPr>
      </p:pic>
      <p:sp>
        <p:nvSpPr>
          <p:cNvPr id="21" name="Text 13"/>
          <p:cNvSpPr txBox="1"/>
          <p:nvPr/>
        </p:nvSpPr>
        <p:spPr>
          <a:xfrm>
            <a:off x="8905037" y="5321808"/>
            <a:ext cx="2600858" cy="320040"/>
          </a:xfrm>
          <a:prstGeom prst="rect">
            <a:avLst/>
          </a:prstGeom>
          <a:noFill/>
          <a:ln/>
        </p:spPr>
        <p:txBody>
          <a:bodyPr wrap="square" lIns="0" tIns="0" rIns="0" bIns="0" rtlCol="0" anchor="t"/>
          <a:lstStyle/>
          <a:p>
            <a:pPr marL="0" indent="0">
              <a:buNone/>
            </a:pPr>
            <a:r>
              <a:rPr lang="en-US" sz="1600" b="1" dirty="0">
                <a:solidFill>
                  <a:schemeClr val="tx1"/>
                </a:solidFill>
              </a:rPr>
              <a:t>접근성</a:t>
            </a:r>
            <a:endParaRPr lang="en-US" sz="1600" dirty="0"/>
          </a:p>
        </p:txBody>
      </p:sp>
      <p:sp>
        <p:nvSpPr>
          <p:cNvPr id="22" name="Text 14"/>
          <p:cNvSpPr txBox="1"/>
          <p:nvPr/>
        </p:nvSpPr>
        <p:spPr>
          <a:xfrm>
            <a:off x="8905037" y="5669280"/>
            <a:ext cx="2600858" cy="411480"/>
          </a:xfrm>
          <a:prstGeom prst="rect">
            <a:avLst/>
          </a:prstGeom>
          <a:noFill/>
          <a:ln/>
        </p:spPr>
        <p:txBody>
          <a:bodyPr wrap="square" lIns="0" tIns="0" rIns="0" bIns="0" rtlCol="0" anchor="t"/>
          <a:lstStyle/>
          <a:p>
            <a:pPr marL="0" indent="0">
              <a:buNone/>
            </a:pPr>
            <a:r>
              <a:rPr lang="en-US" sz="1300" dirty="0">
                <a:solidFill>
                  <a:schemeClr val="tx2"/>
                </a:solidFill>
              </a:rPr>
              <a:t>본문 건너뛰기 · 동작 줄이기 대응</a:t>
            </a:r>
            <a:endParaRPr lang="en-US" sz="13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이름이 달라도 같은 물건을 알아봅니다</a:t>
            </a:r>
            <a:endParaRPr lang="en-US" sz="3400" dirty="0"/>
          </a:p>
        </p:txBody>
      </p:sp>
      <p:sp>
        <p:nvSpPr>
          <p:cNvPr id="3" name="Lost item"/>
          <p:cNvSpPr/>
          <p:nvPr/>
        </p:nvSpPr>
        <p:spPr>
          <a:xfrm>
            <a:off x="548640" y="1463040"/>
            <a:ext cx="7040880" cy="1051560"/>
          </a:xfrm>
          <a:prstGeom prst="roundRect">
            <a:avLst>
              <a:gd name="adj" fmla="val 13913"/>
            </a:avLst>
          </a:prstGeom>
          <a:solidFill>
            <a:schemeClr val="tx1"/>
          </a:solidFill>
          <a:ln w="12700">
            <a:solidFill>
              <a:schemeClr val="tx1"/>
            </a:solidFill>
            <a:prstDash val="solid"/>
          </a:ln>
        </p:spPr>
        <p:txBody>
          <a:bodyPr/>
          <a:lstStyle/>
          <a:p>
            <a:endParaRPr lang="ko-KR" altLang="en-US"/>
          </a:p>
        </p:txBody>
      </p:sp>
      <p:sp>
        <p:nvSpPr>
          <p:cNvPr id="4" name="Text 2"/>
          <p:cNvSpPr txBox="1"/>
          <p:nvPr/>
        </p:nvSpPr>
        <p:spPr>
          <a:xfrm>
            <a:off x="868680" y="1627632"/>
            <a:ext cx="3657600" cy="274320"/>
          </a:xfrm>
          <a:prstGeom prst="rect">
            <a:avLst/>
          </a:prstGeom>
          <a:noFill/>
          <a:ln/>
        </p:spPr>
        <p:txBody>
          <a:bodyPr wrap="square" lIns="0" tIns="0" rIns="0" bIns="0" rtlCol="0" anchor="t"/>
          <a:lstStyle/>
          <a:p>
            <a:pPr marL="0" indent="0">
              <a:buNone/>
            </a:pPr>
            <a:r>
              <a:rPr lang="en-US" sz="1200" dirty="0">
                <a:solidFill>
                  <a:schemeClr val="accent6"/>
                </a:solidFill>
              </a:rPr>
              <a:t>내가 등록한 분실물</a:t>
            </a:r>
            <a:endParaRPr lang="en-US" sz="1200" dirty="0"/>
          </a:p>
        </p:txBody>
      </p:sp>
      <p:sp>
        <p:nvSpPr>
          <p:cNvPr id="5" name="Text 3"/>
          <p:cNvSpPr txBox="1"/>
          <p:nvPr/>
        </p:nvSpPr>
        <p:spPr>
          <a:xfrm>
            <a:off x="868680" y="1965960"/>
            <a:ext cx="6400800" cy="411480"/>
          </a:xfrm>
          <a:prstGeom prst="rect">
            <a:avLst/>
          </a:prstGeom>
          <a:noFill/>
          <a:ln/>
        </p:spPr>
        <p:txBody>
          <a:bodyPr wrap="square" lIns="0" tIns="0" rIns="0" bIns="0" rtlCol="0" anchor="t"/>
          <a:lstStyle/>
          <a:p>
            <a:pPr marL="0" indent="0">
              <a:buNone/>
            </a:pPr>
            <a:r>
              <a:rPr lang="en-US" sz="2000" b="1" dirty="0">
                <a:solidFill>
                  <a:schemeClr val="bg1"/>
                </a:solidFill>
              </a:rPr>
              <a:t>카드지갑 · 갈색 가죽, 카드 5장, 금색 로고</a:t>
            </a:r>
            <a:endParaRPr lang="en-US" sz="2000" dirty="0"/>
          </a:p>
        </p:txBody>
      </p:sp>
      <p:sp>
        <p:nvSpPr>
          <p:cNvPr id="6" name="Candidate 0.92"/>
          <p:cNvSpPr/>
          <p:nvPr/>
        </p:nvSpPr>
        <p:spPr>
          <a:xfrm>
            <a:off x="548640" y="2697480"/>
            <a:ext cx="3429000" cy="3108960"/>
          </a:xfrm>
          <a:prstGeom prst="roundRect">
            <a:avLst>
              <a:gd name="adj" fmla="val 4706"/>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7" name="Highlight outline"/>
          <p:cNvSpPr/>
          <p:nvPr/>
        </p:nvSpPr>
        <p:spPr>
          <a:xfrm>
            <a:off x="548640" y="2697480"/>
            <a:ext cx="3429000" cy="3108960"/>
          </a:xfrm>
          <a:prstGeom prst="roundRect">
            <a:avLst>
              <a:gd name="adj" fmla="val 4706"/>
            </a:avLst>
          </a:prstGeom>
          <a:solidFill>
            <a:srgbClr val="FFFFFF">
              <a:alpha val="0"/>
            </a:srgbClr>
          </a:solidFill>
          <a:ln w="31750">
            <a:solidFill>
              <a:srgbClr val="000000"/>
            </a:solidFill>
            <a:prstDash val="solid"/>
          </a:ln>
        </p:spPr>
        <p:txBody>
          <a:bodyPr/>
          <a:lstStyle/>
          <a:p>
            <a:endParaRPr lang="ko-KR" altLang="en-US"/>
          </a:p>
        </p:txBody>
      </p:sp>
      <p:sp>
        <p:nvSpPr>
          <p:cNvPr id="8" name="Text 6"/>
          <p:cNvSpPr txBox="1"/>
          <p:nvPr/>
        </p:nvSpPr>
        <p:spPr>
          <a:xfrm>
            <a:off x="822960" y="2880360"/>
            <a:ext cx="2880360" cy="457200"/>
          </a:xfrm>
          <a:prstGeom prst="rect">
            <a:avLst/>
          </a:prstGeom>
          <a:noFill/>
          <a:ln/>
        </p:spPr>
        <p:txBody>
          <a:bodyPr wrap="square" lIns="0" tIns="0" rIns="0" bIns="0" rtlCol="0" anchor="t"/>
          <a:lstStyle/>
          <a:p>
            <a:pPr marL="0" indent="0">
              <a:buNone/>
            </a:pPr>
            <a:r>
              <a:rPr lang="en-US" sz="1200" dirty="0">
                <a:solidFill>
                  <a:schemeClr val="tx2"/>
                </a:solidFill>
              </a:rPr>
              <a:t>습득물 A · 이름이 다름</a:t>
            </a:r>
            <a:endParaRPr lang="en-US" sz="1200" dirty="0"/>
          </a:p>
        </p:txBody>
      </p:sp>
      <p:sp>
        <p:nvSpPr>
          <p:cNvPr id="9" name="Text 7"/>
          <p:cNvSpPr txBox="1"/>
          <p:nvPr/>
        </p:nvSpPr>
        <p:spPr>
          <a:xfrm>
            <a:off x="822960" y="3383280"/>
            <a:ext cx="2880360" cy="822960"/>
          </a:xfrm>
          <a:prstGeom prst="rect">
            <a:avLst/>
          </a:prstGeom>
          <a:noFill/>
          <a:ln/>
        </p:spPr>
        <p:txBody>
          <a:bodyPr wrap="square" lIns="0" tIns="0" rIns="0" bIns="0" rtlCol="0" anchor="t"/>
          <a:lstStyle/>
          <a:p>
            <a:pPr marL="0" indent="0">
              <a:buNone/>
            </a:pPr>
            <a:r>
              <a:rPr lang="en-US" sz="1400" b="1" dirty="0">
                <a:solidFill>
                  <a:schemeClr val="tx1"/>
                </a:solidFill>
              </a:rPr>
              <a:t>명함 케이스 · 갈색 가죽 명함지갑, 신용카드 여러 장</a:t>
            </a:r>
            <a:endParaRPr lang="en-US" sz="1400" dirty="0"/>
          </a:p>
        </p:txBody>
      </p:sp>
      <p:sp>
        <p:nvSpPr>
          <p:cNvPr id="10" name="Text 8"/>
          <p:cNvSpPr txBox="1"/>
          <p:nvPr/>
        </p:nvSpPr>
        <p:spPr>
          <a:xfrm>
            <a:off x="822960" y="4206240"/>
            <a:ext cx="2880360" cy="914400"/>
          </a:xfrm>
          <a:prstGeom prst="rect">
            <a:avLst/>
          </a:prstGeom>
          <a:noFill/>
          <a:ln/>
        </p:spPr>
        <p:txBody>
          <a:bodyPr wrap="square" lIns="0" tIns="0" rIns="0" bIns="0" rtlCol="0" anchor="ctr"/>
          <a:lstStyle/>
          <a:p>
            <a:pPr marL="0" indent="0">
              <a:buNone/>
            </a:pPr>
            <a:r>
              <a:rPr lang="en-US" sz="5400" b="1" dirty="0">
                <a:solidFill>
                  <a:schemeClr val="tx1"/>
                </a:solidFill>
              </a:rPr>
              <a:t>0.92</a:t>
            </a:r>
            <a:endParaRPr lang="en-US" sz="5400" dirty="0"/>
          </a:p>
        </p:txBody>
      </p:sp>
      <p:sp>
        <p:nvSpPr>
          <p:cNvPr id="11" name="Text 9"/>
          <p:cNvSpPr txBox="1"/>
          <p:nvPr/>
        </p:nvSpPr>
        <p:spPr>
          <a:xfrm>
            <a:off x="822960" y="5212080"/>
            <a:ext cx="2880360" cy="365760"/>
          </a:xfrm>
          <a:prstGeom prst="rect">
            <a:avLst/>
          </a:prstGeom>
          <a:noFill/>
          <a:ln/>
        </p:spPr>
        <p:txBody>
          <a:bodyPr wrap="square" lIns="0" tIns="0" rIns="0" bIns="0" rtlCol="0" anchor="t"/>
          <a:lstStyle/>
          <a:p>
            <a:pPr marL="0" indent="0">
              <a:buNone/>
            </a:pPr>
            <a:r>
              <a:rPr lang="en-US" sz="1400" b="1" dirty="0">
                <a:solidFill>
                  <a:schemeClr val="tx1"/>
                </a:solidFill>
              </a:rPr>
              <a:t>의미 유사도 높음 → 상위 후보</a:t>
            </a:r>
            <a:endParaRPr lang="en-US" sz="1400" dirty="0"/>
          </a:p>
        </p:txBody>
      </p:sp>
      <p:sp>
        <p:nvSpPr>
          <p:cNvPr id="12" name="Candidate 0.76"/>
          <p:cNvSpPr/>
          <p:nvPr/>
        </p:nvSpPr>
        <p:spPr>
          <a:xfrm>
            <a:off x="4160520" y="2697480"/>
            <a:ext cx="3429000" cy="3108960"/>
          </a:xfrm>
          <a:prstGeom prst="roundRect">
            <a:avLst>
              <a:gd name="adj" fmla="val 4706"/>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3" name="Text 11"/>
          <p:cNvSpPr txBox="1"/>
          <p:nvPr/>
        </p:nvSpPr>
        <p:spPr>
          <a:xfrm>
            <a:off x="4434840" y="2880360"/>
            <a:ext cx="2880360" cy="457200"/>
          </a:xfrm>
          <a:prstGeom prst="rect">
            <a:avLst/>
          </a:prstGeom>
          <a:noFill/>
          <a:ln/>
        </p:spPr>
        <p:txBody>
          <a:bodyPr wrap="square" lIns="0" tIns="0" rIns="0" bIns="0" rtlCol="0" anchor="t"/>
          <a:lstStyle/>
          <a:p>
            <a:pPr marL="0" indent="0">
              <a:buNone/>
            </a:pPr>
            <a:r>
              <a:rPr lang="en-US" sz="1200" dirty="0">
                <a:solidFill>
                  <a:schemeClr val="tx2"/>
                </a:solidFill>
              </a:rPr>
              <a:t>습득물 B · 이름은 같지만 색·재질·내용이 다름</a:t>
            </a:r>
            <a:endParaRPr lang="en-US" sz="1200" dirty="0"/>
          </a:p>
        </p:txBody>
      </p:sp>
      <p:sp>
        <p:nvSpPr>
          <p:cNvPr id="14" name="Text 12"/>
          <p:cNvSpPr txBox="1"/>
          <p:nvPr/>
        </p:nvSpPr>
        <p:spPr>
          <a:xfrm>
            <a:off x="4434840" y="3383280"/>
            <a:ext cx="2880360" cy="822960"/>
          </a:xfrm>
          <a:prstGeom prst="rect">
            <a:avLst/>
          </a:prstGeom>
          <a:noFill/>
          <a:ln/>
        </p:spPr>
        <p:txBody>
          <a:bodyPr wrap="square" lIns="0" tIns="0" rIns="0" bIns="0" rtlCol="0" anchor="t"/>
          <a:lstStyle/>
          <a:p>
            <a:pPr marL="0" indent="0">
              <a:buNone/>
            </a:pPr>
            <a:r>
              <a:rPr lang="en-US" sz="1400" b="1" dirty="0">
                <a:solidFill>
                  <a:schemeClr val="tx1"/>
                </a:solidFill>
              </a:rPr>
              <a:t>카드지갑 · 검정 합성피혁, 학생증 한 장</a:t>
            </a:r>
            <a:endParaRPr lang="en-US" sz="1400" dirty="0"/>
          </a:p>
        </p:txBody>
      </p:sp>
      <p:sp>
        <p:nvSpPr>
          <p:cNvPr id="15" name="Text 13"/>
          <p:cNvSpPr txBox="1"/>
          <p:nvPr/>
        </p:nvSpPr>
        <p:spPr>
          <a:xfrm>
            <a:off x="4434840" y="4206240"/>
            <a:ext cx="2880360" cy="914400"/>
          </a:xfrm>
          <a:prstGeom prst="rect">
            <a:avLst/>
          </a:prstGeom>
          <a:noFill/>
          <a:ln/>
        </p:spPr>
        <p:txBody>
          <a:bodyPr wrap="square" lIns="0" tIns="0" rIns="0" bIns="0" rtlCol="0" anchor="ctr"/>
          <a:lstStyle/>
          <a:p>
            <a:pPr marL="0" indent="0">
              <a:buNone/>
            </a:pPr>
            <a:r>
              <a:rPr lang="en-US" sz="5400" b="1" dirty="0">
                <a:solidFill>
                  <a:schemeClr val="tx2"/>
                </a:solidFill>
              </a:rPr>
              <a:t>0.76</a:t>
            </a:r>
            <a:endParaRPr lang="en-US" sz="5400" dirty="0"/>
          </a:p>
        </p:txBody>
      </p:sp>
      <p:sp>
        <p:nvSpPr>
          <p:cNvPr id="16" name="Text 14"/>
          <p:cNvSpPr txBox="1"/>
          <p:nvPr/>
        </p:nvSpPr>
        <p:spPr>
          <a:xfrm>
            <a:off x="4434840" y="5212080"/>
            <a:ext cx="2880360" cy="365760"/>
          </a:xfrm>
          <a:prstGeom prst="rect">
            <a:avLst/>
          </a:prstGeom>
          <a:noFill/>
          <a:ln/>
        </p:spPr>
        <p:txBody>
          <a:bodyPr wrap="square" lIns="0" tIns="0" rIns="0" bIns="0" rtlCol="0" anchor="t"/>
          <a:lstStyle/>
          <a:p>
            <a:pPr marL="0" indent="0">
              <a:buNone/>
            </a:pPr>
            <a:r>
              <a:rPr lang="en-US" sz="1400" dirty="0">
                <a:solidFill>
                  <a:schemeClr val="tx2"/>
                </a:solidFill>
              </a:rPr>
              <a:t>상대적으로 낮음 → 하위 후보</a:t>
            </a:r>
            <a:endParaRPr lang="en-US" sz="1400" dirty="0"/>
          </a:p>
        </p:txBody>
      </p:sp>
      <p:sp>
        <p:nvSpPr>
          <p:cNvPr id="17" name="Reasons panel"/>
          <p:cNvSpPr/>
          <p:nvPr/>
        </p:nvSpPr>
        <p:spPr>
          <a:xfrm>
            <a:off x="7863840" y="1463040"/>
            <a:ext cx="3779215" cy="4343400"/>
          </a:xfrm>
          <a:prstGeom prst="roundRect">
            <a:avLst>
              <a:gd name="adj" fmla="val 3871"/>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8" name="Text 16"/>
          <p:cNvSpPr txBox="1"/>
          <p:nvPr/>
        </p:nvSpPr>
        <p:spPr>
          <a:xfrm>
            <a:off x="8138160" y="1691640"/>
            <a:ext cx="3230575" cy="320040"/>
          </a:xfrm>
          <a:prstGeom prst="rect">
            <a:avLst/>
          </a:prstGeom>
          <a:noFill/>
          <a:ln/>
        </p:spPr>
        <p:txBody>
          <a:bodyPr wrap="square" lIns="0" tIns="0" rIns="0" bIns="0" rtlCol="0" anchor="t"/>
          <a:lstStyle/>
          <a:p>
            <a:pPr marL="0" indent="0">
              <a:buNone/>
            </a:pPr>
            <a:r>
              <a:rPr lang="en-US" sz="1600" b="1" dirty="0">
                <a:solidFill>
                  <a:schemeClr val="tx1"/>
                </a:solidFill>
              </a:rPr>
              <a:t>후보 카드에 표시되는 근거</a:t>
            </a:r>
            <a:endParaRPr lang="en-US" sz="1600" dirty="0"/>
          </a:p>
        </p:txBody>
      </p:sp>
      <p:sp>
        <p:nvSpPr>
          <p:cNvPr id="19" name="Check badge"/>
          <p:cNvSpPr/>
          <p:nvPr/>
        </p:nvSpPr>
        <p:spPr>
          <a:xfrm>
            <a:off x="8138160" y="2286000"/>
            <a:ext cx="384048" cy="384048"/>
          </a:xfrm>
          <a:prstGeom prst="ellipse">
            <a:avLst/>
          </a:prstGeom>
          <a:solidFill>
            <a:srgbClr val="E1F4E6"/>
          </a:solidFill>
          <a:ln w="12700">
            <a:solidFill>
              <a:srgbClr val="E1F4E6"/>
            </a:solidFill>
            <a:prstDash val="solid"/>
          </a:ln>
        </p:spPr>
        <p:txBody>
          <a:bodyPr/>
          <a:lstStyle/>
          <a:p>
            <a:endParaRPr lang="ko-KR" altLang="en-US"/>
          </a:p>
        </p:txBody>
      </p:sp>
      <p:pic>
        <p:nvPicPr>
          <p:cNvPr id="20" name="Image 0" descr="check icon"/>
          <p:cNvPicPr>
            <a:picLocks noChangeAspect="1"/>
          </p:cNvPicPr>
          <p:nvPr/>
        </p:nvPicPr>
        <p:blipFill>
          <a:blip r:embed="rId3"/>
          <a:stretch>
            <a:fillRect/>
          </a:stretch>
        </p:blipFill>
        <p:spPr>
          <a:xfrm>
            <a:off x="8211312" y="2359152"/>
            <a:ext cx="237744" cy="237744"/>
          </a:xfrm>
          <a:prstGeom prst="rect">
            <a:avLst/>
          </a:prstGeom>
        </p:spPr>
      </p:pic>
      <p:sp>
        <p:nvSpPr>
          <p:cNvPr id="21" name="Text 18"/>
          <p:cNvSpPr txBox="1"/>
          <p:nvPr/>
        </p:nvSpPr>
        <p:spPr>
          <a:xfrm>
            <a:off x="8686800" y="2240280"/>
            <a:ext cx="2681935" cy="640080"/>
          </a:xfrm>
          <a:prstGeom prst="rect">
            <a:avLst/>
          </a:prstGeom>
          <a:noFill/>
          <a:ln/>
        </p:spPr>
        <p:txBody>
          <a:bodyPr wrap="square" lIns="0" tIns="0" rIns="0" bIns="0" rtlCol="0" anchor="t"/>
          <a:lstStyle/>
          <a:p>
            <a:pPr marL="0" indent="0">
              <a:buNone/>
            </a:pPr>
            <a:r>
              <a:rPr lang="en-US" sz="1400" dirty="0">
                <a:solidFill>
                  <a:schemeClr val="tx1"/>
                </a:solidFill>
              </a:rPr>
              <a:t>물품명과 상세 특징이 유사합니다</a:t>
            </a:r>
            <a:endParaRPr lang="en-US" sz="1400" dirty="0"/>
          </a:p>
        </p:txBody>
      </p:sp>
      <p:sp>
        <p:nvSpPr>
          <p:cNvPr id="22" name="Check badge"/>
          <p:cNvSpPr/>
          <p:nvPr/>
        </p:nvSpPr>
        <p:spPr>
          <a:xfrm>
            <a:off x="8138160" y="3154680"/>
            <a:ext cx="384048" cy="384048"/>
          </a:xfrm>
          <a:prstGeom prst="ellipse">
            <a:avLst/>
          </a:prstGeom>
          <a:solidFill>
            <a:srgbClr val="E1F4E6"/>
          </a:solidFill>
          <a:ln w="12700">
            <a:solidFill>
              <a:srgbClr val="E1F4E6"/>
            </a:solidFill>
            <a:prstDash val="solid"/>
          </a:ln>
        </p:spPr>
        <p:txBody>
          <a:bodyPr/>
          <a:lstStyle/>
          <a:p>
            <a:endParaRPr lang="ko-KR" altLang="en-US"/>
          </a:p>
        </p:txBody>
      </p:sp>
      <p:pic>
        <p:nvPicPr>
          <p:cNvPr id="23" name="Image 1" descr="check icon"/>
          <p:cNvPicPr>
            <a:picLocks noChangeAspect="1"/>
          </p:cNvPicPr>
          <p:nvPr/>
        </p:nvPicPr>
        <p:blipFill>
          <a:blip r:embed="rId3"/>
          <a:stretch>
            <a:fillRect/>
          </a:stretch>
        </p:blipFill>
        <p:spPr>
          <a:xfrm>
            <a:off x="8211312" y="3227832"/>
            <a:ext cx="237744" cy="237744"/>
          </a:xfrm>
          <a:prstGeom prst="rect">
            <a:avLst/>
          </a:prstGeom>
        </p:spPr>
      </p:pic>
      <p:sp>
        <p:nvSpPr>
          <p:cNvPr id="24" name="Text 20"/>
          <p:cNvSpPr txBox="1"/>
          <p:nvPr/>
        </p:nvSpPr>
        <p:spPr>
          <a:xfrm>
            <a:off x="8686800" y="3108960"/>
            <a:ext cx="2681935" cy="640080"/>
          </a:xfrm>
          <a:prstGeom prst="rect">
            <a:avLst/>
          </a:prstGeom>
          <a:noFill/>
          <a:ln/>
        </p:spPr>
        <p:txBody>
          <a:bodyPr wrap="square" lIns="0" tIns="0" rIns="0" bIns="0" rtlCol="0" anchor="t"/>
          <a:lstStyle/>
          <a:p>
            <a:pPr marL="0" indent="0">
              <a:buNone/>
            </a:pPr>
            <a:r>
              <a:rPr lang="en-US" sz="1400" dirty="0">
                <a:solidFill>
                  <a:schemeClr val="tx1"/>
                </a:solidFill>
              </a:rPr>
              <a:t>물품 종류가 일치합니다</a:t>
            </a:r>
            <a:endParaRPr lang="en-US" sz="1400" dirty="0"/>
          </a:p>
        </p:txBody>
      </p:sp>
      <p:sp>
        <p:nvSpPr>
          <p:cNvPr id="25" name="Check badge"/>
          <p:cNvSpPr/>
          <p:nvPr/>
        </p:nvSpPr>
        <p:spPr>
          <a:xfrm>
            <a:off x="8138160" y="4023360"/>
            <a:ext cx="384048" cy="384048"/>
          </a:xfrm>
          <a:prstGeom prst="ellipse">
            <a:avLst/>
          </a:prstGeom>
          <a:solidFill>
            <a:srgbClr val="E1F4E6"/>
          </a:solidFill>
          <a:ln w="12700">
            <a:solidFill>
              <a:srgbClr val="E1F4E6"/>
            </a:solidFill>
            <a:prstDash val="solid"/>
          </a:ln>
        </p:spPr>
        <p:txBody>
          <a:bodyPr/>
          <a:lstStyle/>
          <a:p>
            <a:endParaRPr lang="ko-KR" altLang="en-US"/>
          </a:p>
        </p:txBody>
      </p:sp>
      <p:pic>
        <p:nvPicPr>
          <p:cNvPr id="26" name="Image 2" descr="check icon"/>
          <p:cNvPicPr>
            <a:picLocks noChangeAspect="1"/>
          </p:cNvPicPr>
          <p:nvPr/>
        </p:nvPicPr>
        <p:blipFill>
          <a:blip r:embed="rId3"/>
          <a:stretch>
            <a:fillRect/>
          </a:stretch>
        </p:blipFill>
        <p:spPr>
          <a:xfrm>
            <a:off x="8211312" y="4096512"/>
            <a:ext cx="237744" cy="237744"/>
          </a:xfrm>
          <a:prstGeom prst="rect">
            <a:avLst/>
          </a:prstGeom>
        </p:spPr>
      </p:pic>
      <p:sp>
        <p:nvSpPr>
          <p:cNvPr id="27" name="Text 22"/>
          <p:cNvSpPr txBox="1"/>
          <p:nvPr/>
        </p:nvSpPr>
        <p:spPr>
          <a:xfrm>
            <a:off x="8686800" y="3977640"/>
            <a:ext cx="2681935" cy="640080"/>
          </a:xfrm>
          <a:prstGeom prst="rect">
            <a:avLst/>
          </a:prstGeom>
          <a:noFill/>
          <a:ln/>
        </p:spPr>
        <p:txBody>
          <a:bodyPr wrap="square" lIns="0" tIns="0" rIns="0" bIns="0" rtlCol="0" anchor="t"/>
          <a:lstStyle/>
          <a:p>
            <a:pPr marL="0" indent="0">
              <a:buNone/>
            </a:pPr>
            <a:r>
              <a:rPr lang="en-US" sz="1400" dirty="0">
                <a:solidFill>
                  <a:schemeClr val="tx1"/>
                </a:solidFill>
              </a:rPr>
              <a:t>분실 장소와 가까운 지역에서 습득되었습니다</a:t>
            </a:r>
            <a:endParaRPr lang="en-US" sz="1400" dirty="0"/>
          </a:p>
        </p:txBody>
      </p:sp>
      <p:sp>
        <p:nvSpPr>
          <p:cNvPr id="28" name="Text 23"/>
          <p:cNvSpPr txBox="1"/>
          <p:nvPr/>
        </p:nvSpPr>
        <p:spPr>
          <a:xfrm>
            <a:off x="8138160" y="4983480"/>
            <a:ext cx="3230575" cy="640080"/>
          </a:xfrm>
          <a:prstGeom prst="rect">
            <a:avLst/>
          </a:prstGeom>
          <a:noFill/>
          <a:ln/>
        </p:spPr>
        <p:txBody>
          <a:bodyPr wrap="square" lIns="0" tIns="0" rIns="0" bIns="0" rtlCol="0" anchor="t"/>
          <a:lstStyle/>
          <a:p>
            <a:pPr marL="0" indent="0">
              <a:buNone/>
            </a:pPr>
            <a:r>
              <a:rPr lang="en-US" sz="1300" dirty="0">
                <a:solidFill>
                  <a:schemeClr val="tx2"/>
                </a:solidFill>
              </a:rPr>
              <a:t>점수는 확정 확률이 아니라</a:t>
            </a:r>
            <a:endParaRPr lang="en-US" sz="1300" dirty="0"/>
          </a:p>
          <a:p>
            <a:pPr marL="0" indent="0">
              <a:buNone/>
            </a:pPr>
            <a:r>
              <a:rPr lang="en-US" sz="1300" dirty="0">
                <a:solidFill>
                  <a:schemeClr val="tx2"/>
                </a:solidFill>
              </a:rPr>
              <a:t>유사도 합산 점수입니다</a:t>
            </a:r>
            <a:endParaRPr lang="en-US" sz="1300" dirty="0"/>
          </a:p>
        </p:txBody>
      </p:sp>
      <p:sp>
        <p:nvSpPr>
          <p:cNvPr id="29" name="Text 24"/>
          <p:cNvSpPr txBox="1"/>
          <p:nvPr/>
        </p:nvSpPr>
        <p:spPr>
          <a:xfrm>
            <a:off x="548640" y="6035040"/>
            <a:ext cx="11094415" cy="274320"/>
          </a:xfrm>
          <a:prstGeom prst="rect">
            <a:avLst/>
          </a:prstGeom>
          <a:noFill/>
          <a:ln/>
        </p:spPr>
        <p:txBody>
          <a:bodyPr wrap="square" lIns="0" tIns="0" rIns="0" bIns="0" rtlCol="0" anchor="t"/>
          <a:lstStyle/>
          <a:p>
            <a:pPr marL="0" indent="0">
              <a:buNone/>
            </a:pPr>
            <a:r>
              <a:rPr lang="en-US" sz="1000" dirty="0">
                <a:solidFill>
                  <a:schemeClr val="tx2"/>
                </a:solidFill>
              </a:rPr>
              <a:t>텍스트 유사도 = 다국어 문장 임베딩(MiniLM) 코사인 유사도 · 실제 서비스 모델로 측정한 예시 1건</a:t>
            </a:r>
            <a:endParaRPr lang="en-US" sz="1000" dirty="0"/>
          </a:p>
        </p:txBody>
      </p:sp>
      <p:sp>
        <p:nvSpPr>
          <p:cNvPr id="30"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왜 추천했는지, 점수로 보여줍니다</a:t>
            </a:r>
            <a:endParaRPr lang="en-US" sz="3400" dirty="0"/>
          </a:p>
        </p:txBody>
      </p:sp>
      <p:sp>
        <p:nvSpPr>
          <p:cNvPr id="3" name="Weights card"/>
          <p:cNvSpPr/>
          <p:nvPr/>
        </p:nvSpPr>
        <p:spPr>
          <a:xfrm>
            <a:off x="548640" y="1463040"/>
            <a:ext cx="5394960" cy="4343400"/>
          </a:xfrm>
          <a:prstGeom prst="roundRect">
            <a:avLst>
              <a:gd name="adj" fmla="val 3368"/>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4" name="Text 2"/>
          <p:cNvSpPr txBox="1"/>
          <p:nvPr/>
        </p:nvSpPr>
        <p:spPr>
          <a:xfrm>
            <a:off x="868680" y="1664208"/>
            <a:ext cx="3657600" cy="274320"/>
          </a:xfrm>
          <a:prstGeom prst="rect">
            <a:avLst/>
          </a:prstGeom>
          <a:noFill/>
          <a:ln/>
        </p:spPr>
        <p:txBody>
          <a:bodyPr wrap="square" lIns="0" tIns="0" rIns="0" bIns="0" rtlCol="0" anchor="t"/>
          <a:lstStyle/>
          <a:p>
            <a:pPr marL="0" indent="0">
              <a:buNone/>
            </a:pPr>
            <a:r>
              <a:rPr lang="en-US" sz="1400" b="1" dirty="0">
                <a:solidFill>
                  <a:schemeClr val="tx1"/>
                </a:solidFill>
              </a:rPr>
              <a:t>점수 가중치 (합 100%)</a:t>
            </a:r>
            <a:endParaRPr lang="en-US" sz="1400" dirty="0"/>
          </a:p>
        </p:txBody>
      </p:sp>
      <p:graphicFrame>
        <p:nvGraphicFramePr>
          <p:cNvPr id="5" name="Chart 0"/>
          <p:cNvGraphicFramePr/>
          <p:nvPr/>
        </p:nvGraphicFramePr>
        <p:xfrm>
          <a:off x="685800" y="2011680"/>
          <a:ext cx="512064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r code"/>
          <p:cNvSpPr/>
          <p:nvPr/>
        </p:nvSpPr>
        <p:spPr>
          <a:xfrm>
            <a:off x="6172200" y="1463040"/>
            <a:ext cx="5470855" cy="4343400"/>
          </a:xfrm>
          <a:prstGeom prst="roundRect">
            <a:avLst>
              <a:gd name="adj" fmla="val 3368"/>
            </a:avLst>
          </a:prstGeom>
          <a:solidFill>
            <a:schemeClr val="accent1"/>
          </a:solidFill>
          <a:ln w="12700">
            <a:solidFill>
              <a:schemeClr val="accent1"/>
            </a:solidFill>
            <a:prstDash val="solid"/>
          </a:ln>
        </p:spPr>
        <p:txBody>
          <a:bodyPr/>
          <a:lstStyle/>
          <a:p>
            <a:endParaRPr lang="ko-KR" altLang="en-US"/>
          </a:p>
        </p:txBody>
      </p:sp>
      <p:sp>
        <p:nvSpPr>
          <p:cNvPr id="7" name="Text 4"/>
          <p:cNvSpPr txBox="1"/>
          <p:nvPr/>
        </p:nvSpPr>
        <p:spPr>
          <a:xfrm>
            <a:off x="6446520" y="1645920"/>
            <a:ext cx="4922215" cy="274320"/>
          </a:xfrm>
          <a:prstGeom prst="rect">
            <a:avLst/>
          </a:prstGeom>
          <a:noFill/>
          <a:ln/>
        </p:spPr>
        <p:txBody>
          <a:bodyPr wrap="square" lIns="0" tIns="0" rIns="0" bIns="0" rtlCol="0" anchor="t"/>
          <a:lstStyle/>
          <a:p>
            <a:pPr marL="0" indent="0">
              <a:buNone/>
            </a:pPr>
            <a:r>
              <a:rPr lang="en-US" sz="1100" dirty="0">
                <a:solidFill>
                  <a:schemeClr val="accent6"/>
                </a:solidFill>
                <a:latin typeface="Menlo" pitchFamily="34" charset="0"/>
                <a:ea typeface="Menlo" pitchFamily="34" charset="-122"/>
                <a:cs typeface="Menlo" pitchFamily="34" charset="-120"/>
              </a:rPr>
              <a:t>backend/app/ai/scorer.py · 발췌</a:t>
            </a:r>
            <a:endParaRPr lang="en-US" sz="1100" dirty="0"/>
          </a:p>
        </p:txBody>
      </p:sp>
      <p:sp>
        <p:nvSpPr>
          <p:cNvPr id="8" name="Scorer code code"/>
          <p:cNvSpPr txBox="1"/>
          <p:nvPr/>
        </p:nvSpPr>
        <p:spPr>
          <a:xfrm>
            <a:off x="6446520" y="2011680"/>
            <a:ext cx="4922215" cy="3611880"/>
          </a:xfrm>
          <a:prstGeom prst="rect">
            <a:avLst/>
          </a:prstGeom>
          <a:noFill/>
          <a:ln/>
        </p:spPr>
        <p:txBody>
          <a:bodyPr wrap="square" lIns="0" tIns="0" rIns="0" bIns="0" rtlCol="0" anchor="t"/>
          <a:lstStyle/>
          <a:p>
            <a:pPr marL="0" indent="0">
              <a:spcAft>
                <a:spcPts val="200"/>
              </a:spcAft>
              <a:buNone/>
            </a:pPr>
            <a:r>
              <a:rPr lang="en-US" sz="1400" dirty="0">
                <a:solidFill>
                  <a:srgbClr val="D1D1D6"/>
                </a:solidFill>
                <a:latin typeface="Menlo" pitchFamily="34" charset="0"/>
                <a:ea typeface="Menlo" pitchFamily="34" charset="-122"/>
                <a:cs typeface="Menlo" pitchFamily="34" charset="-120"/>
              </a:rPr>
              <a:t>WEIGHTS</a:t>
            </a:r>
            <a:r>
              <a:rPr lang="en-US" sz="1400" dirty="0">
                <a:solidFill>
                  <a:schemeClr val="bg1"/>
                </a:solidFill>
                <a:latin typeface="Menlo" pitchFamily="34" charset="0"/>
                <a:ea typeface="Menlo" pitchFamily="34" charset="-122"/>
                <a:cs typeface="Menlo" pitchFamily="34" charset="-120"/>
              </a:rPr>
              <a:t> = {</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dirty="0">
                <a:solidFill>
                  <a:srgbClr val="30D158"/>
                </a:solidFill>
                <a:latin typeface="Menlo" pitchFamily="34" charset="0"/>
                <a:ea typeface="Menlo" pitchFamily="34" charset="-122"/>
                <a:cs typeface="Menlo" pitchFamily="34" charset="-120"/>
              </a:rPr>
              <a:t>"text"</a:t>
            </a:r>
            <a:r>
              <a:rPr lang="en-US" sz="1400" dirty="0">
                <a:solidFill>
                  <a:schemeClr val="bg1"/>
                </a:solidFill>
                <a:latin typeface="Menlo" pitchFamily="34" charset="0"/>
                <a:ea typeface="Menlo" pitchFamily="34" charset="-122"/>
                <a:cs typeface="Menlo" pitchFamily="34" charset="-120"/>
              </a:rPr>
              <a:t>: </a:t>
            </a:r>
            <a:r>
              <a:rPr lang="en-US" sz="1400" dirty="0">
                <a:solidFill>
                  <a:srgbClr val="FFB340"/>
                </a:solidFill>
                <a:latin typeface="Menlo" pitchFamily="34" charset="0"/>
                <a:ea typeface="Menlo" pitchFamily="34" charset="-122"/>
                <a:cs typeface="Menlo" pitchFamily="34" charset="-120"/>
              </a:rPr>
              <a:t>0.35</a:t>
            </a:r>
            <a:r>
              <a:rPr lang="en-US" sz="1400" dirty="0">
                <a:solidFill>
                  <a:schemeClr val="bg1"/>
                </a:solidFill>
                <a:latin typeface="Menlo" pitchFamily="34" charset="0"/>
                <a:ea typeface="Menlo" pitchFamily="34" charset="-122"/>
                <a:cs typeface="Menlo" pitchFamily="34" charset="-120"/>
              </a:rPr>
              <a:t>, </a:t>
            </a:r>
            <a:r>
              <a:rPr lang="en-US" sz="1400" dirty="0">
                <a:solidFill>
                  <a:srgbClr val="30D158"/>
                </a:solidFill>
                <a:latin typeface="Menlo" pitchFamily="34" charset="0"/>
                <a:ea typeface="Menlo" pitchFamily="34" charset="-122"/>
                <a:cs typeface="Menlo" pitchFamily="34" charset="-120"/>
              </a:rPr>
              <a:t>"image"</a:t>
            </a:r>
            <a:r>
              <a:rPr lang="en-US" sz="1400" dirty="0">
                <a:solidFill>
                  <a:schemeClr val="bg1"/>
                </a:solidFill>
                <a:latin typeface="Menlo" pitchFamily="34" charset="0"/>
                <a:ea typeface="Menlo" pitchFamily="34" charset="-122"/>
                <a:cs typeface="Menlo" pitchFamily="34" charset="-120"/>
              </a:rPr>
              <a:t>: </a:t>
            </a:r>
            <a:r>
              <a:rPr lang="en-US" sz="1400" dirty="0">
                <a:solidFill>
                  <a:srgbClr val="FFB340"/>
                </a:solidFill>
                <a:latin typeface="Menlo" pitchFamily="34" charset="0"/>
                <a:ea typeface="Menlo" pitchFamily="34" charset="-122"/>
                <a:cs typeface="Menlo" pitchFamily="34" charset="-120"/>
              </a:rPr>
              <a:t>0.25</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dirty="0">
                <a:solidFill>
                  <a:srgbClr val="30D158"/>
                </a:solidFill>
                <a:latin typeface="Menlo" pitchFamily="34" charset="0"/>
                <a:ea typeface="Menlo" pitchFamily="34" charset="-122"/>
                <a:cs typeface="Menlo" pitchFamily="34" charset="-120"/>
              </a:rPr>
              <a:t>"category"</a:t>
            </a:r>
            <a:r>
              <a:rPr lang="en-US" sz="1400" dirty="0">
                <a:solidFill>
                  <a:schemeClr val="bg1"/>
                </a:solidFill>
                <a:latin typeface="Menlo" pitchFamily="34" charset="0"/>
                <a:ea typeface="Menlo" pitchFamily="34" charset="-122"/>
                <a:cs typeface="Menlo" pitchFamily="34" charset="-120"/>
              </a:rPr>
              <a:t>: </a:t>
            </a:r>
            <a:r>
              <a:rPr lang="en-US" sz="1400" dirty="0">
                <a:solidFill>
                  <a:srgbClr val="FFB340"/>
                </a:solidFill>
                <a:latin typeface="Menlo" pitchFamily="34" charset="0"/>
                <a:ea typeface="Menlo" pitchFamily="34" charset="-122"/>
                <a:cs typeface="Menlo" pitchFamily="34" charset="-120"/>
              </a:rPr>
              <a:t>0.15</a:t>
            </a:r>
            <a:r>
              <a:rPr lang="en-US" sz="1400" dirty="0">
                <a:solidFill>
                  <a:schemeClr val="bg1"/>
                </a:solidFill>
                <a:latin typeface="Menlo" pitchFamily="34" charset="0"/>
                <a:ea typeface="Menlo" pitchFamily="34" charset="-122"/>
                <a:cs typeface="Menlo" pitchFamily="34" charset="-120"/>
              </a:rPr>
              <a:t>, </a:t>
            </a:r>
            <a:r>
              <a:rPr lang="en-US" sz="1400" dirty="0">
                <a:solidFill>
                  <a:srgbClr val="30D158"/>
                </a:solidFill>
                <a:latin typeface="Menlo" pitchFamily="34" charset="0"/>
                <a:ea typeface="Menlo" pitchFamily="34" charset="-122"/>
                <a:cs typeface="Menlo" pitchFamily="34" charset="-120"/>
              </a:rPr>
              <a:t>"color"</a:t>
            </a:r>
            <a:r>
              <a:rPr lang="en-US" sz="1400" dirty="0">
                <a:solidFill>
                  <a:schemeClr val="bg1"/>
                </a:solidFill>
                <a:latin typeface="Menlo" pitchFamily="34" charset="0"/>
                <a:ea typeface="Menlo" pitchFamily="34" charset="-122"/>
                <a:cs typeface="Menlo" pitchFamily="34" charset="-120"/>
              </a:rPr>
              <a:t>: </a:t>
            </a:r>
            <a:r>
              <a:rPr lang="en-US" sz="1400" dirty="0">
                <a:solidFill>
                  <a:srgbClr val="FFB340"/>
                </a:solidFill>
                <a:latin typeface="Menlo" pitchFamily="34" charset="0"/>
                <a:ea typeface="Menlo" pitchFamily="34" charset="-122"/>
                <a:cs typeface="Menlo" pitchFamily="34" charset="-120"/>
              </a:rPr>
              <a:t>0.10</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dirty="0">
                <a:solidFill>
                  <a:srgbClr val="30D158"/>
                </a:solidFill>
                <a:latin typeface="Menlo" pitchFamily="34" charset="0"/>
                <a:ea typeface="Menlo" pitchFamily="34" charset="-122"/>
                <a:cs typeface="Menlo" pitchFamily="34" charset="-120"/>
              </a:rPr>
              <a:t>"location"</a:t>
            </a:r>
            <a:r>
              <a:rPr lang="en-US" sz="1400" dirty="0">
                <a:solidFill>
                  <a:schemeClr val="bg1"/>
                </a:solidFill>
                <a:latin typeface="Menlo" pitchFamily="34" charset="0"/>
                <a:ea typeface="Menlo" pitchFamily="34" charset="-122"/>
                <a:cs typeface="Menlo" pitchFamily="34" charset="-120"/>
              </a:rPr>
              <a:t>: </a:t>
            </a:r>
            <a:r>
              <a:rPr lang="en-US" sz="1400" dirty="0">
                <a:solidFill>
                  <a:srgbClr val="FFB340"/>
                </a:solidFill>
                <a:latin typeface="Menlo" pitchFamily="34" charset="0"/>
                <a:ea typeface="Menlo" pitchFamily="34" charset="-122"/>
                <a:cs typeface="Menlo" pitchFamily="34" charset="-120"/>
              </a:rPr>
              <a:t>0.10</a:t>
            </a:r>
            <a:r>
              <a:rPr lang="en-US" sz="1400" dirty="0">
                <a:solidFill>
                  <a:schemeClr val="bg1"/>
                </a:solidFill>
                <a:latin typeface="Menlo" pitchFamily="34" charset="0"/>
                <a:ea typeface="Menlo" pitchFamily="34" charset="-122"/>
                <a:cs typeface="Menlo" pitchFamily="34" charset="-120"/>
              </a:rPr>
              <a:t>, </a:t>
            </a:r>
            <a:r>
              <a:rPr lang="en-US" sz="1400" dirty="0">
                <a:solidFill>
                  <a:srgbClr val="30D158"/>
                </a:solidFill>
                <a:latin typeface="Menlo" pitchFamily="34" charset="0"/>
                <a:ea typeface="Menlo" pitchFamily="34" charset="-122"/>
                <a:cs typeface="Menlo" pitchFamily="34" charset="-120"/>
              </a:rPr>
              <a:t>"date"</a:t>
            </a:r>
            <a:r>
              <a:rPr lang="en-US" sz="1400" dirty="0">
                <a:solidFill>
                  <a:schemeClr val="bg1"/>
                </a:solidFill>
                <a:latin typeface="Menlo" pitchFamily="34" charset="0"/>
                <a:ea typeface="Menlo" pitchFamily="34" charset="-122"/>
                <a:cs typeface="Menlo" pitchFamily="34" charset="-120"/>
              </a:rPr>
              <a:t>: </a:t>
            </a:r>
            <a:r>
              <a:rPr lang="en-US" sz="1400" dirty="0">
                <a:solidFill>
                  <a:srgbClr val="FFB340"/>
                </a:solidFill>
                <a:latin typeface="Menlo" pitchFamily="34" charset="0"/>
                <a:ea typeface="Menlo" pitchFamily="34" charset="-122"/>
                <a:cs typeface="Menlo" pitchFamily="34" charset="-120"/>
              </a:rPr>
              <a:t>0.05</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endParaRPr lang="en-US" sz="1400" dirty="0"/>
          </a:p>
          <a:p>
            <a:pPr marL="0" indent="0">
              <a:spcAft>
                <a:spcPts val="200"/>
              </a:spcAft>
              <a:buNone/>
            </a:pPr>
            <a:r>
              <a:rPr lang="en-US" sz="1400" b="1" dirty="0">
                <a:solidFill>
                  <a:schemeClr val="bg1"/>
                </a:solidFill>
                <a:latin typeface="Menlo" pitchFamily="34" charset="0"/>
                <a:ea typeface="Menlo" pitchFamily="34" charset="-122"/>
                <a:cs typeface="Menlo" pitchFamily="34" charset="-120"/>
              </a:rPr>
              <a:t>def</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compute_final_score</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scores</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dirty="0">
                <a:solidFill>
                  <a:schemeClr val="accent6"/>
                </a:solidFill>
                <a:latin typeface="Menlo" pitchFamily="34" charset="0"/>
                <a:ea typeface="Menlo" pitchFamily="34" charset="-122"/>
                <a:cs typeface="Menlo" pitchFamily="34" charset="-120"/>
              </a:rPr>
              <a:t># 값이 없는 항목은 빼고 재정규화</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ok</a:t>
            </a:r>
            <a:r>
              <a:rPr lang="en-US" sz="1400" dirty="0">
                <a:solidFill>
                  <a:schemeClr val="bg1"/>
                </a:solidFill>
                <a:latin typeface="Menlo" pitchFamily="34" charset="0"/>
                <a:ea typeface="Menlo" pitchFamily="34" charset="-122"/>
                <a:cs typeface="Menlo" pitchFamily="34" charset="-120"/>
              </a:rPr>
              <a:t> = {</a:t>
            </a:r>
            <a:r>
              <a:rPr lang="en-US" sz="1400" dirty="0">
                <a:solidFill>
                  <a:srgbClr val="D1D1D6"/>
                </a:solidFill>
                <a:latin typeface="Menlo" pitchFamily="34" charset="0"/>
                <a:ea typeface="Menlo" pitchFamily="34" charset="-122"/>
                <a:cs typeface="Menlo" pitchFamily="34" charset="-120"/>
              </a:rPr>
              <a:t>k</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v</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for</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k</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v</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in</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scores</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items</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if</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v</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is</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not</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None</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total</a:t>
            </a:r>
            <a:r>
              <a:rPr lang="en-US" sz="1400" dirty="0">
                <a:solidFill>
                  <a:schemeClr val="bg1"/>
                </a:solidFill>
                <a:latin typeface="Menlo" pitchFamily="34" charset="0"/>
                <a:ea typeface="Menlo" pitchFamily="34" charset="-122"/>
                <a:cs typeface="Menlo" pitchFamily="34" charset="-120"/>
              </a:rPr>
              <a:t> = </a:t>
            </a:r>
            <a:r>
              <a:rPr lang="en-US" sz="1400" dirty="0">
                <a:solidFill>
                  <a:srgbClr val="D1D1D6"/>
                </a:solidFill>
                <a:latin typeface="Menlo" pitchFamily="34" charset="0"/>
                <a:ea typeface="Menlo" pitchFamily="34" charset="-122"/>
                <a:cs typeface="Menlo" pitchFamily="34" charset="-120"/>
              </a:rPr>
              <a:t>sum</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WEIGHTS</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k</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for</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k</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in</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ok</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got</a:t>
            </a:r>
            <a:r>
              <a:rPr lang="en-US" sz="1400" dirty="0">
                <a:solidFill>
                  <a:schemeClr val="bg1"/>
                </a:solidFill>
                <a:latin typeface="Menlo" pitchFamily="34" charset="0"/>
                <a:ea typeface="Menlo" pitchFamily="34" charset="-122"/>
                <a:cs typeface="Menlo" pitchFamily="34" charset="-120"/>
              </a:rPr>
              <a:t> = </a:t>
            </a:r>
            <a:r>
              <a:rPr lang="en-US" sz="1400" dirty="0">
                <a:solidFill>
                  <a:srgbClr val="D1D1D6"/>
                </a:solidFill>
                <a:latin typeface="Menlo" pitchFamily="34" charset="0"/>
                <a:ea typeface="Menlo" pitchFamily="34" charset="-122"/>
                <a:cs typeface="Menlo" pitchFamily="34" charset="-120"/>
              </a:rPr>
              <a:t>sum</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WEIGHTS</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k</a:t>
            </a:r>
            <a:r>
              <a:rPr lang="en-US" sz="1400" dirty="0">
                <a:solidFill>
                  <a:schemeClr val="bg1"/>
                </a:solidFill>
                <a:latin typeface="Menlo" pitchFamily="34" charset="0"/>
                <a:ea typeface="Menlo" pitchFamily="34" charset="-122"/>
                <a:cs typeface="Menlo" pitchFamily="34" charset="-120"/>
              </a:rPr>
              <a:t>] * </a:t>
            </a:r>
            <a:r>
              <a:rPr lang="en-US" sz="1400" dirty="0">
                <a:solidFill>
                  <a:srgbClr val="D1D1D6"/>
                </a:solidFill>
                <a:latin typeface="Menlo" pitchFamily="34" charset="0"/>
                <a:ea typeface="Menlo" pitchFamily="34" charset="-122"/>
                <a:cs typeface="Menlo" pitchFamily="34" charset="-120"/>
              </a:rPr>
              <a:t>v</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for</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k</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v</a:t>
            </a: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in</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ok</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items</a:t>
            </a:r>
            <a:r>
              <a:rPr lang="en-US" sz="1400" dirty="0">
                <a:solidFill>
                  <a:schemeClr val="bg1"/>
                </a:solidFill>
                <a:latin typeface="Menlo" pitchFamily="34" charset="0"/>
                <a:ea typeface="Menlo" pitchFamily="34" charset="-122"/>
                <a:cs typeface="Menlo" pitchFamily="34" charset="-120"/>
              </a:rPr>
              <a:t>())</a:t>
            </a:r>
            <a:endParaRPr lang="en-US" sz="1400" dirty="0"/>
          </a:p>
          <a:p>
            <a:pPr marL="0" indent="0">
              <a:spcAft>
                <a:spcPts val="200"/>
              </a:spcAft>
              <a:buNone/>
            </a:pPr>
            <a:r>
              <a:rPr lang="en-US" sz="1400" dirty="0">
                <a:solidFill>
                  <a:schemeClr val="bg1"/>
                </a:solidFill>
                <a:latin typeface="Menlo" pitchFamily="34" charset="0"/>
                <a:ea typeface="Menlo" pitchFamily="34" charset="-122"/>
                <a:cs typeface="Menlo" pitchFamily="34" charset="-120"/>
              </a:rPr>
              <a:t>    </a:t>
            </a:r>
            <a:r>
              <a:rPr lang="en-US" sz="1400" b="1" dirty="0">
                <a:solidFill>
                  <a:schemeClr val="bg1"/>
                </a:solidFill>
                <a:latin typeface="Menlo" pitchFamily="34" charset="0"/>
                <a:ea typeface="Menlo" pitchFamily="34" charset="-122"/>
                <a:cs typeface="Menlo" pitchFamily="34" charset="-120"/>
              </a:rPr>
              <a:t>return</a:t>
            </a:r>
            <a:r>
              <a:rPr lang="en-US" sz="1400" dirty="0">
                <a:solidFill>
                  <a:schemeClr val="bg1"/>
                </a:solidFill>
                <a:latin typeface="Menlo" pitchFamily="34" charset="0"/>
                <a:ea typeface="Menlo" pitchFamily="34" charset="-122"/>
                <a:cs typeface="Menlo" pitchFamily="34" charset="-120"/>
              </a:rPr>
              <a:t> </a:t>
            </a:r>
            <a:r>
              <a:rPr lang="en-US" sz="1400" dirty="0">
                <a:solidFill>
                  <a:srgbClr val="D1D1D6"/>
                </a:solidFill>
                <a:latin typeface="Menlo" pitchFamily="34" charset="0"/>
                <a:ea typeface="Menlo" pitchFamily="34" charset="-122"/>
                <a:cs typeface="Menlo" pitchFamily="34" charset="-120"/>
              </a:rPr>
              <a:t>round</a:t>
            </a:r>
            <a:r>
              <a:rPr lang="en-US" sz="1400" dirty="0">
                <a:solidFill>
                  <a:schemeClr val="bg1"/>
                </a:solidFill>
                <a:latin typeface="Menlo" pitchFamily="34" charset="0"/>
                <a:ea typeface="Menlo" pitchFamily="34" charset="-122"/>
                <a:cs typeface="Menlo" pitchFamily="34" charset="-120"/>
              </a:rPr>
              <a:t>(</a:t>
            </a:r>
            <a:r>
              <a:rPr lang="en-US" sz="1400" dirty="0">
                <a:solidFill>
                  <a:srgbClr val="D1D1D6"/>
                </a:solidFill>
                <a:latin typeface="Menlo" pitchFamily="34" charset="0"/>
                <a:ea typeface="Menlo" pitchFamily="34" charset="-122"/>
                <a:cs typeface="Menlo" pitchFamily="34" charset="-120"/>
              </a:rPr>
              <a:t>got</a:t>
            </a:r>
            <a:r>
              <a:rPr lang="en-US" sz="1400" dirty="0">
                <a:solidFill>
                  <a:schemeClr val="bg1"/>
                </a:solidFill>
                <a:latin typeface="Menlo" pitchFamily="34" charset="0"/>
                <a:ea typeface="Menlo" pitchFamily="34" charset="-122"/>
                <a:cs typeface="Menlo" pitchFamily="34" charset="-120"/>
              </a:rPr>
              <a:t> / </a:t>
            </a:r>
            <a:r>
              <a:rPr lang="en-US" sz="1400" dirty="0">
                <a:solidFill>
                  <a:srgbClr val="D1D1D6"/>
                </a:solidFill>
                <a:latin typeface="Menlo" pitchFamily="34" charset="0"/>
                <a:ea typeface="Menlo" pitchFamily="34" charset="-122"/>
                <a:cs typeface="Menlo" pitchFamily="34" charset="-120"/>
              </a:rPr>
              <a:t>total</a:t>
            </a:r>
            <a:r>
              <a:rPr lang="en-US" sz="1400" dirty="0">
                <a:solidFill>
                  <a:schemeClr val="bg1"/>
                </a:solidFill>
                <a:latin typeface="Menlo" pitchFamily="34" charset="0"/>
                <a:ea typeface="Menlo" pitchFamily="34" charset="-122"/>
                <a:cs typeface="Menlo" pitchFamily="34" charset="-120"/>
              </a:rPr>
              <a:t>, </a:t>
            </a:r>
            <a:r>
              <a:rPr lang="en-US" sz="1400" dirty="0">
                <a:solidFill>
                  <a:srgbClr val="FFB340"/>
                </a:solidFill>
                <a:latin typeface="Menlo" pitchFamily="34" charset="0"/>
                <a:ea typeface="Menlo" pitchFamily="34" charset="-122"/>
                <a:cs typeface="Menlo" pitchFamily="34" charset="-120"/>
              </a:rPr>
              <a:t>4</a:t>
            </a:r>
            <a:r>
              <a:rPr lang="en-US" sz="1400" dirty="0">
                <a:solidFill>
                  <a:schemeClr val="bg1"/>
                </a:solidFill>
                <a:latin typeface="Menlo" pitchFamily="34" charset="0"/>
                <a:ea typeface="Menlo" pitchFamily="34" charset="-122"/>
                <a:cs typeface="Menlo" pitchFamily="34" charset="-120"/>
              </a:rPr>
              <a:t>)</a:t>
            </a:r>
            <a:endParaRPr lang="en-US" sz="1400" dirty="0"/>
          </a:p>
        </p:txBody>
      </p:sp>
      <p:sp>
        <p:nvSpPr>
          <p:cNvPr id="9" name="Text 6"/>
          <p:cNvSpPr txBox="1"/>
          <p:nvPr/>
        </p:nvSpPr>
        <p:spPr>
          <a:xfrm>
            <a:off x="548640" y="6035040"/>
            <a:ext cx="11094415" cy="274320"/>
          </a:xfrm>
          <a:prstGeom prst="rect">
            <a:avLst/>
          </a:prstGeom>
          <a:noFill/>
          <a:ln/>
        </p:spPr>
        <p:txBody>
          <a:bodyPr wrap="square" lIns="0" tIns="0" rIns="0" bIns="0" rtlCol="0" anchor="t"/>
          <a:lstStyle/>
          <a:p>
            <a:pPr marL="0" indent="0">
              <a:buNone/>
            </a:pPr>
            <a:r>
              <a:rPr lang="en-US" sz="1000" dirty="0">
                <a:solidFill>
                  <a:schemeClr val="tx2"/>
                </a:solidFill>
              </a:rPr>
              <a:t>점수가 없는 항목은 제외하고 남은 가중치로 재정규화 · 사진 유사도(25%)는 로드맵 항목 · 막대 길이는 가중치 상대 비교</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엉뚱한 지역은 걸러내고, 0.78점 이상만 알립니다</a:t>
            </a:r>
            <a:endParaRPr lang="en-US" sz="3400" dirty="0"/>
          </a:p>
        </p:txBody>
      </p:sp>
      <p:sp>
        <p:nvSpPr>
          <p:cNvPr id="3" name="Before card"/>
          <p:cNvSpPr/>
          <p:nvPr/>
        </p:nvSpPr>
        <p:spPr>
          <a:xfrm>
            <a:off x="548640" y="1463040"/>
            <a:ext cx="4480560" cy="1874520"/>
          </a:xfrm>
          <a:prstGeom prst="roundRect">
            <a:avLst>
              <a:gd name="adj" fmla="val 7805"/>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4" name="Text 2"/>
          <p:cNvSpPr txBox="1"/>
          <p:nvPr/>
        </p:nvSpPr>
        <p:spPr>
          <a:xfrm>
            <a:off x="822960" y="1645920"/>
            <a:ext cx="2743200" cy="320040"/>
          </a:xfrm>
          <a:prstGeom prst="rect">
            <a:avLst/>
          </a:prstGeom>
          <a:noFill/>
          <a:ln/>
        </p:spPr>
        <p:txBody>
          <a:bodyPr wrap="square" lIns="0" tIns="0" rIns="0" bIns="0" rtlCol="0" anchor="t"/>
          <a:lstStyle/>
          <a:p>
            <a:pPr marL="0" indent="0">
              <a:buNone/>
            </a:pPr>
            <a:r>
              <a:rPr lang="en-US" sz="1600" b="1" dirty="0">
                <a:solidFill>
                  <a:schemeClr val="accent4"/>
                </a:solidFill>
              </a:rPr>
              <a:t>개선 전</a:t>
            </a:r>
            <a:endParaRPr lang="en-US" sz="1600" dirty="0"/>
          </a:p>
        </p:txBody>
      </p:sp>
      <p:sp>
        <p:nvSpPr>
          <p:cNvPr id="5" name="Text 3"/>
          <p:cNvSpPr txBox="1"/>
          <p:nvPr/>
        </p:nvSpPr>
        <p:spPr>
          <a:xfrm>
            <a:off x="822960" y="2011680"/>
            <a:ext cx="4023360" cy="685800"/>
          </a:xfrm>
          <a:prstGeom prst="rect">
            <a:avLst/>
          </a:prstGeom>
          <a:noFill/>
          <a:ln/>
        </p:spPr>
        <p:txBody>
          <a:bodyPr wrap="square" lIns="0" tIns="0" rIns="0" bIns="0" rtlCol="0" anchor="t"/>
          <a:lstStyle/>
          <a:p>
            <a:pPr marL="0" indent="0">
              <a:buNone/>
            </a:pPr>
            <a:r>
              <a:rPr lang="en-US" sz="1400" dirty="0">
                <a:solidFill>
                  <a:schemeClr val="tx1"/>
                </a:solidFill>
              </a:rPr>
              <a:t>조선대에서 잃어버린 카드지갑에</a:t>
            </a:r>
            <a:endParaRPr lang="en-US" sz="1400" dirty="0"/>
          </a:p>
          <a:p>
            <a:pPr marL="0" indent="0">
              <a:buNone/>
            </a:pPr>
            <a:r>
              <a:rPr lang="en-US" sz="1400" dirty="0">
                <a:solidFill>
                  <a:schemeClr val="tx1"/>
                </a:solidFill>
              </a:rPr>
              <a:t>대전·제주·부산 경찰서 습득물이 후보로 노출</a:t>
            </a:r>
            <a:endParaRPr lang="en-US" sz="1400" dirty="0"/>
          </a:p>
        </p:txBody>
      </p:sp>
      <p:sp>
        <p:nvSpPr>
          <p:cNvPr id="6" name="Text 4"/>
          <p:cNvSpPr txBox="1"/>
          <p:nvPr/>
        </p:nvSpPr>
        <p:spPr>
          <a:xfrm>
            <a:off x="822960" y="2743200"/>
            <a:ext cx="4023360" cy="502920"/>
          </a:xfrm>
          <a:prstGeom prst="rect">
            <a:avLst/>
          </a:prstGeom>
          <a:noFill/>
          <a:ln/>
        </p:spPr>
        <p:txBody>
          <a:bodyPr wrap="square" lIns="0" tIns="0" rIns="0" bIns="0" rtlCol="0" anchor="t"/>
          <a:lstStyle/>
          <a:p>
            <a:pPr marL="0" indent="0">
              <a:buNone/>
            </a:pPr>
            <a:r>
              <a:rPr lang="en-US" sz="1200" dirty="0">
                <a:solidFill>
                  <a:schemeClr val="tx2"/>
                </a:solidFill>
              </a:rPr>
              <a:t>원인: 경찰서 이름에서 지역을 잘못 추출</a:t>
            </a:r>
            <a:endParaRPr lang="en-US" sz="1200" dirty="0"/>
          </a:p>
          <a:p>
            <a:pPr marL="0" indent="0">
              <a:buNone/>
            </a:pPr>
            <a:r>
              <a:rPr lang="en-US" sz="1200" dirty="0">
                <a:solidFill>
                  <a:schemeClr val="tx2"/>
                </a:solidFill>
              </a:rPr>
              <a:t>("제주동부경찰서" → 광주로 판정)</a:t>
            </a:r>
            <a:endParaRPr lang="en-US" sz="1200" dirty="0"/>
          </a:p>
        </p:txBody>
      </p:sp>
      <p:sp>
        <p:nvSpPr>
          <p:cNvPr id="7" name="After card"/>
          <p:cNvSpPr/>
          <p:nvPr/>
        </p:nvSpPr>
        <p:spPr>
          <a:xfrm>
            <a:off x="548640" y="3520440"/>
            <a:ext cx="4480560" cy="2011680"/>
          </a:xfrm>
          <a:prstGeom prst="roundRect">
            <a:avLst>
              <a:gd name="adj" fmla="val 7273"/>
            </a:avLst>
          </a:prstGeom>
          <a:solidFill>
            <a:schemeClr val="tx1"/>
          </a:solidFill>
          <a:ln w="12700">
            <a:solidFill>
              <a:schemeClr val="tx1"/>
            </a:solidFill>
            <a:prstDash val="solid"/>
          </a:ln>
        </p:spPr>
        <p:txBody>
          <a:bodyPr/>
          <a:lstStyle/>
          <a:p>
            <a:endParaRPr lang="ko-KR" altLang="en-US"/>
          </a:p>
        </p:txBody>
      </p:sp>
      <p:sp>
        <p:nvSpPr>
          <p:cNvPr id="8" name="Text 6"/>
          <p:cNvSpPr txBox="1"/>
          <p:nvPr/>
        </p:nvSpPr>
        <p:spPr>
          <a:xfrm>
            <a:off x="822960" y="3703320"/>
            <a:ext cx="2743200" cy="320040"/>
          </a:xfrm>
          <a:prstGeom prst="rect">
            <a:avLst/>
          </a:prstGeom>
          <a:noFill/>
          <a:ln/>
        </p:spPr>
        <p:txBody>
          <a:bodyPr wrap="square" lIns="0" tIns="0" rIns="0" bIns="0" rtlCol="0" anchor="t"/>
          <a:lstStyle/>
          <a:p>
            <a:pPr marL="0" indent="0">
              <a:buNone/>
            </a:pPr>
            <a:r>
              <a:rPr lang="en-US" sz="1600" b="1" dirty="0">
                <a:solidFill>
                  <a:schemeClr val="bg1"/>
                </a:solidFill>
              </a:rPr>
              <a:t>개선 후</a:t>
            </a:r>
            <a:endParaRPr lang="en-US" sz="1600" dirty="0"/>
          </a:p>
        </p:txBody>
      </p:sp>
      <p:sp>
        <p:nvSpPr>
          <p:cNvPr id="9" name="Chip 같은 시·도"/>
          <p:cNvSpPr/>
          <p:nvPr/>
        </p:nvSpPr>
        <p:spPr>
          <a:xfrm>
            <a:off x="822960" y="4160520"/>
            <a:ext cx="1783080" cy="347472"/>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10" name="Text 8"/>
          <p:cNvSpPr txBox="1"/>
          <p:nvPr/>
        </p:nvSpPr>
        <p:spPr>
          <a:xfrm>
            <a:off x="822960" y="4160520"/>
            <a:ext cx="1783080" cy="347472"/>
          </a:xfrm>
          <a:prstGeom prst="rect">
            <a:avLst/>
          </a:prstGeom>
          <a:noFill/>
          <a:ln/>
        </p:spPr>
        <p:txBody>
          <a:bodyPr wrap="square" lIns="0" tIns="0" rIns="0" bIns="0" rtlCol="0" anchor="ctr"/>
          <a:lstStyle/>
          <a:p>
            <a:pPr marL="0" indent="0" algn="ctr">
              <a:buNone/>
            </a:pPr>
            <a:r>
              <a:rPr lang="en-US" sz="1200" b="1" dirty="0">
                <a:solidFill>
                  <a:schemeClr val="bg1"/>
                </a:solidFill>
              </a:rPr>
              <a:t>같은 시·도</a:t>
            </a:r>
            <a:endParaRPr lang="en-US" sz="1200" dirty="0"/>
          </a:p>
        </p:txBody>
      </p:sp>
      <p:sp>
        <p:nvSpPr>
          <p:cNvPr id="11" name="Chip 반경 5km"/>
          <p:cNvSpPr/>
          <p:nvPr/>
        </p:nvSpPr>
        <p:spPr>
          <a:xfrm>
            <a:off x="2788920" y="4160520"/>
            <a:ext cx="1783080" cy="347472"/>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12" name="Text 10"/>
          <p:cNvSpPr txBox="1"/>
          <p:nvPr/>
        </p:nvSpPr>
        <p:spPr>
          <a:xfrm>
            <a:off x="2788920" y="4160520"/>
            <a:ext cx="1783080" cy="347472"/>
          </a:xfrm>
          <a:prstGeom prst="rect">
            <a:avLst/>
          </a:prstGeom>
          <a:noFill/>
          <a:ln/>
        </p:spPr>
        <p:txBody>
          <a:bodyPr wrap="square" lIns="0" tIns="0" rIns="0" bIns="0" rtlCol="0" anchor="ctr"/>
          <a:lstStyle/>
          <a:p>
            <a:pPr marL="0" indent="0" algn="ctr">
              <a:buNone/>
            </a:pPr>
            <a:r>
              <a:rPr lang="en-US" sz="1200" b="1" dirty="0">
                <a:solidFill>
                  <a:schemeClr val="bg1"/>
                </a:solidFill>
              </a:rPr>
              <a:t>반경 5km</a:t>
            </a:r>
            <a:endParaRPr lang="en-US" sz="1200" dirty="0"/>
          </a:p>
        </p:txBody>
      </p:sp>
      <p:sp>
        <p:nvSpPr>
          <p:cNvPr id="13" name="Chip 분실일 -2 ~ +180일"/>
          <p:cNvSpPr/>
          <p:nvPr/>
        </p:nvSpPr>
        <p:spPr>
          <a:xfrm>
            <a:off x="822960" y="4617720"/>
            <a:ext cx="1874520" cy="347472"/>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14" name="Text 12"/>
          <p:cNvSpPr txBox="1"/>
          <p:nvPr/>
        </p:nvSpPr>
        <p:spPr>
          <a:xfrm>
            <a:off x="822960" y="4617720"/>
            <a:ext cx="1874520" cy="347472"/>
          </a:xfrm>
          <a:prstGeom prst="rect">
            <a:avLst/>
          </a:prstGeom>
          <a:noFill/>
          <a:ln/>
        </p:spPr>
        <p:txBody>
          <a:bodyPr wrap="square" lIns="0" tIns="0" rIns="0" bIns="0" rtlCol="0" anchor="ctr"/>
          <a:lstStyle/>
          <a:p>
            <a:pPr marL="0" indent="0" algn="ctr">
              <a:buNone/>
            </a:pPr>
            <a:r>
              <a:rPr lang="en-US" sz="1200" b="1" dirty="0">
                <a:solidFill>
                  <a:schemeClr val="bg1"/>
                </a:solidFill>
              </a:rPr>
              <a:t>분실일 -2 ~ +180일</a:t>
            </a:r>
            <a:endParaRPr lang="en-US" sz="1200" dirty="0"/>
          </a:p>
        </p:txBody>
      </p:sp>
      <p:sp>
        <p:nvSpPr>
          <p:cNvPr id="15" name="Chip 같은 종류"/>
          <p:cNvSpPr/>
          <p:nvPr/>
        </p:nvSpPr>
        <p:spPr>
          <a:xfrm>
            <a:off x="2788920" y="4617720"/>
            <a:ext cx="1783080" cy="347472"/>
          </a:xfrm>
          <a:prstGeom prst="roundRect">
            <a:avLst>
              <a:gd name="adj" fmla="val 50000"/>
            </a:avLst>
          </a:prstGeom>
          <a:solidFill>
            <a:schemeClr val="accent2"/>
          </a:solidFill>
          <a:ln w="12700">
            <a:solidFill>
              <a:schemeClr val="accent2"/>
            </a:solidFill>
            <a:prstDash val="solid"/>
          </a:ln>
        </p:spPr>
        <p:txBody>
          <a:bodyPr/>
          <a:lstStyle/>
          <a:p>
            <a:endParaRPr lang="ko-KR" altLang="en-US"/>
          </a:p>
        </p:txBody>
      </p:sp>
      <p:sp>
        <p:nvSpPr>
          <p:cNvPr id="16" name="Text 14"/>
          <p:cNvSpPr txBox="1"/>
          <p:nvPr/>
        </p:nvSpPr>
        <p:spPr>
          <a:xfrm>
            <a:off x="2788920" y="4617720"/>
            <a:ext cx="1783080" cy="347472"/>
          </a:xfrm>
          <a:prstGeom prst="rect">
            <a:avLst/>
          </a:prstGeom>
          <a:noFill/>
          <a:ln/>
        </p:spPr>
        <p:txBody>
          <a:bodyPr wrap="square" lIns="0" tIns="0" rIns="0" bIns="0" rtlCol="0" anchor="ctr"/>
          <a:lstStyle/>
          <a:p>
            <a:pPr marL="0" indent="0" algn="ctr">
              <a:buNone/>
            </a:pPr>
            <a:r>
              <a:rPr lang="en-US" sz="1200" b="1" dirty="0">
                <a:solidFill>
                  <a:schemeClr val="bg1"/>
                </a:solidFill>
              </a:rPr>
              <a:t>같은 종류</a:t>
            </a:r>
            <a:endParaRPr lang="en-US" sz="1200" dirty="0"/>
          </a:p>
        </p:txBody>
      </p:sp>
      <p:sp>
        <p:nvSpPr>
          <p:cNvPr id="17" name="Text 15"/>
          <p:cNvSpPr txBox="1"/>
          <p:nvPr/>
        </p:nvSpPr>
        <p:spPr>
          <a:xfrm>
            <a:off x="822960" y="5120640"/>
            <a:ext cx="4023360" cy="274320"/>
          </a:xfrm>
          <a:prstGeom prst="rect">
            <a:avLst/>
          </a:prstGeom>
          <a:noFill/>
          <a:ln/>
        </p:spPr>
        <p:txBody>
          <a:bodyPr wrap="square" lIns="0" tIns="0" rIns="0" bIns="0" rtlCol="0" anchor="t"/>
          <a:lstStyle/>
          <a:p>
            <a:pPr marL="0" indent="0">
              <a:buNone/>
            </a:pPr>
            <a:r>
              <a:rPr lang="en-US" sz="1300" dirty="0">
                <a:solidFill>
                  <a:schemeClr val="accent6"/>
                </a:solidFill>
              </a:rPr>
              <a:t>조건을 모두 통과한 습득물만 점수 계산</a:t>
            </a:r>
            <a:endParaRPr lang="en-US" sz="1300" dirty="0"/>
          </a:p>
        </p:txBody>
      </p:sp>
      <p:sp>
        <p:nvSpPr>
          <p:cNvPr id="18" name="Filter code"/>
          <p:cNvSpPr/>
          <p:nvPr/>
        </p:nvSpPr>
        <p:spPr>
          <a:xfrm>
            <a:off x="5303520" y="1463040"/>
            <a:ext cx="6339535" cy="4069080"/>
          </a:xfrm>
          <a:prstGeom prst="roundRect">
            <a:avLst>
              <a:gd name="adj" fmla="val 3596"/>
            </a:avLst>
          </a:prstGeom>
          <a:solidFill>
            <a:schemeClr val="accent1"/>
          </a:solidFill>
          <a:ln w="12700">
            <a:solidFill>
              <a:schemeClr val="accent1"/>
            </a:solidFill>
            <a:prstDash val="solid"/>
          </a:ln>
        </p:spPr>
        <p:txBody>
          <a:bodyPr/>
          <a:lstStyle/>
          <a:p>
            <a:endParaRPr lang="ko-KR" altLang="en-US"/>
          </a:p>
        </p:txBody>
      </p:sp>
      <p:sp>
        <p:nvSpPr>
          <p:cNvPr id="19" name="Text 17"/>
          <p:cNvSpPr txBox="1"/>
          <p:nvPr/>
        </p:nvSpPr>
        <p:spPr>
          <a:xfrm>
            <a:off x="5577840" y="1645920"/>
            <a:ext cx="5790895" cy="274320"/>
          </a:xfrm>
          <a:prstGeom prst="rect">
            <a:avLst/>
          </a:prstGeom>
          <a:noFill/>
          <a:ln/>
        </p:spPr>
        <p:txBody>
          <a:bodyPr wrap="square" lIns="0" tIns="0" rIns="0" bIns="0" rtlCol="0" anchor="t"/>
          <a:lstStyle/>
          <a:p>
            <a:pPr marL="0" indent="0">
              <a:buNone/>
            </a:pPr>
            <a:r>
              <a:rPr lang="en-US" sz="1100" dirty="0">
                <a:solidFill>
                  <a:schemeClr val="accent6"/>
                </a:solidFill>
                <a:latin typeface="Menlo" pitchFamily="34" charset="0"/>
                <a:ea typeface="Menlo" pitchFamily="34" charset="-122"/>
                <a:cs typeface="Menlo" pitchFamily="34" charset="-120"/>
              </a:rPr>
              <a:t>backend/app/services/matching_service.py · 요약 발췌</a:t>
            </a:r>
            <a:endParaRPr lang="en-US" sz="1100" dirty="0"/>
          </a:p>
        </p:txBody>
      </p:sp>
      <p:sp>
        <p:nvSpPr>
          <p:cNvPr id="20" name="Filter code code"/>
          <p:cNvSpPr txBox="1"/>
          <p:nvPr/>
        </p:nvSpPr>
        <p:spPr>
          <a:xfrm>
            <a:off x="5577840" y="2011680"/>
            <a:ext cx="5790895" cy="3337560"/>
          </a:xfrm>
          <a:prstGeom prst="rect">
            <a:avLst/>
          </a:prstGeom>
          <a:noFill/>
          <a:ln/>
        </p:spPr>
        <p:txBody>
          <a:bodyPr wrap="square" lIns="0" tIns="0" rIns="0" bIns="0" rtlCol="0" anchor="t"/>
          <a:lstStyle/>
          <a:p>
            <a:pPr marL="0" indent="0">
              <a:spcAft>
                <a:spcPts val="200"/>
              </a:spcAft>
              <a:buNone/>
            </a:pPr>
            <a:r>
              <a:rPr lang="en-US" sz="1200" b="1" dirty="0">
                <a:solidFill>
                  <a:schemeClr val="bg1"/>
                </a:solidFill>
                <a:latin typeface="Menlo" pitchFamily="34" charset="0"/>
                <a:ea typeface="Menlo" pitchFamily="34" charset="-122"/>
                <a:cs typeface="Menlo" pitchFamily="34" charset="-120"/>
              </a:rPr>
              <a:t>def</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_is_plausible</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lost</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found</a:t>
            </a:r>
            <a:r>
              <a:rPr lang="en-US" sz="1200" dirty="0">
                <a:solidFill>
                  <a:schemeClr val="bg1"/>
                </a:solidFill>
                <a:latin typeface="Menlo" pitchFamily="34" charset="0"/>
                <a:ea typeface="Menlo" pitchFamily="34" charset="-122"/>
                <a:cs typeface="Menlo" pitchFamily="34" charset="-120"/>
              </a:rPr>
              <a:t>) -&gt; </a:t>
            </a:r>
            <a:r>
              <a:rPr lang="en-US" sz="1200" dirty="0">
                <a:solidFill>
                  <a:srgbClr val="D1D1D6"/>
                </a:solidFill>
                <a:latin typeface="Menlo" pitchFamily="34" charset="0"/>
                <a:ea typeface="Menlo" pitchFamily="34" charset="-122"/>
                <a:cs typeface="Menlo" pitchFamily="34" charset="-120"/>
              </a:rPr>
              <a:t>bool</a:t>
            </a:r>
            <a:r>
              <a:rPr lang="en-US" sz="1200" dirty="0">
                <a:solidFill>
                  <a:schemeClr val="bg1"/>
                </a:solidFill>
                <a:latin typeface="Menlo" pitchFamily="34" charset="0"/>
                <a:ea typeface="Menlo" pitchFamily="34" charset="-122"/>
                <a:cs typeface="Menlo" pitchFamily="34" charset="-120"/>
              </a:rPr>
              <a:t>:</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dirty="0">
                <a:solidFill>
                  <a:schemeClr val="accent6"/>
                </a:solidFill>
                <a:latin typeface="Menlo" pitchFamily="34" charset="0"/>
                <a:ea typeface="Menlo" pitchFamily="34" charset="-122"/>
                <a:cs typeface="Menlo" pitchFamily="34" charset="-120"/>
              </a:rPr>
              <a:t># 1) 종류가 다르면 제외</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if</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lost</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category_code</a:t>
            </a:r>
            <a:r>
              <a:rPr lang="en-US" sz="1200" dirty="0">
                <a:solidFill>
                  <a:schemeClr val="bg1"/>
                </a:solidFill>
                <a:latin typeface="Menlo" pitchFamily="34" charset="0"/>
                <a:ea typeface="Menlo" pitchFamily="34" charset="-122"/>
                <a:cs typeface="Menlo" pitchFamily="34" charset="-120"/>
              </a:rPr>
              <a:t> != </a:t>
            </a:r>
            <a:r>
              <a:rPr lang="en-US" sz="1200" dirty="0">
                <a:solidFill>
                  <a:srgbClr val="D1D1D6"/>
                </a:solidFill>
                <a:latin typeface="Menlo" pitchFamily="34" charset="0"/>
                <a:ea typeface="Menlo" pitchFamily="34" charset="-122"/>
                <a:cs typeface="Menlo" pitchFamily="34" charset="-120"/>
              </a:rPr>
              <a:t>found</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category_code</a:t>
            </a:r>
            <a:r>
              <a:rPr lang="en-US" sz="1200" dirty="0">
                <a:solidFill>
                  <a:schemeClr val="bg1"/>
                </a:solidFill>
                <a:latin typeface="Menlo" pitchFamily="34" charset="0"/>
                <a:ea typeface="Menlo" pitchFamily="34" charset="-122"/>
                <a:cs typeface="Menlo" pitchFamily="34" charset="-120"/>
              </a:rPr>
              <a:t>:</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return</a:t>
            </a: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False</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dirty="0">
                <a:solidFill>
                  <a:schemeClr val="accent6"/>
                </a:solidFill>
                <a:latin typeface="Menlo" pitchFamily="34" charset="0"/>
                <a:ea typeface="Menlo" pitchFamily="34" charset="-122"/>
                <a:cs typeface="Menlo" pitchFamily="34" charset="-120"/>
              </a:rPr>
              <a:t># 2) 분실일 -2일 ~ +180일</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earliest</a:t>
            </a:r>
            <a:r>
              <a:rPr lang="en-US" sz="1200" dirty="0">
                <a:solidFill>
                  <a:schemeClr val="bg1"/>
                </a:solidFill>
                <a:latin typeface="Menlo" pitchFamily="34" charset="0"/>
                <a:ea typeface="Menlo" pitchFamily="34" charset="-122"/>
                <a:cs typeface="Menlo" pitchFamily="34" charset="-120"/>
              </a:rPr>
              <a:t> = </a:t>
            </a:r>
            <a:r>
              <a:rPr lang="en-US" sz="1200" dirty="0">
                <a:solidFill>
                  <a:srgbClr val="D1D1D6"/>
                </a:solidFill>
                <a:latin typeface="Menlo" pitchFamily="34" charset="0"/>
                <a:ea typeface="Menlo" pitchFamily="34" charset="-122"/>
                <a:cs typeface="Menlo" pitchFamily="34" charset="-120"/>
              </a:rPr>
              <a:t>lost</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lost_date</a:t>
            </a:r>
            <a:r>
              <a:rPr lang="en-US" sz="1200" dirty="0">
                <a:solidFill>
                  <a:schemeClr val="bg1"/>
                </a:solidFill>
                <a:latin typeface="Menlo" pitchFamily="34" charset="0"/>
                <a:ea typeface="Menlo" pitchFamily="34" charset="-122"/>
                <a:cs typeface="Menlo" pitchFamily="34" charset="-120"/>
              </a:rPr>
              <a:t> - </a:t>
            </a:r>
            <a:r>
              <a:rPr lang="en-US" sz="1200" dirty="0">
                <a:solidFill>
                  <a:srgbClr val="D1D1D6"/>
                </a:solidFill>
                <a:latin typeface="Menlo" pitchFamily="34" charset="0"/>
                <a:ea typeface="Menlo" pitchFamily="34" charset="-122"/>
                <a:cs typeface="Menlo" pitchFamily="34" charset="-120"/>
              </a:rPr>
              <a:t>timedelta</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days</a:t>
            </a:r>
            <a:r>
              <a:rPr lang="en-US" sz="1200" dirty="0">
                <a:solidFill>
                  <a:schemeClr val="bg1"/>
                </a:solidFill>
                <a:latin typeface="Menlo" pitchFamily="34" charset="0"/>
                <a:ea typeface="Menlo" pitchFamily="34" charset="-122"/>
                <a:cs typeface="Menlo" pitchFamily="34" charset="-120"/>
              </a:rPr>
              <a:t>=</a:t>
            </a:r>
            <a:r>
              <a:rPr lang="en-US" sz="1200" dirty="0">
                <a:solidFill>
                  <a:srgbClr val="FFB340"/>
                </a:solidFill>
                <a:latin typeface="Menlo" pitchFamily="34" charset="0"/>
                <a:ea typeface="Menlo" pitchFamily="34" charset="-122"/>
                <a:cs typeface="Menlo" pitchFamily="34" charset="-120"/>
              </a:rPr>
              <a:t>2</a:t>
            </a:r>
            <a:r>
              <a:rPr lang="en-US" sz="1200" dirty="0">
                <a:solidFill>
                  <a:schemeClr val="bg1"/>
                </a:solidFill>
                <a:latin typeface="Menlo" pitchFamily="34" charset="0"/>
                <a:ea typeface="Menlo" pitchFamily="34" charset="-122"/>
                <a:cs typeface="Menlo" pitchFamily="34" charset="-120"/>
              </a:rPr>
              <a:t>)</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latest</a:t>
            </a:r>
            <a:r>
              <a:rPr lang="en-US" sz="1200" dirty="0">
                <a:solidFill>
                  <a:schemeClr val="bg1"/>
                </a:solidFill>
                <a:latin typeface="Menlo" pitchFamily="34" charset="0"/>
                <a:ea typeface="Menlo" pitchFamily="34" charset="-122"/>
                <a:cs typeface="Menlo" pitchFamily="34" charset="-120"/>
              </a:rPr>
              <a:t> = </a:t>
            </a:r>
            <a:r>
              <a:rPr lang="en-US" sz="1200" dirty="0">
                <a:solidFill>
                  <a:srgbClr val="D1D1D6"/>
                </a:solidFill>
                <a:latin typeface="Menlo" pitchFamily="34" charset="0"/>
                <a:ea typeface="Menlo" pitchFamily="34" charset="-122"/>
                <a:cs typeface="Menlo" pitchFamily="34" charset="-120"/>
              </a:rPr>
              <a:t>lost</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lost_date</a:t>
            </a:r>
            <a:r>
              <a:rPr lang="en-US" sz="1200" dirty="0">
                <a:solidFill>
                  <a:schemeClr val="bg1"/>
                </a:solidFill>
                <a:latin typeface="Menlo" pitchFamily="34" charset="0"/>
                <a:ea typeface="Menlo" pitchFamily="34" charset="-122"/>
                <a:cs typeface="Menlo" pitchFamily="34" charset="-120"/>
              </a:rPr>
              <a:t> + </a:t>
            </a:r>
            <a:r>
              <a:rPr lang="en-US" sz="1200" dirty="0">
                <a:solidFill>
                  <a:srgbClr val="D1D1D6"/>
                </a:solidFill>
                <a:latin typeface="Menlo" pitchFamily="34" charset="0"/>
                <a:ea typeface="Menlo" pitchFamily="34" charset="-122"/>
                <a:cs typeface="Menlo" pitchFamily="34" charset="-120"/>
              </a:rPr>
              <a:t>timedelta</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days</a:t>
            </a:r>
            <a:r>
              <a:rPr lang="en-US" sz="1200" dirty="0">
                <a:solidFill>
                  <a:schemeClr val="bg1"/>
                </a:solidFill>
                <a:latin typeface="Menlo" pitchFamily="34" charset="0"/>
                <a:ea typeface="Menlo" pitchFamily="34" charset="-122"/>
                <a:cs typeface="Menlo" pitchFamily="34" charset="-120"/>
              </a:rPr>
              <a:t>=</a:t>
            </a:r>
            <a:r>
              <a:rPr lang="en-US" sz="1200" dirty="0">
                <a:solidFill>
                  <a:srgbClr val="FFB340"/>
                </a:solidFill>
                <a:latin typeface="Menlo" pitchFamily="34" charset="0"/>
                <a:ea typeface="Menlo" pitchFamily="34" charset="-122"/>
                <a:cs typeface="Menlo" pitchFamily="34" charset="-120"/>
              </a:rPr>
              <a:t>180</a:t>
            </a:r>
            <a:r>
              <a:rPr lang="en-US" sz="1200" dirty="0">
                <a:solidFill>
                  <a:schemeClr val="bg1"/>
                </a:solidFill>
                <a:latin typeface="Menlo" pitchFamily="34" charset="0"/>
                <a:ea typeface="Menlo" pitchFamily="34" charset="-122"/>
                <a:cs typeface="Menlo" pitchFamily="34" charset="-120"/>
              </a:rPr>
              <a:t>)</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if</a:t>
            </a: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not</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earliest</a:t>
            </a:r>
            <a:r>
              <a:rPr lang="en-US" sz="1200" dirty="0">
                <a:solidFill>
                  <a:schemeClr val="bg1"/>
                </a:solidFill>
                <a:latin typeface="Menlo" pitchFamily="34" charset="0"/>
                <a:ea typeface="Menlo" pitchFamily="34" charset="-122"/>
                <a:cs typeface="Menlo" pitchFamily="34" charset="-120"/>
              </a:rPr>
              <a:t> &lt;= </a:t>
            </a:r>
            <a:r>
              <a:rPr lang="en-US" sz="1200" dirty="0">
                <a:solidFill>
                  <a:srgbClr val="D1D1D6"/>
                </a:solidFill>
                <a:latin typeface="Menlo" pitchFamily="34" charset="0"/>
                <a:ea typeface="Menlo" pitchFamily="34" charset="-122"/>
                <a:cs typeface="Menlo" pitchFamily="34" charset="-120"/>
              </a:rPr>
              <a:t>found</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found_date</a:t>
            </a:r>
            <a:r>
              <a:rPr lang="en-US" sz="1200" dirty="0">
                <a:solidFill>
                  <a:schemeClr val="bg1"/>
                </a:solidFill>
                <a:latin typeface="Menlo" pitchFamily="34" charset="0"/>
                <a:ea typeface="Menlo" pitchFamily="34" charset="-122"/>
                <a:cs typeface="Menlo" pitchFamily="34" charset="-120"/>
              </a:rPr>
              <a:t> &lt;= </a:t>
            </a:r>
            <a:r>
              <a:rPr lang="en-US" sz="1200" dirty="0">
                <a:solidFill>
                  <a:srgbClr val="D1D1D6"/>
                </a:solidFill>
                <a:latin typeface="Menlo" pitchFamily="34" charset="0"/>
                <a:ea typeface="Menlo" pitchFamily="34" charset="-122"/>
                <a:cs typeface="Menlo" pitchFamily="34" charset="-120"/>
              </a:rPr>
              <a:t>latest</a:t>
            </a:r>
            <a:r>
              <a:rPr lang="en-US" sz="1200" dirty="0">
                <a:solidFill>
                  <a:schemeClr val="bg1"/>
                </a:solidFill>
                <a:latin typeface="Menlo" pitchFamily="34" charset="0"/>
                <a:ea typeface="Menlo" pitchFamily="34" charset="-122"/>
                <a:cs typeface="Menlo" pitchFamily="34" charset="-120"/>
              </a:rPr>
              <a:t>):</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return</a:t>
            </a: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False</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dirty="0">
                <a:solidFill>
                  <a:schemeClr val="accent6"/>
                </a:solidFill>
                <a:latin typeface="Menlo" pitchFamily="34" charset="0"/>
                <a:ea typeface="Menlo" pitchFamily="34" charset="-122"/>
                <a:cs typeface="Menlo" pitchFamily="34" charset="-120"/>
              </a:rPr>
              <a:t># 3) 같은 시·도, 4) 좌표가 있으면 반경 이내</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if</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_lost_region</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lost</a:t>
            </a:r>
            <a:r>
              <a:rPr lang="en-US" sz="1200" dirty="0">
                <a:solidFill>
                  <a:schemeClr val="bg1"/>
                </a:solidFill>
                <a:latin typeface="Menlo" pitchFamily="34" charset="0"/>
                <a:ea typeface="Menlo" pitchFamily="34" charset="-122"/>
                <a:cs typeface="Menlo" pitchFamily="34" charset="-120"/>
              </a:rPr>
              <a:t>) != </a:t>
            </a:r>
            <a:r>
              <a:rPr lang="en-US" sz="1200" dirty="0">
                <a:solidFill>
                  <a:srgbClr val="D1D1D6"/>
                </a:solidFill>
                <a:latin typeface="Menlo" pitchFamily="34" charset="0"/>
                <a:ea typeface="Menlo" pitchFamily="34" charset="-122"/>
                <a:cs typeface="Menlo" pitchFamily="34" charset="-120"/>
              </a:rPr>
              <a:t>_found_region</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found</a:t>
            </a:r>
            <a:r>
              <a:rPr lang="en-US" sz="1200" dirty="0">
                <a:solidFill>
                  <a:schemeClr val="bg1"/>
                </a:solidFill>
                <a:latin typeface="Menlo" pitchFamily="34" charset="0"/>
                <a:ea typeface="Menlo" pitchFamily="34" charset="-122"/>
                <a:cs typeface="Menlo" pitchFamily="34" charset="-120"/>
              </a:rPr>
              <a:t>):</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return</a:t>
            </a: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False</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d</a:t>
            </a:r>
            <a:r>
              <a:rPr lang="en-US" sz="1200" dirty="0">
                <a:solidFill>
                  <a:schemeClr val="bg1"/>
                </a:solidFill>
                <a:latin typeface="Menlo" pitchFamily="34" charset="0"/>
                <a:ea typeface="Menlo" pitchFamily="34" charset="-122"/>
                <a:cs typeface="Menlo" pitchFamily="34" charset="-120"/>
              </a:rPr>
              <a:t> = </a:t>
            </a:r>
            <a:r>
              <a:rPr lang="en-US" sz="1200" dirty="0">
                <a:solidFill>
                  <a:srgbClr val="D1D1D6"/>
                </a:solidFill>
                <a:latin typeface="Menlo" pitchFamily="34" charset="0"/>
                <a:ea typeface="Menlo" pitchFamily="34" charset="-122"/>
                <a:cs typeface="Menlo" pitchFamily="34" charset="-120"/>
              </a:rPr>
              <a:t>_distance_km</a:t>
            </a:r>
            <a:r>
              <a:rPr lang="en-US" sz="1200" dirty="0">
                <a:solidFill>
                  <a:schemeClr val="bg1"/>
                </a:solidFill>
                <a:latin typeface="Menlo" pitchFamily="34" charset="0"/>
                <a:ea typeface="Menlo" pitchFamily="34" charset="-122"/>
                <a:cs typeface="Menlo" pitchFamily="34" charset="-120"/>
              </a:rPr>
              <a:t>(</a:t>
            </a:r>
            <a:r>
              <a:rPr lang="en-US" sz="1200" dirty="0">
                <a:solidFill>
                  <a:srgbClr val="D1D1D6"/>
                </a:solidFill>
                <a:latin typeface="Menlo" pitchFamily="34" charset="0"/>
                <a:ea typeface="Menlo" pitchFamily="34" charset="-122"/>
                <a:cs typeface="Menlo" pitchFamily="34" charset="-120"/>
              </a:rPr>
              <a:t>lost</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found</a:t>
            </a:r>
            <a:r>
              <a:rPr lang="en-US" sz="1200" dirty="0">
                <a:solidFill>
                  <a:schemeClr val="bg1"/>
                </a:solidFill>
                <a:latin typeface="Menlo" pitchFamily="34" charset="0"/>
                <a:ea typeface="Menlo" pitchFamily="34" charset="-122"/>
                <a:cs typeface="Menlo" pitchFamily="34" charset="-120"/>
              </a:rPr>
              <a:t>)</a:t>
            </a:r>
            <a:endParaRPr lang="en-US" sz="1200" dirty="0"/>
          </a:p>
          <a:p>
            <a:pPr marL="0" indent="0">
              <a:spcAft>
                <a:spcPts val="200"/>
              </a:spcAft>
              <a:buNone/>
            </a:pP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return</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d</a:t>
            </a: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is</a:t>
            </a: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None</a:t>
            </a:r>
            <a:r>
              <a:rPr lang="en-US" sz="1200" dirty="0">
                <a:solidFill>
                  <a:schemeClr val="bg1"/>
                </a:solidFill>
                <a:latin typeface="Menlo" pitchFamily="34" charset="0"/>
                <a:ea typeface="Menlo" pitchFamily="34" charset="-122"/>
                <a:cs typeface="Menlo" pitchFamily="34" charset="-120"/>
              </a:rPr>
              <a:t> </a:t>
            </a:r>
            <a:r>
              <a:rPr lang="en-US" sz="1200" b="1" dirty="0">
                <a:solidFill>
                  <a:schemeClr val="bg1"/>
                </a:solidFill>
                <a:latin typeface="Menlo" pitchFamily="34" charset="0"/>
                <a:ea typeface="Menlo" pitchFamily="34" charset="-122"/>
                <a:cs typeface="Menlo" pitchFamily="34" charset="-120"/>
              </a:rPr>
              <a:t>or</a:t>
            </a:r>
            <a:r>
              <a:rPr lang="en-US" sz="1200" dirty="0">
                <a:solidFill>
                  <a:schemeClr val="bg1"/>
                </a:solidFill>
                <a:latin typeface="Menlo" pitchFamily="34" charset="0"/>
                <a:ea typeface="Menlo" pitchFamily="34" charset="-122"/>
                <a:cs typeface="Menlo" pitchFamily="34" charset="-120"/>
              </a:rPr>
              <a:t> </a:t>
            </a:r>
            <a:r>
              <a:rPr lang="en-US" sz="1200" dirty="0">
                <a:solidFill>
                  <a:srgbClr val="D1D1D6"/>
                </a:solidFill>
                <a:latin typeface="Menlo" pitchFamily="34" charset="0"/>
                <a:ea typeface="Menlo" pitchFamily="34" charset="-122"/>
                <a:cs typeface="Menlo" pitchFamily="34" charset="-120"/>
              </a:rPr>
              <a:t>d</a:t>
            </a:r>
            <a:r>
              <a:rPr lang="en-US" sz="1200" dirty="0">
                <a:solidFill>
                  <a:schemeClr val="bg1"/>
                </a:solidFill>
                <a:latin typeface="Menlo" pitchFamily="34" charset="0"/>
                <a:ea typeface="Menlo" pitchFamily="34" charset="-122"/>
                <a:cs typeface="Menlo" pitchFamily="34" charset="-120"/>
              </a:rPr>
              <a:t> &lt;= </a:t>
            </a:r>
            <a:r>
              <a:rPr lang="en-US" sz="1200" dirty="0">
                <a:solidFill>
                  <a:srgbClr val="D1D1D6"/>
                </a:solidFill>
                <a:latin typeface="Menlo" pitchFamily="34" charset="0"/>
                <a:ea typeface="Menlo" pitchFamily="34" charset="-122"/>
                <a:cs typeface="Menlo" pitchFamily="34" charset="-120"/>
              </a:rPr>
              <a:t>MAX_CANDIDATE_DISTANCE_KM</a:t>
            </a:r>
            <a:endParaRPr lang="en-US" sz="1200" dirty="0"/>
          </a:p>
        </p:txBody>
      </p:sp>
      <p:sp>
        <p:nvSpPr>
          <p:cNvPr id="21" name="Chip 매일 새벽 4시 수집 후 자동 재매칭"/>
          <p:cNvSpPr/>
          <p:nvPr/>
        </p:nvSpPr>
        <p:spPr>
          <a:xfrm>
            <a:off x="548640" y="5760720"/>
            <a:ext cx="329184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22" name="Text 20"/>
          <p:cNvSpPr txBox="1"/>
          <p:nvPr/>
        </p:nvSpPr>
        <p:spPr>
          <a:xfrm>
            <a:off x="548640" y="5760720"/>
            <a:ext cx="3291840" cy="365760"/>
          </a:xfrm>
          <a:prstGeom prst="rect">
            <a:avLst/>
          </a:prstGeom>
          <a:noFill/>
          <a:ln/>
        </p:spPr>
        <p:txBody>
          <a:bodyPr wrap="square" lIns="0" tIns="0" rIns="0" bIns="0" rtlCol="0" anchor="ctr"/>
          <a:lstStyle/>
          <a:p>
            <a:pPr marL="0" indent="0" algn="ctr">
              <a:buNone/>
            </a:pPr>
            <a:r>
              <a:rPr lang="en-US" sz="1200" b="1" dirty="0">
                <a:solidFill>
                  <a:schemeClr val="tx1"/>
                </a:solidFill>
              </a:rPr>
              <a:t>매일 새벽 4시 수집 후 자동 재매칭</a:t>
            </a:r>
            <a:endParaRPr lang="en-US" sz="1200" dirty="0"/>
          </a:p>
        </p:txBody>
      </p:sp>
      <p:sp>
        <p:nvSpPr>
          <p:cNvPr id="23" name="Chip 같은 매칭은 한 번만 발송"/>
          <p:cNvSpPr/>
          <p:nvPr/>
        </p:nvSpPr>
        <p:spPr>
          <a:xfrm>
            <a:off x="3977640" y="5760720"/>
            <a:ext cx="246888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24" name="Text 22"/>
          <p:cNvSpPr txBox="1"/>
          <p:nvPr/>
        </p:nvSpPr>
        <p:spPr>
          <a:xfrm>
            <a:off x="3977640" y="5760720"/>
            <a:ext cx="2468880" cy="365760"/>
          </a:xfrm>
          <a:prstGeom prst="rect">
            <a:avLst/>
          </a:prstGeom>
          <a:noFill/>
          <a:ln/>
        </p:spPr>
        <p:txBody>
          <a:bodyPr wrap="square" lIns="0" tIns="0" rIns="0" bIns="0" rtlCol="0" anchor="ctr"/>
          <a:lstStyle/>
          <a:p>
            <a:pPr marL="0" indent="0" algn="ctr">
              <a:buNone/>
            </a:pPr>
            <a:r>
              <a:rPr lang="en-US" sz="1200" b="1" dirty="0">
                <a:solidFill>
                  <a:schemeClr val="tx1"/>
                </a:solidFill>
              </a:rPr>
              <a:t>같은 매칭은 한 번만 발송</a:t>
            </a:r>
            <a:endParaRPr lang="en-US" sz="1200" dirty="0"/>
          </a:p>
        </p:txBody>
      </p:sp>
      <p:sp>
        <p:nvSpPr>
          <p:cNvPr id="25" name="Chip 서비스 내 알림 (이메일은 SMTP 연동 시)"/>
          <p:cNvSpPr/>
          <p:nvPr/>
        </p:nvSpPr>
        <p:spPr>
          <a:xfrm>
            <a:off x="6583680" y="5760720"/>
            <a:ext cx="356616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26" name="Text 24"/>
          <p:cNvSpPr txBox="1"/>
          <p:nvPr/>
        </p:nvSpPr>
        <p:spPr>
          <a:xfrm>
            <a:off x="6583680" y="5760720"/>
            <a:ext cx="3566160" cy="365760"/>
          </a:xfrm>
          <a:prstGeom prst="rect">
            <a:avLst/>
          </a:prstGeom>
          <a:noFill/>
          <a:ln/>
        </p:spPr>
        <p:txBody>
          <a:bodyPr wrap="square" lIns="0" tIns="0" rIns="0" bIns="0" rtlCol="0" anchor="ctr"/>
          <a:lstStyle/>
          <a:p>
            <a:pPr marL="0" indent="0" algn="ctr">
              <a:buNone/>
            </a:pPr>
            <a:r>
              <a:rPr lang="en-US" sz="1200" b="1" dirty="0">
                <a:solidFill>
                  <a:schemeClr val="tx1"/>
                </a:solidFill>
              </a:rPr>
              <a:t>서비스 내 알림 (이메일은 SMTP 연동 시)</a:t>
            </a:r>
            <a:endParaRPr lang="en-US" sz="1200" dirty="0"/>
          </a:p>
        </p:txBody>
      </p:sp>
      <p:sp>
        <p:nvSpPr>
          <p:cNvPr id="27"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TOP 5 적중률 96.7%</a:t>
            </a:r>
            <a:endParaRPr lang="en-US" sz="3400" dirty="0"/>
          </a:p>
        </p:txBody>
      </p:sp>
      <p:sp>
        <p:nvSpPr>
          <p:cNvPr id="3" name="Text 1"/>
          <p:cNvSpPr txBox="1"/>
          <p:nvPr/>
        </p:nvSpPr>
        <p:spPr>
          <a:xfrm>
            <a:off x="548640" y="1188720"/>
            <a:ext cx="11094415" cy="320040"/>
          </a:xfrm>
          <a:prstGeom prst="rect">
            <a:avLst/>
          </a:prstGeom>
          <a:noFill/>
          <a:ln/>
        </p:spPr>
        <p:txBody>
          <a:bodyPr wrap="square" lIns="0" tIns="0" rIns="0" bIns="0" rtlCol="0" anchor="t"/>
          <a:lstStyle/>
          <a:p>
            <a:pPr marL="0" indent="0">
              <a:buNone/>
            </a:pPr>
            <a:r>
              <a:rPr lang="en-US" sz="1600" dirty="0">
                <a:solidFill>
                  <a:schemeClr val="tx2"/>
                </a:solidFill>
              </a:rPr>
              <a:t>필터를 쓴 키워드 검색(85.0%)보다 11.7%p 높음</a:t>
            </a:r>
            <a:endParaRPr lang="en-US" sz="1600" dirty="0"/>
          </a:p>
        </p:txBody>
      </p:sp>
      <p:sp>
        <p:nvSpPr>
          <p:cNvPr id="4" name="Perf chart card"/>
          <p:cNvSpPr/>
          <p:nvPr/>
        </p:nvSpPr>
        <p:spPr>
          <a:xfrm>
            <a:off x="548640" y="1783080"/>
            <a:ext cx="6858000" cy="4023360"/>
          </a:xfrm>
          <a:prstGeom prst="roundRect">
            <a:avLst>
              <a:gd name="adj" fmla="val 3636"/>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graphicFrame>
        <p:nvGraphicFramePr>
          <p:cNvPr id="5" name="Chart 0"/>
          <p:cNvGraphicFramePr/>
          <p:nvPr/>
        </p:nvGraphicFramePr>
        <p:xfrm>
          <a:off x="731520" y="1920240"/>
          <a:ext cx="649224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KPI Recall@5"/>
          <p:cNvSpPr/>
          <p:nvPr/>
        </p:nvSpPr>
        <p:spPr>
          <a:xfrm>
            <a:off x="7680960" y="1783080"/>
            <a:ext cx="3962095" cy="1234440"/>
          </a:xfrm>
          <a:prstGeom prst="roundRect">
            <a:avLst>
              <a:gd name="adj" fmla="val 11852"/>
            </a:avLst>
          </a:prstGeom>
          <a:solidFill>
            <a:schemeClr val="tx1"/>
          </a:solidFill>
          <a:ln w="12700">
            <a:solidFill>
              <a:schemeClr val="tx1"/>
            </a:solidFill>
            <a:prstDash val="solid"/>
          </a:ln>
        </p:spPr>
        <p:txBody>
          <a:bodyPr/>
          <a:lstStyle/>
          <a:p>
            <a:endParaRPr lang="ko-KR" altLang="en-US"/>
          </a:p>
        </p:txBody>
      </p:sp>
      <p:sp>
        <p:nvSpPr>
          <p:cNvPr id="7" name="Text 4"/>
          <p:cNvSpPr txBox="1"/>
          <p:nvPr/>
        </p:nvSpPr>
        <p:spPr>
          <a:xfrm>
            <a:off x="7955280" y="1783080"/>
            <a:ext cx="1828800" cy="1234440"/>
          </a:xfrm>
          <a:prstGeom prst="rect">
            <a:avLst/>
          </a:prstGeom>
          <a:noFill/>
          <a:ln/>
        </p:spPr>
        <p:txBody>
          <a:bodyPr wrap="square" lIns="0" tIns="0" rIns="0" bIns="0" rtlCol="0" anchor="ctr"/>
          <a:lstStyle/>
          <a:p>
            <a:pPr marL="0" indent="0">
              <a:buNone/>
            </a:pPr>
            <a:r>
              <a:rPr lang="en-US" sz="3400" b="1" dirty="0">
                <a:solidFill>
                  <a:schemeClr val="bg1"/>
                </a:solidFill>
              </a:rPr>
              <a:t>96.7%</a:t>
            </a:r>
            <a:endParaRPr lang="en-US" sz="3400" dirty="0"/>
          </a:p>
        </p:txBody>
      </p:sp>
      <p:sp>
        <p:nvSpPr>
          <p:cNvPr id="8" name="Text 5"/>
          <p:cNvSpPr txBox="1"/>
          <p:nvPr/>
        </p:nvSpPr>
        <p:spPr>
          <a:xfrm>
            <a:off x="9738360" y="2057400"/>
            <a:ext cx="1721815" cy="320040"/>
          </a:xfrm>
          <a:prstGeom prst="rect">
            <a:avLst/>
          </a:prstGeom>
          <a:noFill/>
          <a:ln/>
        </p:spPr>
        <p:txBody>
          <a:bodyPr wrap="square" lIns="0" tIns="0" rIns="0" bIns="0" rtlCol="0" anchor="t"/>
          <a:lstStyle/>
          <a:p>
            <a:pPr marL="0" indent="0">
              <a:buNone/>
            </a:pPr>
            <a:r>
              <a:rPr lang="en-US" sz="1500" b="1" dirty="0">
                <a:solidFill>
                  <a:schemeClr val="bg1"/>
                </a:solidFill>
              </a:rPr>
              <a:t>Recall@5</a:t>
            </a:r>
            <a:endParaRPr lang="en-US" sz="1500" dirty="0"/>
          </a:p>
        </p:txBody>
      </p:sp>
      <p:sp>
        <p:nvSpPr>
          <p:cNvPr id="9" name="Text 6"/>
          <p:cNvSpPr txBox="1"/>
          <p:nvPr/>
        </p:nvSpPr>
        <p:spPr>
          <a:xfrm>
            <a:off x="9738360" y="2441448"/>
            <a:ext cx="1721815" cy="457200"/>
          </a:xfrm>
          <a:prstGeom prst="rect">
            <a:avLst/>
          </a:prstGeom>
          <a:noFill/>
          <a:ln/>
        </p:spPr>
        <p:txBody>
          <a:bodyPr wrap="square" lIns="0" tIns="0" rIns="0" bIns="0" rtlCol="0" anchor="t"/>
          <a:lstStyle/>
          <a:p>
            <a:pPr marL="0" indent="0">
              <a:buNone/>
            </a:pPr>
            <a:r>
              <a:rPr lang="en-US" sz="1200" dirty="0">
                <a:solidFill>
                  <a:schemeClr val="accent6"/>
                </a:solidFill>
              </a:rPr>
              <a:t>계획서 목표 70% 이상</a:t>
            </a:r>
            <a:endParaRPr lang="en-US" sz="1200" dirty="0"/>
          </a:p>
        </p:txBody>
      </p:sp>
      <p:sp>
        <p:nvSpPr>
          <p:cNvPr id="10" name="KPI MRR"/>
          <p:cNvSpPr/>
          <p:nvPr/>
        </p:nvSpPr>
        <p:spPr>
          <a:xfrm>
            <a:off x="7680960" y="3154680"/>
            <a:ext cx="3962095" cy="1234440"/>
          </a:xfrm>
          <a:prstGeom prst="roundRect">
            <a:avLst>
              <a:gd name="adj" fmla="val 11852"/>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1" name="Text 8"/>
          <p:cNvSpPr txBox="1"/>
          <p:nvPr/>
        </p:nvSpPr>
        <p:spPr>
          <a:xfrm>
            <a:off x="7955280" y="3154680"/>
            <a:ext cx="1828800" cy="1234440"/>
          </a:xfrm>
          <a:prstGeom prst="rect">
            <a:avLst/>
          </a:prstGeom>
          <a:noFill/>
          <a:ln/>
        </p:spPr>
        <p:txBody>
          <a:bodyPr wrap="square" lIns="0" tIns="0" rIns="0" bIns="0" rtlCol="0" anchor="ctr"/>
          <a:lstStyle/>
          <a:p>
            <a:pPr marL="0" indent="0">
              <a:buNone/>
            </a:pPr>
            <a:r>
              <a:rPr lang="en-US" sz="3400" b="1" dirty="0">
                <a:solidFill>
                  <a:schemeClr val="tx1"/>
                </a:solidFill>
              </a:rPr>
              <a:t>0.855</a:t>
            </a:r>
            <a:endParaRPr lang="en-US" sz="3400" dirty="0"/>
          </a:p>
        </p:txBody>
      </p:sp>
      <p:sp>
        <p:nvSpPr>
          <p:cNvPr id="12" name="Text 9"/>
          <p:cNvSpPr txBox="1"/>
          <p:nvPr/>
        </p:nvSpPr>
        <p:spPr>
          <a:xfrm>
            <a:off x="9738360" y="3429000"/>
            <a:ext cx="1721815" cy="320040"/>
          </a:xfrm>
          <a:prstGeom prst="rect">
            <a:avLst/>
          </a:prstGeom>
          <a:noFill/>
          <a:ln/>
        </p:spPr>
        <p:txBody>
          <a:bodyPr wrap="square" lIns="0" tIns="0" rIns="0" bIns="0" rtlCol="0" anchor="t"/>
          <a:lstStyle/>
          <a:p>
            <a:pPr marL="0" indent="0">
              <a:buNone/>
            </a:pPr>
            <a:r>
              <a:rPr lang="en-US" sz="1500" b="1" dirty="0">
                <a:solidFill>
                  <a:schemeClr val="tx1"/>
                </a:solidFill>
              </a:rPr>
              <a:t>MRR</a:t>
            </a:r>
            <a:endParaRPr lang="en-US" sz="1500" dirty="0"/>
          </a:p>
        </p:txBody>
      </p:sp>
      <p:sp>
        <p:nvSpPr>
          <p:cNvPr id="13" name="Text 10"/>
          <p:cNvSpPr txBox="1"/>
          <p:nvPr/>
        </p:nvSpPr>
        <p:spPr>
          <a:xfrm>
            <a:off x="9738360" y="3813048"/>
            <a:ext cx="1721815" cy="457200"/>
          </a:xfrm>
          <a:prstGeom prst="rect">
            <a:avLst/>
          </a:prstGeom>
          <a:noFill/>
          <a:ln/>
        </p:spPr>
        <p:txBody>
          <a:bodyPr wrap="square" lIns="0" tIns="0" rIns="0" bIns="0" rtlCol="0" anchor="t"/>
          <a:lstStyle/>
          <a:p>
            <a:pPr marL="0" indent="0">
              <a:buNone/>
            </a:pPr>
            <a:r>
              <a:rPr lang="en-US" sz="1200" dirty="0">
                <a:solidFill>
                  <a:schemeClr val="tx2"/>
                </a:solidFill>
              </a:rPr>
              <a:t>계획서 목표 0.55 이상</a:t>
            </a:r>
            <a:endParaRPr lang="en-US" sz="1200" dirty="0"/>
          </a:p>
        </p:txBody>
      </p:sp>
      <p:sp>
        <p:nvSpPr>
          <p:cNvPr id="14" name="KPI 1위 적중"/>
          <p:cNvSpPr/>
          <p:nvPr/>
        </p:nvSpPr>
        <p:spPr>
          <a:xfrm>
            <a:off x="7680960" y="4526280"/>
            <a:ext cx="3962095" cy="1234440"/>
          </a:xfrm>
          <a:prstGeom prst="roundRect">
            <a:avLst>
              <a:gd name="adj" fmla="val 11852"/>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5" name="Text 12"/>
          <p:cNvSpPr txBox="1"/>
          <p:nvPr/>
        </p:nvSpPr>
        <p:spPr>
          <a:xfrm>
            <a:off x="7955280" y="4526280"/>
            <a:ext cx="1828800" cy="1234440"/>
          </a:xfrm>
          <a:prstGeom prst="rect">
            <a:avLst/>
          </a:prstGeom>
          <a:noFill/>
          <a:ln/>
        </p:spPr>
        <p:txBody>
          <a:bodyPr wrap="square" lIns="0" tIns="0" rIns="0" bIns="0" rtlCol="0" anchor="ctr"/>
          <a:lstStyle/>
          <a:p>
            <a:pPr marL="0" indent="0">
              <a:buNone/>
            </a:pPr>
            <a:r>
              <a:rPr lang="en-US" sz="3400" b="1" dirty="0">
                <a:solidFill>
                  <a:schemeClr val="tx1"/>
                </a:solidFill>
              </a:rPr>
              <a:t>76.0%</a:t>
            </a:r>
            <a:endParaRPr lang="en-US" sz="3400" dirty="0"/>
          </a:p>
        </p:txBody>
      </p:sp>
      <p:sp>
        <p:nvSpPr>
          <p:cNvPr id="16" name="Text 13"/>
          <p:cNvSpPr txBox="1"/>
          <p:nvPr/>
        </p:nvSpPr>
        <p:spPr>
          <a:xfrm>
            <a:off x="9738360" y="4800600"/>
            <a:ext cx="1721815" cy="320040"/>
          </a:xfrm>
          <a:prstGeom prst="rect">
            <a:avLst/>
          </a:prstGeom>
          <a:noFill/>
          <a:ln/>
        </p:spPr>
        <p:txBody>
          <a:bodyPr wrap="square" lIns="0" tIns="0" rIns="0" bIns="0" rtlCol="0" anchor="t"/>
          <a:lstStyle/>
          <a:p>
            <a:pPr marL="0" indent="0">
              <a:buNone/>
            </a:pPr>
            <a:r>
              <a:rPr lang="en-US" sz="1500" b="1" dirty="0">
                <a:solidFill>
                  <a:schemeClr val="tx1"/>
                </a:solidFill>
              </a:rPr>
              <a:t>1위 적중</a:t>
            </a:r>
            <a:endParaRPr lang="en-US" sz="1500" dirty="0"/>
          </a:p>
        </p:txBody>
      </p:sp>
      <p:sp>
        <p:nvSpPr>
          <p:cNvPr id="17" name="Text 14"/>
          <p:cNvSpPr txBox="1"/>
          <p:nvPr/>
        </p:nvSpPr>
        <p:spPr>
          <a:xfrm>
            <a:off x="9738360" y="5184648"/>
            <a:ext cx="1721815" cy="457200"/>
          </a:xfrm>
          <a:prstGeom prst="rect">
            <a:avLst/>
          </a:prstGeom>
          <a:noFill/>
          <a:ln/>
        </p:spPr>
        <p:txBody>
          <a:bodyPr wrap="square" lIns="0" tIns="0" rIns="0" bIns="0" rtlCol="0" anchor="t"/>
          <a:lstStyle/>
          <a:p>
            <a:pPr marL="0" indent="0">
              <a:buNone/>
            </a:pPr>
            <a:r>
              <a:rPr lang="en-US" sz="1200" dirty="0">
                <a:solidFill>
                  <a:schemeClr val="tx2"/>
                </a:solidFill>
              </a:rPr>
              <a:t>필터 쓴 키워드 66.0%</a:t>
            </a:r>
            <a:endParaRPr lang="en-US" sz="1200" dirty="0"/>
          </a:p>
        </p:txBody>
      </p:sp>
      <p:sp>
        <p:nvSpPr>
          <p:cNvPr id="18" name="Text 15"/>
          <p:cNvSpPr txBox="1"/>
          <p:nvPr/>
        </p:nvSpPr>
        <p:spPr>
          <a:xfrm>
            <a:off x="548640" y="5989320"/>
            <a:ext cx="11094415" cy="274320"/>
          </a:xfrm>
          <a:prstGeom prst="rect">
            <a:avLst/>
          </a:prstGeom>
          <a:noFill/>
          <a:ln/>
        </p:spPr>
        <p:txBody>
          <a:bodyPr wrap="square" lIns="0" tIns="0" rIns="0" bIns="0" rtlCol="0" anchor="t"/>
          <a:lstStyle/>
          <a:p>
            <a:pPr marL="0" indent="0">
              <a:buNone/>
            </a:pPr>
            <a:r>
              <a:rPr lang="en-US" sz="1000" dirty="0">
                <a:solidFill>
                  <a:schemeClr val="tx2"/>
                </a:solidFill>
              </a:rPr>
              <a:t>자체 구축 검증셋 (정답쌍 60건 + 방해 습득물 600건, 5회 반복 평균) · 계획서 권장 100쌍 중 60쌍 · 실데이터 평가는 향후 과제</a:t>
            </a:r>
            <a:endParaRPr lang="en-US" sz="10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AWS 서울 리전에서 운영 중인 서비스</a:t>
            </a:r>
            <a:endParaRPr lang="en-US" sz="3400" dirty="0"/>
          </a:p>
        </p:txBody>
      </p:sp>
      <p:sp>
        <p:nvSpPr>
          <p:cNvPr id="3" name="Arch 사용자"/>
          <p:cNvSpPr/>
          <p:nvPr/>
        </p:nvSpPr>
        <p:spPr>
          <a:xfrm>
            <a:off x="548640" y="1417320"/>
            <a:ext cx="2011680" cy="1234440"/>
          </a:xfrm>
          <a:prstGeom prst="roundRect">
            <a:avLst>
              <a:gd name="adj" fmla="val 11852"/>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4" name="Text 2"/>
          <p:cNvSpPr txBox="1"/>
          <p:nvPr/>
        </p:nvSpPr>
        <p:spPr>
          <a:xfrm>
            <a:off x="548640" y="1572768"/>
            <a:ext cx="2011680" cy="365760"/>
          </a:xfrm>
          <a:prstGeom prst="rect">
            <a:avLst/>
          </a:prstGeom>
          <a:noFill/>
          <a:ln/>
        </p:spPr>
        <p:txBody>
          <a:bodyPr wrap="square" lIns="0" tIns="0" rIns="0" bIns="0" rtlCol="0" anchor="t"/>
          <a:lstStyle/>
          <a:p>
            <a:pPr marL="0" indent="0" algn="ctr">
              <a:buNone/>
            </a:pPr>
            <a:r>
              <a:rPr lang="en-US" sz="1800" b="1" dirty="0">
                <a:solidFill>
                  <a:schemeClr val="tx1"/>
                </a:solidFill>
              </a:rPr>
              <a:t>사용자</a:t>
            </a:r>
            <a:endParaRPr lang="en-US" sz="1800" dirty="0"/>
          </a:p>
        </p:txBody>
      </p:sp>
      <p:sp>
        <p:nvSpPr>
          <p:cNvPr id="5" name="Text 3"/>
          <p:cNvSpPr txBox="1"/>
          <p:nvPr/>
        </p:nvSpPr>
        <p:spPr>
          <a:xfrm>
            <a:off x="640080" y="2011680"/>
            <a:ext cx="1828800" cy="548640"/>
          </a:xfrm>
          <a:prstGeom prst="rect">
            <a:avLst/>
          </a:prstGeom>
          <a:noFill/>
          <a:ln/>
        </p:spPr>
        <p:txBody>
          <a:bodyPr wrap="square" lIns="0" tIns="0" rIns="0" bIns="0" rtlCol="0" anchor="t"/>
          <a:lstStyle/>
          <a:p>
            <a:pPr marL="0" indent="0" algn="ctr">
              <a:buNone/>
            </a:pPr>
            <a:r>
              <a:rPr lang="en-US" sz="1200" dirty="0">
                <a:solidFill>
                  <a:schemeClr val="tx2"/>
                </a:solidFill>
              </a:rPr>
              <a:t>브라우저</a:t>
            </a:r>
            <a:endParaRPr lang="en-US" sz="1200" dirty="0"/>
          </a:p>
        </p:txBody>
      </p:sp>
      <p:sp>
        <p:nvSpPr>
          <p:cNvPr id="6" name="Text 4"/>
          <p:cNvSpPr txBox="1"/>
          <p:nvPr/>
        </p:nvSpPr>
        <p:spPr>
          <a:xfrm>
            <a:off x="2560320" y="1554480"/>
            <a:ext cx="406298"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7" name="Arch CloudFront"/>
          <p:cNvSpPr/>
          <p:nvPr/>
        </p:nvSpPr>
        <p:spPr>
          <a:xfrm>
            <a:off x="2966618" y="1417320"/>
            <a:ext cx="2468880" cy="1234440"/>
          </a:xfrm>
          <a:prstGeom prst="roundRect">
            <a:avLst>
              <a:gd name="adj" fmla="val 11852"/>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8" name="Text 6"/>
          <p:cNvSpPr txBox="1"/>
          <p:nvPr/>
        </p:nvSpPr>
        <p:spPr>
          <a:xfrm>
            <a:off x="2966618" y="1572768"/>
            <a:ext cx="2468880" cy="365760"/>
          </a:xfrm>
          <a:prstGeom prst="rect">
            <a:avLst/>
          </a:prstGeom>
          <a:noFill/>
          <a:ln/>
        </p:spPr>
        <p:txBody>
          <a:bodyPr wrap="square" lIns="0" tIns="0" rIns="0" bIns="0" rtlCol="0" anchor="t"/>
          <a:lstStyle/>
          <a:p>
            <a:pPr marL="0" indent="0" algn="ctr">
              <a:buNone/>
            </a:pPr>
            <a:r>
              <a:rPr lang="en-US" sz="1800" b="1" dirty="0">
                <a:solidFill>
                  <a:schemeClr val="tx1"/>
                </a:solidFill>
              </a:rPr>
              <a:t>CloudFront</a:t>
            </a:r>
            <a:endParaRPr lang="en-US" sz="1800" dirty="0"/>
          </a:p>
        </p:txBody>
      </p:sp>
      <p:sp>
        <p:nvSpPr>
          <p:cNvPr id="9" name="Text 7"/>
          <p:cNvSpPr txBox="1"/>
          <p:nvPr/>
        </p:nvSpPr>
        <p:spPr>
          <a:xfrm>
            <a:off x="3058058" y="2011680"/>
            <a:ext cx="2286000" cy="548640"/>
          </a:xfrm>
          <a:prstGeom prst="rect">
            <a:avLst/>
          </a:prstGeom>
          <a:noFill/>
          <a:ln/>
        </p:spPr>
        <p:txBody>
          <a:bodyPr wrap="square" lIns="0" tIns="0" rIns="0" bIns="0" rtlCol="0" anchor="t"/>
          <a:lstStyle/>
          <a:p>
            <a:pPr marL="0" indent="0" algn="ctr">
              <a:buNone/>
            </a:pPr>
            <a:r>
              <a:rPr lang="en-US" sz="1200" dirty="0">
                <a:solidFill>
                  <a:schemeClr val="tx2"/>
                </a:solidFill>
              </a:rPr>
              <a:t>HTTPS · 이미지 S3</a:t>
            </a:r>
            <a:endParaRPr lang="en-US" sz="1200" dirty="0"/>
          </a:p>
        </p:txBody>
      </p:sp>
      <p:sp>
        <p:nvSpPr>
          <p:cNvPr id="10" name="Text 8"/>
          <p:cNvSpPr txBox="1"/>
          <p:nvPr/>
        </p:nvSpPr>
        <p:spPr>
          <a:xfrm>
            <a:off x="5435498" y="1554480"/>
            <a:ext cx="406298"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1" name="Arch EC2 (Docker)"/>
          <p:cNvSpPr/>
          <p:nvPr/>
        </p:nvSpPr>
        <p:spPr>
          <a:xfrm>
            <a:off x="5841797" y="1417320"/>
            <a:ext cx="3383280" cy="1234440"/>
          </a:xfrm>
          <a:prstGeom prst="roundRect">
            <a:avLst>
              <a:gd name="adj" fmla="val 11852"/>
            </a:avLst>
          </a:prstGeom>
          <a:solidFill>
            <a:schemeClr val="tx1"/>
          </a:solidFill>
          <a:ln w="12700">
            <a:solidFill>
              <a:schemeClr val="tx1"/>
            </a:solidFill>
            <a:prstDash val="solid"/>
          </a:ln>
        </p:spPr>
        <p:txBody>
          <a:bodyPr/>
          <a:lstStyle/>
          <a:p>
            <a:endParaRPr lang="ko-KR" altLang="en-US"/>
          </a:p>
        </p:txBody>
      </p:sp>
      <p:sp>
        <p:nvSpPr>
          <p:cNvPr id="12" name="Text 10"/>
          <p:cNvSpPr txBox="1"/>
          <p:nvPr/>
        </p:nvSpPr>
        <p:spPr>
          <a:xfrm>
            <a:off x="5841797" y="1572768"/>
            <a:ext cx="3383280" cy="365760"/>
          </a:xfrm>
          <a:prstGeom prst="rect">
            <a:avLst/>
          </a:prstGeom>
          <a:noFill/>
          <a:ln/>
        </p:spPr>
        <p:txBody>
          <a:bodyPr wrap="square" lIns="0" tIns="0" rIns="0" bIns="0" rtlCol="0" anchor="t"/>
          <a:lstStyle/>
          <a:p>
            <a:pPr marL="0" indent="0" algn="ctr">
              <a:buNone/>
            </a:pPr>
            <a:r>
              <a:rPr lang="en-US" sz="1800" b="1" dirty="0">
                <a:solidFill>
                  <a:schemeClr val="bg1"/>
                </a:solidFill>
              </a:rPr>
              <a:t>EC2 (Docker)</a:t>
            </a:r>
            <a:endParaRPr lang="en-US" sz="1800" dirty="0"/>
          </a:p>
        </p:txBody>
      </p:sp>
      <p:sp>
        <p:nvSpPr>
          <p:cNvPr id="13" name="Text 11"/>
          <p:cNvSpPr txBox="1"/>
          <p:nvPr/>
        </p:nvSpPr>
        <p:spPr>
          <a:xfrm>
            <a:off x="5933237" y="2011680"/>
            <a:ext cx="3200400" cy="548640"/>
          </a:xfrm>
          <a:prstGeom prst="rect">
            <a:avLst/>
          </a:prstGeom>
          <a:noFill/>
          <a:ln/>
        </p:spPr>
        <p:txBody>
          <a:bodyPr wrap="square" lIns="0" tIns="0" rIns="0" bIns="0" rtlCol="0" anchor="t"/>
          <a:lstStyle/>
          <a:p>
            <a:pPr marL="0" indent="0" algn="ctr">
              <a:buNone/>
            </a:pPr>
            <a:r>
              <a:rPr lang="en-US" sz="1200" dirty="0">
                <a:solidFill>
                  <a:schemeClr val="accent6"/>
                </a:solidFill>
              </a:rPr>
              <a:t>Next.js · FastAPI · PostgreSQL</a:t>
            </a:r>
            <a:endParaRPr lang="en-US" sz="1200" dirty="0"/>
          </a:p>
          <a:p>
            <a:pPr marL="0" indent="0" algn="ctr">
              <a:buNone/>
            </a:pPr>
            <a:r>
              <a:rPr lang="en-US" sz="1200" dirty="0">
                <a:solidFill>
                  <a:schemeClr val="accent6"/>
                </a:solidFill>
              </a:rPr>
              <a:t>매일 수집 Cron</a:t>
            </a:r>
            <a:endParaRPr lang="en-US" sz="1200" dirty="0"/>
          </a:p>
        </p:txBody>
      </p:sp>
      <p:sp>
        <p:nvSpPr>
          <p:cNvPr id="14" name="Text 12"/>
          <p:cNvSpPr txBox="1"/>
          <p:nvPr/>
        </p:nvSpPr>
        <p:spPr>
          <a:xfrm>
            <a:off x="9225077" y="1554480"/>
            <a:ext cx="406298" cy="731520"/>
          </a:xfrm>
          <a:prstGeom prst="rect">
            <a:avLst/>
          </a:prstGeom>
          <a:noFill/>
          <a:ln/>
        </p:spPr>
        <p:txBody>
          <a:bodyPr wrap="square" lIns="0" tIns="0" rIns="0" bIns="0" rtlCol="0" anchor="ctr"/>
          <a:lstStyle/>
          <a:p>
            <a:pPr marL="0" indent="0" algn="ctr">
              <a:buNone/>
            </a:pPr>
            <a:r>
              <a:rPr lang="en-US" sz="2400" b="1" dirty="0">
                <a:solidFill>
                  <a:schemeClr val="tx2"/>
                </a:solidFill>
              </a:rPr>
              <a:t>›</a:t>
            </a:r>
            <a:endParaRPr lang="en-US" sz="2400" dirty="0"/>
          </a:p>
        </p:txBody>
      </p:sp>
      <p:sp>
        <p:nvSpPr>
          <p:cNvPr id="15" name="Arch LOST112"/>
          <p:cNvSpPr/>
          <p:nvPr/>
        </p:nvSpPr>
        <p:spPr>
          <a:xfrm>
            <a:off x="9631375" y="1417320"/>
            <a:ext cx="2011680" cy="1234440"/>
          </a:xfrm>
          <a:prstGeom prst="roundRect">
            <a:avLst>
              <a:gd name="adj" fmla="val 11852"/>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6" name="Text 14"/>
          <p:cNvSpPr txBox="1"/>
          <p:nvPr/>
        </p:nvSpPr>
        <p:spPr>
          <a:xfrm>
            <a:off x="9631375" y="1572768"/>
            <a:ext cx="2011680" cy="365760"/>
          </a:xfrm>
          <a:prstGeom prst="rect">
            <a:avLst/>
          </a:prstGeom>
          <a:noFill/>
          <a:ln/>
        </p:spPr>
        <p:txBody>
          <a:bodyPr wrap="square" lIns="0" tIns="0" rIns="0" bIns="0" rtlCol="0" anchor="t"/>
          <a:lstStyle/>
          <a:p>
            <a:pPr marL="0" indent="0" algn="ctr">
              <a:buNone/>
            </a:pPr>
            <a:r>
              <a:rPr lang="en-US" sz="1800" b="1" dirty="0">
                <a:solidFill>
                  <a:schemeClr val="tx1"/>
                </a:solidFill>
              </a:rPr>
              <a:t>LOST112</a:t>
            </a:r>
            <a:endParaRPr lang="en-US" sz="1800" dirty="0"/>
          </a:p>
        </p:txBody>
      </p:sp>
      <p:sp>
        <p:nvSpPr>
          <p:cNvPr id="17" name="Text 15"/>
          <p:cNvSpPr txBox="1"/>
          <p:nvPr/>
        </p:nvSpPr>
        <p:spPr>
          <a:xfrm>
            <a:off x="9722815" y="2011680"/>
            <a:ext cx="1828800" cy="548640"/>
          </a:xfrm>
          <a:prstGeom prst="rect">
            <a:avLst/>
          </a:prstGeom>
          <a:noFill/>
          <a:ln/>
        </p:spPr>
        <p:txBody>
          <a:bodyPr wrap="square" lIns="0" tIns="0" rIns="0" bIns="0" rtlCol="0" anchor="t"/>
          <a:lstStyle/>
          <a:p>
            <a:pPr marL="0" indent="0" algn="ctr">
              <a:buNone/>
            </a:pPr>
            <a:r>
              <a:rPr lang="en-US" sz="1200" dirty="0">
                <a:solidFill>
                  <a:schemeClr val="tx2"/>
                </a:solidFill>
              </a:rPr>
              <a:t>경찰청 공공데이터</a:t>
            </a:r>
            <a:endParaRPr lang="en-US" sz="1200" dirty="0"/>
          </a:p>
        </p:txBody>
      </p:sp>
      <p:sp>
        <p:nvSpPr>
          <p:cNvPr id="18" name="Stat 4.5ms"/>
          <p:cNvSpPr/>
          <p:nvPr/>
        </p:nvSpPr>
        <p:spPr>
          <a:xfrm>
            <a:off x="548640" y="2880360"/>
            <a:ext cx="2567864" cy="1371600"/>
          </a:xfrm>
          <a:prstGeom prst="roundRect">
            <a:avLst>
              <a:gd name="adj" fmla="val 10667"/>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9" name="Text 17"/>
          <p:cNvSpPr txBox="1"/>
          <p:nvPr/>
        </p:nvSpPr>
        <p:spPr>
          <a:xfrm>
            <a:off x="822960" y="2999232"/>
            <a:ext cx="2019224" cy="548640"/>
          </a:xfrm>
          <a:prstGeom prst="rect">
            <a:avLst/>
          </a:prstGeom>
          <a:noFill/>
          <a:ln/>
        </p:spPr>
        <p:txBody>
          <a:bodyPr wrap="square" lIns="0" tIns="0" rIns="0" bIns="0" rtlCol="0" anchor="ctr"/>
          <a:lstStyle/>
          <a:p>
            <a:pPr marL="0" indent="0">
              <a:buNone/>
            </a:pPr>
            <a:r>
              <a:rPr lang="en-US" sz="3200" b="1" dirty="0">
                <a:solidFill>
                  <a:schemeClr val="tx1"/>
                </a:solidFill>
              </a:rPr>
              <a:t>4.5ms</a:t>
            </a:r>
            <a:endParaRPr lang="en-US" sz="3200" dirty="0"/>
          </a:p>
        </p:txBody>
      </p:sp>
      <p:sp>
        <p:nvSpPr>
          <p:cNvPr id="20" name="Text 18"/>
          <p:cNvSpPr txBox="1"/>
          <p:nvPr/>
        </p:nvSpPr>
        <p:spPr>
          <a:xfrm>
            <a:off x="822960" y="3611880"/>
            <a:ext cx="2019224" cy="548640"/>
          </a:xfrm>
          <a:prstGeom prst="rect">
            <a:avLst/>
          </a:prstGeom>
          <a:noFill/>
          <a:ln/>
        </p:spPr>
        <p:txBody>
          <a:bodyPr wrap="square" lIns="0" tIns="0" rIns="0" bIns="0" rtlCol="0" anchor="t"/>
          <a:lstStyle/>
          <a:p>
            <a:pPr marL="0" indent="0">
              <a:buNone/>
            </a:pPr>
            <a:r>
              <a:rPr lang="en-US" sz="1200" dirty="0">
                <a:solidFill>
                  <a:schemeClr val="tx2"/>
                </a:solidFill>
              </a:rPr>
              <a:t>분실물 1건 임베딩</a:t>
            </a:r>
            <a:endParaRPr lang="en-US" sz="1200" dirty="0"/>
          </a:p>
          <a:p>
            <a:pPr marL="0" indent="0">
              <a:buNone/>
            </a:pPr>
            <a:r>
              <a:rPr lang="en-US" sz="1200" dirty="0">
                <a:solidFill>
                  <a:schemeClr val="tx2"/>
                </a:solidFill>
              </a:rPr>
              <a:t>(CPU, 중앙값)</a:t>
            </a:r>
            <a:endParaRPr lang="en-US" sz="1200" dirty="0"/>
          </a:p>
        </p:txBody>
      </p:sp>
      <p:sp>
        <p:nvSpPr>
          <p:cNvPr id="21" name="Stat 0.7ms"/>
          <p:cNvSpPr/>
          <p:nvPr/>
        </p:nvSpPr>
        <p:spPr>
          <a:xfrm>
            <a:off x="3390824" y="2880360"/>
            <a:ext cx="2567864" cy="1371600"/>
          </a:xfrm>
          <a:prstGeom prst="roundRect">
            <a:avLst>
              <a:gd name="adj" fmla="val 10667"/>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22" name="Text 20"/>
          <p:cNvSpPr txBox="1"/>
          <p:nvPr/>
        </p:nvSpPr>
        <p:spPr>
          <a:xfrm>
            <a:off x="3665144" y="2999232"/>
            <a:ext cx="2019224" cy="548640"/>
          </a:xfrm>
          <a:prstGeom prst="rect">
            <a:avLst/>
          </a:prstGeom>
          <a:noFill/>
          <a:ln/>
        </p:spPr>
        <p:txBody>
          <a:bodyPr wrap="square" lIns="0" tIns="0" rIns="0" bIns="0" rtlCol="0" anchor="ctr"/>
          <a:lstStyle/>
          <a:p>
            <a:pPr marL="0" indent="0">
              <a:buNone/>
            </a:pPr>
            <a:r>
              <a:rPr lang="en-US" sz="3200" b="1" dirty="0">
                <a:solidFill>
                  <a:schemeClr val="tx1"/>
                </a:solidFill>
              </a:rPr>
              <a:t>0.7ms</a:t>
            </a:r>
            <a:endParaRPr lang="en-US" sz="3200" dirty="0"/>
          </a:p>
        </p:txBody>
      </p:sp>
      <p:sp>
        <p:nvSpPr>
          <p:cNvPr id="23" name="Text 21"/>
          <p:cNvSpPr txBox="1"/>
          <p:nvPr/>
        </p:nvSpPr>
        <p:spPr>
          <a:xfrm>
            <a:off x="3665144" y="3611880"/>
            <a:ext cx="2019224" cy="548640"/>
          </a:xfrm>
          <a:prstGeom prst="rect">
            <a:avLst/>
          </a:prstGeom>
          <a:noFill/>
          <a:ln/>
        </p:spPr>
        <p:txBody>
          <a:bodyPr wrap="square" lIns="0" tIns="0" rIns="0" bIns="0" rtlCol="0" anchor="t"/>
          <a:lstStyle/>
          <a:p>
            <a:pPr marL="0" indent="0">
              <a:buNone/>
            </a:pPr>
            <a:r>
              <a:rPr lang="en-US" sz="1200" dirty="0">
                <a:solidFill>
                  <a:schemeClr val="tx2"/>
                </a:solidFill>
              </a:rPr>
              <a:t>습득물 660건 비교·점수화</a:t>
            </a:r>
            <a:endParaRPr lang="en-US" sz="1200" dirty="0"/>
          </a:p>
          <a:p>
            <a:pPr marL="0" indent="0">
              <a:buNone/>
            </a:pPr>
            <a:r>
              <a:rPr lang="en-US" sz="1200" dirty="0">
                <a:solidFill>
                  <a:schemeClr val="tx2"/>
                </a:solidFill>
              </a:rPr>
              <a:t>(AI 연산만, DB 제외)</a:t>
            </a:r>
            <a:endParaRPr lang="en-US" sz="1200" dirty="0"/>
          </a:p>
        </p:txBody>
      </p:sp>
      <p:sp>
        <p:nvSpPr>
          <p:cNvPr id="24" name="Stat 23개"/>
          <p:cNvSpPr/>
          <p:nvPr/>
        </p:nvSpPr>
        <p:spPr>
          <a:xfrm>
            <a:off x="6233008" y="2880360"/>
            <a:ext cx="2567864" cy="1371600"/>
          </a:xfrm>
          <a:prstGeom prst="roundRect">
            <a:avLst>
              <a:gd name="adj" fmla="val 10667"/>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25" name="Text 23"/>
          <p:cNvSpPr txBox="1"/>
          <p:nvPr/>
        </p:nvSpPr>
        <p:spPr>
          <a:xfrm>
            <a:off x="6507328" y="2999232"/>
            <a:ext cx="2019224" cy="548640"/>
          </a:xfrm>
          <a:prstGeom prst="rect">
            <a:avLst/>
          </a:prstGeom>
          <a:noFill/>
          <a:ln/>
        </p:spPr>
        <p:txBody>
          <a:bodyPr wrap="square" lIns="0" tIns="0" rIns="0" bIns="0" rtlCol="0" anchor="ctr"/>
          <a:lstStyle/>
          <a:p>
            <a:pPr marL="0" indent="0">
              <a:buNone/>
            </a:pPr>
            <a:r>
              <a:rPr lang="en-US" sz="3200" b="1" dirty="0">
                <a:solidFill>
                  <a:schemeClr val="tx1"/>
                </a:solidFill>
              </a:rPr>
              <a:t>23개</a:t>
            </a:r>
            <a:endParaRPr lang="en-US" sz="3200" dirty="0"/>
          </a:p>
        </p:txBody>
      </p:sp>
      <p:sp>
        <p:nvSpPr>
          <p:cNvPr id="26" name="Text 24"/>
          <p:cNvSpPr txBox="1"/>
          <p:nvPr/>
        </p:nvSpPr>
        <p:spPr>
          <a:xfrm>
            <a:off x="6507328" y="3611880"/>
            <a:ext cx="2019224" cy="548640"/>
          </a:xfrm>
          <a:prstGeom prst="rect">
            <a:avLst/>
          </a:prstGeom>
          <a:noFill/>
          <a:ln/>
        </p:spPr>
        <p:txBody>
          <a:bodyPr wrap="square" lIns="0" tIns="0" rIns="0" bIns="0" rtlCol="0" anchor="t"/>
          <a:lstStyle/>
          <a:p>
            <a:pPr marL="0" indent="0">
              <a:buNone/>
            </a:pPr>
            <a:r>
              <a:rPr lang="en-US" sz="1200" dirty="0">
                <a:solidFill>
                  <a:schemeClr val="tx2"/>
                </a:solidFill>
              </a:rPr>
              <a:t>자동 테스트</a:t>
            </a:r>
            <a:endParaRPr lang="en-US" sz="1200" dirty="0"/>
          </a:p>
          <a:p>
            <a:pPr marL="0" indent="0">
              <a:buNone/>
            </a:pPr>
            <a:r>
              <a:rPr lang="en-US" sz="1200" dirty="0">
                <a:solidFill>
                  <a:schemeClr val="tx2"/>
                </a:solidFill>
              </a:rPr>
              <a:t>(지역·점수·인덱스 등)</a:t>
            </a:r>
            <a:endParaRPr lang="en-US" sz="1200" dirty="0"/>
          </a:p>
        </p:txBody>
      </p:sp>
      <p:sp>
        <p:nvSpPr>
          <p:cNvPr id="27" name="Stat 38회"/>
          <p:cNvSpPr/>
          <p:nvPr/>
        </p:nvSpPr>
        <p:spPr>
          <a:xfrm>
            <a:off x="9075191" y="2880360"/>
            <a:ext cx="2567864" cy="1371600"/>
          </a:xfrm>
          <a:prstGeom prst="roundRect">
            <a:avLst>
              <a:gd name="adj" fmla="val 10667"/>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28" name="Text 26"/>
          <p:cNvSpPr txBox="1"/>
          <p:nvPr/>
        </p:nvSpPr>
        <p:spPr>
          <a:xfrm>
            <a:off x="9349511" y="2999232"/>
            <a:ext cx="2019224" cy="548640"/>
          </a:xfrm>
          <a:prstGeom prst="rect">
            <a:avLst/>
          </a:prstGeom>
          <a:noFill/>
          <a:ln/>
        </p:spPr>
        <p:txBody>
          <a:bodyPr wrap="square" lIns="0" tIns="0" rIns="0" bIns="0" rtlCol="0" anchor="ctr"/>
          <a:lstStyle/>
          <a:p>
            <a:pPr marL="0" indent="0">
              <a:buNone/>
            </a:pPr>
            <a:r>
              <a:rPr lang="en-US" sz="3200" b="1" dirty="0">
                <a:solidFill>
                  <a:schemeClr val="tx1"/>
                </a:solidFill>
              </a:rPr>
              <a:t>38회</a:t>
            </a:r>
            <a:endParaRPr lang="en-US" sz="3200" dirty="0"/>
          </a:p>
        </p:txBody>
      </p:sp>
      <p:sp>
        <p:nvSpPr>
          <p:cNvPr id="29" name="Text 27"/>
          <p:cNvSpPr txBox="1"/>
          <p:nvPr/>
        </p:nvSpPr>
        <p:spPr>
          <a:xfrm>
            <a:off x="9349511" y="3611880"/>
            <a:ext cx="2019224" cy="548640"/>
          </a:xfrm>
          <a:prstGeom prst="rect">
            <a:avLst/>
          </a:prstGeom>
          <a:noFill/>
          <a:ln/>
        </p:spPr>
        <p:txBody>
          <a:bodyPr wrap="square" lIns="0" tIns="0" rIns="0" bIns="0" rtlCol="0" anchor="t"/>
          <a:lstStyle/>
          <a:p>
            <a:pPr marL="0" indent="0">
              <a:buNone/>
            </a:pPr>
            <a:r>
              <a:rPr lang="en-US" sz="1200" dirty="0">
                <a:solidFill>
                  <a:schemeClr val="tx2"/>
                </a:solidFill>
              </a:rPr>
              <a:t>커밋 · 2026.7.20부터</a:t>
            </a:r>
            <a:endParaRPr lang="en-US" sz="1200" dirty="0"/>
          </a:p>
          <a:p>
            <a:pPr marL="0" indent="0">
              <a:buNone/>
            </a:pPr>
            <a:r>
              <a:rPr lang="en-US" sz="1200" dirty="0">
                <a:solidFill>
                  <a:schemeClr val="tx2"/>
                </a:solidFill>
              </a:rPr>
              <a:t>3개월 개발</a:t>
            </a:r>
            <a:endParaRPr lang="en-US" sz="1200" dirty="0"/>
          </a:p>
        </p:txBody>
      </p:sp>
      <p:sp>
        <p:nvSpPr>
          <p:cNvPr id="30" name="Repo tree"/>
          <p:cNvSpPr/>
          <p:nvPr/>
        </p:nvSpPr>
        <p:spPr>
          <a:xfrm>
            <a:off x="548640" y="4480560"/>
            <a:ext cx="6583680" cy="1691640"/>
          </a:xfrm>
          <a:prstGeom prst="roundRect">
            <a:avLst>
              <a:gd name="adj" fmla="val 8649"/>
            </a:avLst>
          </a:prstGeom>
          <a:solidFill>
            <a:schemeClr val="accent1"/>
          </a:solidFill>
          <a:ln w="12700">
            <a:solidFill>
              <a:schemeClr val="accent1"/>
            </a:solidFill>
            <a:prstDash val="solid"/>
          </a:ln>
        </p:spPr>
        <p:txBody>
          <a:bodyPr/>
          <a:lstStyle/>
          <a:p>
            <a:endParaRPr lang="ko-KR" altLang="en-US"/>
          </a:p>
        </p:txBody>
      </p:sp>
      <p:sp>
        <p:nvSpPr>
          <p:cNvPr id="31" name="Text 29"/>
          <p:cNvSpPr txBox="1"/>
          <p:nvPr/>
        </p:nvSpPr>
        <p:spPr>
          <a:xfrm>
            <a:off x="822960" y="4663440"/>
            <a:ext cx="6035040" cy="274320"/>
          </a:xfrm>
          <a:prstGeom prst="rect">
            <a:avLst/>
          </a:prstGeom>
          <a:noFill/>
          <a:ln/>
        </p:spPr>
        <p:txBody>
          <a:bodyPr wrap="square" lIns="0" tIns="0" rIns="0" bIns="0" rtlCol="0" anchor="t"/>
          <a:lstStyle/>
          <a:p>
            <a:pPr marL="0" indent="0">
              <a:buNone/>
            </a:pPr>
            <a:r>
              <a:rPr lang="en-US" sz="1100" dirty="0">
                <a:solidFill>
                  <a:schemeClr val="accent6"/>
                </a:solidFill>
                <a:latin typeface="Menlo" pitchFamily="34" charset="0"/>
                <a:ea typeface="Menlo" pitchFamily="34" charset="-122"/>
                <a:cs typeface="Menlo" pitchFamily="34" charset="-120"/>
              </a:rPr>
              <a:t>ICTbuild-upProject/</a:t>
            </a:r>
            <a:endParaRPr lang="en-US" sz="1100" dirty="0"/>
          </a:p>
        </p:txBody>
      </p:sp>
      <p:sp>
        <p:nvSpPr>
          <p:cNvPr id="32" name="Repo tree code"/>
          <p:cNvSpPr txBox="1"/>
          <p:nvPr/>
        </p:nvSpPr>
        <p:spPr>
          <a:xfrm>
            <a:off x="822960" y="5029200"/>
            <a:ext cx="6035040" cy="960120"/>
          </a:xfrm>
          <a:prstGeom prst="rect">
            <a:avLst/>
          </a:prstGeom>
          <a:noFill/>
          <a:ln/>
        </p:spPr>
        <p:txBody>
          <a:bodyPr wrap="square" lIns="0" tIns="0" rIns="0" bIns="0" rtlCol="0" anchor="t"/>
          <a:lstStyle/>
          <a:p>
            <a:pPr marL="0" indent="0">
              <a:spcAft>
                <a:spcPts val="200"/>
              </a:spcAft>
              <a:buNone/>
            </a:pPr>
            <a:r>
              <a:rPr lang="en-US" sz="1300" dirty="0">
                <a:solidFill>
                  <a:srgbClr val="D1D1D6"/>
                </a:solidFill>
                <a:latin typeface="Menlo" pitchFamily="34" charset="0"/>
                <a:ea typeface="Menlo" pitchFamily="34" charset="-122"/>
                <a:cs typeface="Menlo" pitchFamily="34" charset="-120"/>
              </a:rPr>
              <a:t>frontend</a:t>
            </a:r>
            <a:r>
              <a:rPr lang="en-US" sz="1300" dirty="0">
                <a:solidFill>
                  <a:schemeClr val="bg1"/>
                </a:solidFill>
                <a:latin typeface="Menlo" pitchFamily="34" charset="0"/>
                <a:ea typeface="Menlo" pitchFamily="34" charset="-122"/>
                <a:cs typeface="Menlo" pitchFamily="34" charset="-120"/>
              </a:rPr>
              <a:t>/      </a:t>
            </a:r>
            <a:r>
              <a:rPr lang="en-US" sz="1300" dirty="0">
                <a:solidFill>
                  <a:srgbClr val="D1D1D6"/>
                </a:solidFill>
                <a:latin typeface="Menlo" pitchFamily="34" charset="0"/>
                <a:ea typeface="Menlo" pitchFamily="34" charset="-122"/>
                <a:cs typeface="Menlo" pitchFamily="34" charset="-120"/>
              </a:rPr>
              <a:t>Next</a:t>
            </a:r>
            <a:r>
              <a:rPr lang="en-US" sz="1300" dirty="0">
                <a:solidFill>
                  <a:schemeClr val="bg1"/>
                </a:solidFill>
                <a:latin typeface="Menlo" pitchFamily="34" charset="0"/>
                <a:ea typeface="Menlo" pitchFamily="34" charset="-122"/>
                <a:cs typeface="Menlo" pitchFamily="34" charset="-120"/>
              </a:rPr>
              <a:t>.</a:t>
            </a:r>
            <a:r>
              <a:rPr lang="en-US" sz="1300" dirty="0">
                <a:solidFill>
                  <a:srgbClr val="D1D1D6"/>
                </a:solidFill>
                <a:latin typeface="Menlo" pitchFamily="34" charset="0"/>
                <a:ea typeface="Menlo" pitchFamily="34" charset="-122"/>
                <a:cs typeface="Menlo" pitchFamily="34" charset="-120"/>
              </a:rPr>
              <a:t>js</a:t>
            </a:r>
            <a:r>
              <a:rPr lang="en-US" sz="1300" dirty="0">
                <a:solidFill>
                  <a:schemeClr val="bg1"/>
                </a:solidFill>
                <a:latin typeface="Menlo" pitchFamily="34" charset="0"/>
                <a:ea typeface="Menlo" pitchFamily="34" charset="-122"/>
                <a:cs typeface="Menlo" pitchFamily="34" charset="-120"/>
              </a:rPr>
              <a:t> </a:t>
            </a:r>
            <a:r>
              <a:rPr lang="en-US" sz="1300" dirty="0">
                <a:solidFill>
                  <a:srgbClr val="FFB340"/>
                </a:solidFill>
                <a:latin typeface="Menlo" pitchFamily="34" charset="0"/>
                <a:ea typeface="Menlo" pitchFamily="34" charset="-122"/>
                <a:cs typeface="Menlo" pitchFamily="34" charset="-120"/>
              </a:rPr>
              <a:t>16</a:t>
            </a:r>
            <a:r>
              <a:rPr lang="en-US" sz="1300" dirty="0">
                <a:solidFill>
                  <a:schemeClr val="bg1"/>
                </a:solidFill>
                <a:latin typeface="Menlo" pitchFamily="34" charset="0"/>
                <a:ea typeface="Menlo" pitchFamily="34" charset="-122"/>
                <a:cs typeface="Menlo" pitchFamily="34" charset="-120"/>
              </a:rPr>
              <a:t> · </a:t>
            </a:r>
            <a:r>
              <a:rPr lang="en-US" sz="1300" dirty="0">
                <a:solidFill>
                  <a:srgbClr val="D1D1D6"/>
                </a:solidFill>
                <a:latin typeface="Menlo" pitchFamily="34" charset="0"/>
                <a:ea typeface="Menlo" pitchFamily="34" charset="-122"/>
                <a:cs typeface="Menlo" pitchFamily="34" charset="-120"/>
              </a:rPr>
              <a:t>React</a:t>
            </a:r>
            <a:r>
              <a:rPr lang="en-US" sz="1300" dirty="0">
                <a:solidFill>
                  <a:schemeClr val="bg1"/>
                </a:solidFill>
                <a:latin typeface="Menlo" pitchFamily="34" charset="0"/>
                <a:ea typeface="Menlo" pitchFamily="34" charset="-122"/>
                <a:cs typeface="Menlo" pitchFamily="34" charset="-120"/>
              </a:rPr>
              <a:t> </a:t>
            </a:r>
            <a:r>
              <a:rPr lang="en-US" sz="1300" dirty="0">
                <a:solidFill>
                  <a:srgbClr val="FFB340"/>
                </a:solidFill>
                <a:latin typeface="Menlo" pitchFamily="34" charset="0"/>
                <a:ea typeface="Menlo" pitchFamily="34" charset="-122"/>
                <a:cs typeface="Menlo" pitchFamily="34" charset="-120"/>
              </a:rPr>
              <a:t>19</a:t>
            </a:r>
            <a:r>
              <a:rPr lang="en-US" sz="1300" dirty="0">
                <a:solidFill>
                  <a:schemeClr val="bg1"/>
                </a:solidFill>
                <a:latin typeface="Menlo" pitchFamily="34" charset="0"/>
                <a:ea typeface="Menlo" pitchFamily="34" charset="-122"/>
                <a:cs typeface="Menlo" pitchFamily="34" charset="-120"/>
              </a:rPr>
              <a:t> · </a:t>
            </a:r>
            <a:r>
              <a:rPr lang="en-US" sz="1300" dirty="0">
                <a:solidFill>
                  <a:srgbClr val="D1D1D6"/>
                </a:solidFill>
                <a:latin typeface="Menlo" pitchFamily="34" charset="0"/>
                <a:ea typeface="Menlo" pitchFamily="34" charset="-122"/>
                <a:cs typeface="Menlo" pitchFamily="34" charset="-120"/>
              </a:rPr>
              <a:t>Tailwind</a:t>
            </a:r>
            <a:r>
              <a:rPr lang="en-US" sz="1300" dirty="0">
                <a:solidFill>
                  <a:schemeClr val="bg1"/>
                </a:solidFill>
                <a:latin typeface="Menlo" pitchFamily="34" charset="0"/>
                <a:ea typeface="Menlo" pitchFamily="34" charset="-122"/>
                <a:cs typeface="Menlo" pitchFamily="34" charset="-120"/>
              </a:rPr>
              <a:t> </a:t>
            </a:r>
            <a:r>
              <a:rPr lang="en-US" sz="1300" dirty="0">
                <a:solidFill>
                  <a:srgbClr val="FFB340"/>
                </a:solidFill>
                <a:latin typeface="Menlo" pitchFamily="34" charset="0"/>
                <a:ea typeface="Menlo" pitchFamily="34" charset="-122"/>
                <a:cs typeface="Menlo" pitchFamily="34" charset="-120"/>
              </a:rPr>
              <a:t>4</a:t>
            </a:r>
            <a:endParaRPr lang="en-US" sz="1300" dirty="0"/>
          </a:p>
          <a:p>
            <a:pPr marL="0" indent="0">
              <a:spcAft>
                <a:spcPts val="200"/>
              </a:spcAft>
              <a:buNone/>
            </a:pPr>
            <a:r>
              <a:rPr lang="en-US" sz="1300" dirty="0">
                <a:solidFill>
                  <a:srgbClr val="D1D1D6"/>
                </a:solidFill>
                <a:latin typeface="Menlo" pitchFamily="34" charset="0"/>
                <a:ea typeface="Menlo" pitchFamily="34" charset="-122"/>
                <a:cs typeface="Menlo" pitchFamily="34" charset="-120"/>
              </a:rPr>
              <a:t>backend</a:t>
            </a:r>
            <a:r>
              <a:rPr lang="en-US" sz="1300" dirty="0">
                <a:solidFill>
                  <a:schemeClr val="bg1"/>
                </a:solidFill>
                <a:latin typeface="Menlo" pitchFamily="34" charset="0"/>
                <a:ea typeface="Menlo" pitchFamily="34" charset="-122"/>
                <a:cs typeface="Menlo" pitchFamily="34" charset="-120"/>
              </a:rPr>
              <a:t>/</a:t>
            </a:r>
            <a:r>
              <a:rPr lang="en-US" sz="1300" dirty="0">
                <a:solidFill>
                  <a:srgbClr val="D1D1D6"/>
                </a:solidFill>
                <a:latin typeface="Menlo" pitchFamily="34" charset="0"/>
                <a:ea typeface="Menlo" pitchFamily="34" charset="-122"/>
                <a:cs typeface="Menlo" pitchFamily="34" charset="-120"/>
              </a:rPr>
              <a:t>app</a:t>
            </a:r>
            <a:r>
              <a:rPr lang="en-US" sz="1300" dirty="0">
                <a:solidFill>
                  <a:schemeClr val="bg1"/>
                </a:solidFill>
                <a:latin typeface="Menlo" pitchFamily="34" charset="0"/>
                <a:ea typeface="Menlo" pitchFamily="34" charset="-122"/>
                <a:cs typeface="Menlo" pitchFamily="34" charset="-120"/>
              </a:rPr>
              <a:t>/</a:t>
            </a:r>
            <a:endParaRPr lang="en-US" sz="1300" dirty="0"/>
          </a:p>
          <a:p>
            <a:pPr marL="0" indent="0">
              <a:spcAft>
                <a:spcPts val="200"/>
              </a:spcAft>
              <a:buNone/>
            </a:pPr>
            <a:r>
              <a:rPr lang="en-US" sz="1300" dirty="0">
                <a:solidFill>
                  <a:schemeClr val="bg1"/>
                </a:solidFill>
                <a:latin typeface="Menlo" pitchFamily="34" charset="0"/>
                <a:ea typeface="Menlo" pitchFamily="34" charset="-122"/>
                <a:cs typeface="Menlo" pitchFamily="34" charset="-120"/>
              </a:rPr>
              <a:t>  </a:t>
            </a:r>
            <a:r>
              <a:rPr lang="en-US" sz="1300" dirty="0">
                <a:solidFill>
                  <a:srgbClr val="D1D1D6"/>
                </a:solidFill>
                <a:latin typeface="Menlo" pitchFamily="34" charset="0"/>
                <a:ea typeface="Menlo" pitchFamily="34" charset="-122"/>
                <a:cs typeface="Menlo" pitchFamily="34" charset="-120"/>
              </a:rPr>
              <a:t>ai</a:t>
            </a:r>
            <a:r>
              <a:rPr lang="en-US" sz="1300" dirty="0">
                <a:solidFill>
                  <a:schemeClr val="bg1"/>
                </a:solidFill>
                <a:latin typeface="Menlo" pitchFamily="34" charset="0"/>
                <a:ea typeface="Menlo" pitchFamily="34" charset="-122"/>
                <a:cs typeface="Menlo" pitchFamily="34" charset="-120"/>
              </a:rPr>
              <a:t>/          </a:t>
            </a:r>
            <a:r>
              <a:rPr lang="en-US" sz="1300" dirty="0">
                <a:solidFill>
                  <a:srgbClr val="D1D1D6"/>
                </a:solidFill>
                <a:latin typeface="Menlo" pitchFamily="34" charset="0"/>
                <a:ea typeface="Menlo" pitchFamily="34" charset="-122"/>
                <a:cs typeface="Menlo" pitchFamily="34" charset="-120"/>
              </a:rPr>
              <a:t>scorer</a:t>
            </a:r>
            <a:r>
              <a:rPr lang="en-US" sz="1300" dirty="0">
                <a:solidFill>
                  <a:schemeClr val="bg1"/>
                </a:solidFill>
                <a:latin typeface="Menlo" pitchFamily="34" charset="0"/>
                <a:ea typeface="Menlo" pitchFamily="34" charset="-122"/>
                <a:cs typeface="Menlo" pitchFamily="34" charset="-120"/>
              </a:rPr>
              <a:t> · </a:t>
            </a:r>
            <a:r>
              <a:rPr lang="en-US" sz="1300" dirty="0">
                <a:solidFill>
                  <a:srgbClr val="D1D1D6"/>
                </a:solidFill>
                <a:latin typeface="Menlo" pitchFamily="34" charset="0"/>
                <a:ea typeface="Menlo" pitchFamily="34" charset="-122"/>
                <a:cs typeface="Menlo" pitchFamily="34" charset="-120"/>
              </a:rPr>
              <a:t>text_encoder</a:t>
            </a:r>
            <a:r>
              <a:rPr lang="en-US" sz="1300" dirty="0">
                <a:solidFill>
                  <a:schemeClr val="bg1"/>
                </a:solidFill>
                <a:latin typeface="Menlo" pitchFamily="34" charset="0"/>
                <a:ea typeface="Menlo" pitchFamily="34" charset="-122"/>
                <a:cs typeface="Menlo" pitchFamily="34" charset="-120"/>
              </a:rPr>
              <a:t> · </a:t>
            </a:r>
            <a:r>
              <a:rPr lang="en-US" sz="1300" dirty="0">
                <a:solidFill>
                  <a:srgbClr val="D1D1D6"/>
                </a:solidFill>
                <a:latin typeface="Menlo" pitchFamily="34" charset="0"/>
                <a:ea typeface="Menlo" pitchFamily="34" charset="-122"/>
                <a:cs typeface="Menlo" pitchFamily="34" charset="-120"/>
              </a:rPr>
              <a:t>geo</a:t>
            </a:r>
            <a:endParaRPr lang="en-US" sz="1300" dirty="0"/>
          </a:p>
          <a:p>
            <a:pPr marL="0" indent="0">
              <a:spcAft>
                <a:spcPts val="200"/>
              </a:spcAft>
              <a:buNone/>
            </a:pPr>
            <a:r>
              <a:rPr lang="en-US" sz="1300" dirty="0">
                <a:solidFill>
                  <a:schemeClr val="bg1"/>
                </a:solidFill>
                <a:latin typeface="Menlo" pitchFamily="34" charset="0"/>
                <a:ea typeface="Menlo" pitchFamily="34" charset="-122"/>
                <a:cs typeface="Menlo" pitchFamily="34" charset="-120"/>
              </a:rPr>
              <a:t>  </a:t>
            </a:r>
            <a:r>
              <a:rPr lang="en-US" sz="1300" dirty="0">
                <a:solidFill>
                  <a:srgbClr val="D1D1D6"/>
                </a:solidFill>
                <a:latin typeface="Menlo" pitchFamily="34" charset="0"/>
                <a:ea typeface="Menlo" pitchFamily="34" charset="-122"/>
                <a:cs typeface="Menlo" pitchFamily="34" charset="-120"/>
              </a:rPr>
              <a:t>services</a:t>
            </a:r>
            <a:r>
              <a:rPr lang="en-US" sz="1300" dirty="0">
                <a:solidFill>
                  <a:schemeClr val="bg1"/>
                </a:solidFill>
                <a:latin typeface="Menlo" pitchFamily="34" charset="0"/>
                <a:ea typeface="Menlo" pitchFamily="34" charset="-122"/>
                <a:cs typeface="Menlo" pitchFamily="34" charset="-120"/>
              </a:rPr>
              <a:t>/    </a:t>
            </a:r>
            <a:r>
              <a:rPr lang="en-US" sz="1300" dirty="0">
                <a:solidFill>
                  <a:srgbClr val="D1D1D6"/>
                </a:solidFill>
                <a:latin typeface="Menlo" pitchFamily="34" charset="0"/>
                <a:ea typeface="Menlo" pitchFamily="34" charset="-122"/>
                <a:cs typeface="Menlo" pitchFamily="34" charset="-120"/>
              </a:rPr>
              <a:t>matching</a:t>
            </a:r>
            <a:r>
              <a:rPr lang="en-US" sz="1300" dirty="0">
                <a:solidFill>
                  <a:schemeClr val="bg1"/>
                </a:solidFill>
                <a:latin typeface="Menlo" pitchFamily="34" charset="0"/>
                <a:ea typeface="Menlo" pitchFamily="34" charset="-122"/>
                <a:cs typeface="Menlo" pitchFamily="34" charset="-120"/>
              </a:rPr>
              <a:t> · </a:t>
            </a:r>
            <a:r>
              <a:rPr lang="en-US" sz="1300" dirty="0">
                <a:solidFill>
                  <a:srgbClr val="D1D1D6"/>
                </a:solidFill>
                <a:latin typeface="Menlo" pitchFamily="34" charset="0"/>
                <a:ea typeface="Menlo" pitchFamily="34" charset="-122"/>
                <a:cs typeface="Menlo" pitchFamily="34" charset="-120"/>
              </a:rPr>
              <a:t>notification</a:t>
            </a:r>
            <a:r>
              <a:rPr lang="en-US" sz="1300" dirty="0">
                <a:solidFill>
                  <a:schemeClr val="bg1"/>
                </a:solidFill>
                <a:latin typeface="Menlo" pitchFamily="34" charset="0"/>
                <a:ea typeface="Menlo" pitchFamily="34" charset="-122"/>
                <a:cs typeface="Menlo" pitchFamily="34" charset="-120"/>
              </a:rPr>
              <a:t> · </a:t>
            </a:r>
            <a:r>
              <a:rPr lang="en-US" sz="1300" dirty="0">
                <a:solidFill>
                  <a:srgbClr val="D1D1D6"/>
                </a:solidFill>
                <a:latin typeface="Menlo" pitchFamily="34" charset="0"/>
                <a:ea typeface="Menlo" pitchFamily="34" charset="-122"/>
                <a:cs typeface="Menlo" pitchFamily="34" charset="-120"/>
              </a:rPr>
              <a:t>sync</a:t>
            </a:r>
            <a:endParaRPr lang="en-US" sz="1300" dirty="0"/>
          </a:p>
        </p:txBody>
      </p:sp>
      <p:sp>
        <p:nvSpPr>
          <p:cNvPr id="33" name="Chip Next.js · TypeScript"/>
          <p:cNvSpPr/>
          <p:nvPr/>
        </p:nvSpPr>
        <p:spPr>
          <a:xfrm>
            <a:off x="7406640" y="4526280"/>
            <a:ext cx="201168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34" name="Text 32"/>
          <p:cNvSpPr txBox="1"/>
          <p:nvPr/>
        </p:nvSpPr>
        <p:spPr>
          <a:xfrm>
            <a:off x="7406640" y="4526280"/>
            <a:ext cx="2011680" cy="365760"/>
          </a:xfrm>
          <a:prstGeom prst="rect">
            <a:avLst/>
          </a:prstGeom>
          <a:noFill/>
          <a:ln/>
        </p:spPr>
        <p:txBody>
          <a:bodyPr wrap="square" lIns="0" tIns="0" rIns="0" bIns="0" rtlCol="0" anchor="ctr"/>
          <a:lstStyle/>
          <a:p>
            <a:pPr marL="0" indent="0" algn="ctr">
              <a:buNone/>
            </a:pPr>
            <a:r>
              <a:rPr lang="en-US" sz="1100" b="1" dirty="0">
                <a:solidFill>
                  <a:schemeClr val="tx1"/>
                </a:solidFill>
              </a:rPr>
              <a:t>Next.js · TypeScript</a:t>
            </a:r>
            <a:endParaRPr lang="en-US" sz="1100" dirty="0"/>
          </a:p>
        </p:txBody>
      </p:sp>
      <p:sp>
        <p:nvSpPr>
          <p:cNvPr id="35" name="Chip FastAPI · SQLAlchemy"/>
          <p:cNvSpPr/>
          <p:nvPr/>
        </p:nvSpPr>
        <p:spPr>
          <a:xfrm>
            <a:off x="9509760" y="4526280"/>
            <a:ext cx="201168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36" name="Text 34"/>
          <p:cNvSpPr txBox="1"/>
          <p:nvPr/>
        </p:nvSpPr>
        <p:spPr>
          <a:xfrm>
            <a:off x="9509760" y="4526280"/>
            <a:ext cx="2011680" cy="365760"/>
          </a:xfrm>
          <a:prstGeom prst="rect">
            <a:avLst/>
          </a:prstGeom>
          <a:noFill/>
          <a:ln/>
        </p:spPr>
        <p:txBody>
          <a:bodyPr wrap="square" lIns="0" tIns="0" rIns="0" bIns="0" rtlCol="0" anchor="ctr"/>
          <a:lstStyle/>
          <a:p>
            <a:pPr marL="0" indent="0" algn="ctr">
              <a:buNone/>
            </a:pPr>
            <a:r>
              <a:rPr lang="en-US" sz="1100" b="1" dirty="0">
                <a:solidFill>
                  <a:schemeClr val="tx1"/>
                </a:solidFill>
              </a:rPr>
              <a:t>FastAPI · SQLAlchemy</a:t>
            </a:r>
            <a:endParaRPr lang="en-US" sz="1100" dirty="0"/>
          </a:p>
        </p:txBody>
      </p:sp>
      <p:sp>
        <p:nvSpPr>
          <p:cNvPr id="37" name="Chip ONNX 한국어 임베딩"/>
          <p:cNvSpPr/>
          <p:nvPr/>
        </p:nvSpPr>
        <p:spPr>
          <a:xfrm>
            <a:off x="7406640" y="5074920"/>
            <a:ext cx="201168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38" name="Text 36"/>
          <p:cNvSpPr txBox="1"/>
          <p:nvPr/>
        </p:nvSpPr>
        <p:spPr>
          <a:xfrm>
            <a:off x="7406640" y="5074920"/>
            <a:ext cx="2011680" cy="365760"/>
          </a:xfrm>
          <a:prstGeom prst="rect">
            <a:avLst/>
          </a:prstGeom>
          <a:noFill/>
          <a:ln/>
        </p:spPr>
        <p:txBody>
          <a:bodyPr wrap="square" lIns="0" tIns="0" rIns="0" bIns="0" rtlCol="0" anchor="ctr"/>
          <a:lstStyle/>
          <a:p>
            <a:pPr marL="0" indent="0" algn="ctr">
              <a:buNone/>
            </a:pPr>
            <a:r>
              <a:rPr lang="en-US" sz="1100" b="1" dirty="0">
                <a:solidFill>
                  <a:schemeClr val="tx1"/>
                </a:solidFill>
              </a:rPr>
              <a:t>ONNX 한국어 임베딩</a:t>
            </a:r>
            <a:endParaRPr lang="en-US" sz="1100" dirty="0"/>
          </a:p>
        </p:txBody>
      </p:sp>
      <p:sp>
        <p:nvSpPr>
          <p:cNvPr id="39" name="Chip main push 시 자동 배포"/>
          <p:cNvSpPr/>
          <p:nvPr/>
        </p:nvSpPr>
        <p:spPr>
          <a:xfrm>
            <a:off x="9509760" y="5074920"/>
            <a:ext cx="201168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40" name="Text 38"/>
          <p:cNvSpPr txBox="1"/>
          <p:nvPr/>
        </p:nvSpPr>
        <p:spPr>
          <a:xfrm>
            <a:off x="9509760" y="5074920"/>
            <a:ext cx="2011680" cy="365760"/>
          </a:xfrm>
          <a:prstGeom prst="rect">
            <a:avLst/>
          </a:prstGeom>
          <a:noFill/>
          <a:ln/>
        </p:spPr>
        <p:txBody>
          <a:bodyPr wrap="square" lIns="0" tIns="0" rIns="0" bIns="0" rtlCol="0" anchor="ctr"/>
          <a:lstStyle/>
          <a:p>
            <a:pPr marL="0" indent="0" algn="ctr">
              <a:buNone/>
            </a:pPr>
            <a:r>
              <a:rPr lang="en-US" sz="1100" b="1" dirty="0">
                <a:solidFill>
                  <a:schemeClr val="tx1"/>
                </a:solidFill>
              </a:rPr>
              <a:t>main push 시 자동 배포</a:t>
            </a:r>
            <a:endParaRPr lang="en-US" sz="1100" dirty="0"/>
          </a:p>
        </p:txBody>
      </p:sp>
      <p:sp>
        <p:nvSpPr>
          <p:cNvPr id="41" name="Chip AWS Secrets Manager"/>
          <p:cNvSpPr/>
          <p:nvPr/>
        </p:nvSpPr>
        <p:spPr>
          <a:xfrm>
            <a:off x="7406640" y="5623560"/>
            <a:ext cx="2011680" cy="365760"/>
          </a:xfrm>
          <a:prstGeom prst="roundRect">
            <a:avLst>
              <a:gd name="adj" fmla="val 50000"/>
            </a:avLst>
          </a:prstGeom>
          <a:solidFill>
            <a:schemeClr val="bg1"/>
          </a:solidFill>
          <a:ln w="12700">
            <a:solidFill>
              <a:schemeClr val="bg1"/>
            </a:solidFill>
            <a:prstDash val="solid"/>
          </a:ln>
        </p:spPr>
        <p:txBody>
          <a:bodyPr/>
          <a:lstStyle/>
          <a:p>
            <a:endParaRPr lang="ko-KR" altLang="en-US"/>
          </a:p>
        </p:txBody>
      </p:sp>
      <p:sp>
        <p:nvSpPr>
          <p:cNvPr id="42" name="Text 40"/>
          <p:cNvSpPr txBox="1"/>
          <p:nvPr/>
        </p:nvSpPr>
        <p:spPr>
          <a:xfrm>
            <a:off x="7406640" y="5623560"/>
            <a:ext cx="2011680" cy="365760"/>
          </a:xfrm>
          <a:prstGeom prst="rect">
            <a:avLst/>
          </a:prstGeom>
          <a:noFill/>
          <a:ln/>
        </p:spPr>
        <p:txBody>
          <a:bodyPr wrap="square" lIns="0" tIns="0" rIns="0" bIns="0" rtlCol="0" anchor="ctr"/>
          <a:lstStyle/>
          <a:p>
            <a:pPr marL="0" indent="0" algn="ctr">
              <a:buNone/>
            </a:pPr>
            <a:r>
              <a:rPr lang="en-US" sz="1100" b="1" dirty="0">
                <a:solidFill>
                  <a:schemeClr val="tx1"/>
                </a:solidFill>
              </a:rPr>
              <a:t>AWS Secrets Manager</a:t>
            </a:r>
            <a:endParaRPr lang="en-US" sz="1100" dirty="0"/>
          </a:p>
        </p:txBody>
      </p:sp>
      <p:sp>
        <p:nvSpPr>
          <p:cNvPr id="43"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ctr"/>
          <a:lstStyle/>
          <a:p>
            <a:pPr marL="0" indent="0" algn="l">
              <a:buNone/>
            </a:pPr>
            <a:r>
              <a:rPr lang="en-US" sz="3400" b="1" dirty="0">
                <a:solidFill>
                  <a:schemeClr val="tx1"/>
                </a:solidFill>
              </a:rPr>
              <a:t>기대효과와 다음 단계</a:t>
            </a:r>
            <a:endParaRPr lang="en-US" sz="3400" dirty="0"/>
          </a:p>
        </p:txBody>
      </p:sp>
      <p:sp>
        <p:nvSpPr>
          <p:cNvPr id="3" name="Impact card"/>
          <p:cNvSpPr/>
          <p:nvPr/>
        </p:nvSpPr>
        <p:spPr>
          <a:xfrm>
            <a:off x="548640" y="1463040"/>
            <a:ext cx="5394960" cy="3063240"/>
          </a:xfrm>
          <a:prstGeom prst="roundRect">
            <a:avLst>
              <a:gd name="adj" fmla="val 4776"/>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4" name="Text 2"/>
          <p:cNvSpPr txBox="1"/>
          <p:nvPr/>
        </p:nvSpPr>
        <p:spPr>
          <a:xfrm>
            <a:off x="868680" y="1645920"/>
            <a:ext cx="4754880" cy="274320"/>
          </a:xfrm>
          <a:prstGeom prst="rect">
            <a:avLst/>
          </a:prstGeom>
          <a:noFill/>
          <a:ln/>
        </p:spPr>
        <p:txBody>
          <a:bodyPr wrap="square" lIns="0" tIns="0" rIns="0" bIns="0" rtlCol="0" anchor="t"/>
          <a:lstStyle/>
          <a:p>
            <a:pPr marL="0" indent="0">
              <a:buNone/>
            </a:pPr>
            <a:r>
              <a:rPr lang="en-US" sz="1200" dirty="0">
                <a:solidFill>
                  <a:schemeClr val="tx2"/>
                </a:solidFill>
              </a:rPr>
              <a:t>서울 지하철 2025년 기준 규모</a:t>
            </a:r>
            <a:endParaRPr lang="en-US" sz="1200" dirty="0"/>
          </a:p>
        </p:txBody>
      </p:sp>
      <p:sp>
        <p:nvSpPr>
          <p:cNvPr id="5" name="Text 3"/>
          <p:cNvSpPr txBox="1"/>
          <p:nvPr/>
        </p:nvSpPr>
        <p:spPr>
          <a:xfrm>
            <a:off x="868680" y="1965960"/>
            <a:ext cx="4754880" cy="731520"/>
          </a:xfrm>
          <a:prstGeom prst="rect">
            <a:avLst/>
          </a:prstGeom>
          <a:noFill/>
          <a:ln/>
        </p:spPr>
        <p:txBody>
          <a:bodyPr wrap="square" lIns="0" tIns="0" rIns="0" bIns="0" rtlCol="0" anchor="ctr"/>
          <a:lstStyle/>
          <a:p>
            <a:pPr marL="0" indent="0">
              <a:buNone/>
            </a:pPr>
            <a:r>
              <a:rPr lang="en-US" sz="4000" b="1" dirty="0">
                <a:solidFill>
                  <a:schemeClr val="tx1"/>
                </a:solidFill>
              </a:rPr>
              <a:t>약 8.1만 건</a:t>
            </a:r>
            <a:endParaRPr lang="en-US" sz="4000" dirty="0"/>
          </a:p>
        </p:txBody>
      </p:sp>
      <p:sp>
        <p:nvSpPr>
          <p:cNvPr id="6" name="Text 4"/>
          <p:cNvSpPr txBox="1"/>
          <p:nvPr/>
        </p:nvSpPr>
        <p:spPr>
          <a:xfrm>
            <a:off x="868680" y="2697480"/>
            <a:ext cx="4754880" cy="274320"/>
          </a:xfrm>
          <a:prstGeom prst="rect">
            <a:avLst/>
          </a:prstGeom>
          <a:noFill/>
          <a:ln/>
        </p:spPr>
        <p:txBody>
          <a:bodyPr wrap="square" lIns="0" tIns="0" rIns="0" bIns="0" rtlCol="0" anchor="t"/>
          <a:lstStyle/>
          <a:p>
            <a:pPr marL="0" indent="0">
              <a:buNone/>
            </a:pPr>
            <a:r>
              <a:rPr lang="en-US" sz="1300" dirty="0">
                <a:solidFill>
                  <a:schemeClr val="tx2"/>
                </a:solidFill>
              </a:rPr>
              <a:t>주인에게 직접 반환되지 않은 유실물</a:t>
            </a:r>
            <a:endParaRPr lang="en-US" sz="1300" dirty="0"/>
          </a:p>
        </p:txBody>
      </p:sp>
      <p:sp>
        <p:nvSpPr>
          <p:cNvPr id="7" name="Text 5"/>
          <p:cNvSpPr txBox="1"/>
          <p:nvPr/>
        </p:nvSpPr>
        <p:spPr>
          <a:xfrm>
            <a:off x="868680" y="3154680"/>
            <a:ext cx="4754880" cy="731520"/>
          </a:xfrm>
          <a:prstGeom prst="rect">
            <a:avLst/>
          </a:prstGeom>
          <a:noFill/>
          <a:ln/>
        </p:spPr>
        <p:txBody>
          <a:bodyPr wrap="square" lIns="0" tIns="0" rIns="0" bIns="0" rtlCol="0" anchor="ctr"/>
          <a:lstStyle/>
          <a:p>
            <a:pPr marL="0" indent="0">
              <a:buNone/>
            </a:pPr>
            <a:r>
              <a:rPr lang="en-US" sz="4000" b="1" dirty="0">
                <a:solidFill>
                  <a:schemeClr val="tx1"/>
                </a:solidFill>
              </a:rPr>
              <a:t>1%p ≈ 1,700건</a:t>
            </a:r>
            <a:endParaRPr lang="en-US" sz="4000" dirty="0"/>
          </a:p>
        </p:txBody>
      </p:sp>
      <p:sp>
        <p:nvSpPr>
          <p:cNvPr id="8" name="Text 6"/>
          <p:cNvSpPr txBox="1"/>
          <p:nvPr/>
        </p:nvSpPr>
        <p:spPr>
          <a:xfrm>
            <a:off x="868680" y="3886200"/>
            <a:ext cx="4754880" cy="502920"/>
          </a:xfrm>
          <a:prstGeom prst="rect">
            <a:avLst/>
          </a:prstGeom>
          <a:noFill/>
          <a:ln/>
        </p:spPr>
        <p:txBody>
          <a:bodyPr wrap="square" lIns="0" tIns="0" rIns="0" bIns="0" rtlCol="0" anchor="t"/>
          <a:lstStyle/>
          <a:p>
            <a:pPr marL="0" indent="0">
              <a:buNone/>
            </a:pPr>
            <a:r>
              <a:rPr lang="en-US" sz="1300" dirty="0">
                <a:solidFill>
                  <a:schemeClr val="tx2"/>
                </a:solidFill>
              </a:rPr>
              <a:t>반환율이 1%p 오를 때 추가로 돌아가는 물건 수 (산술 추정, 실측 아님)</a:t>
            </a:r>
            <a:endParaRPr lang="en-US" sz="1300" dirty="0"/>
          </a:p>
        </p:txBody>
      </p:sp>
      <p:sp>
        <p:nvSpPr>
          <p:cNvPr id="9" name="Users card"/>
          <p:cNvSpPr/>
          <p:nvPr/>
        </p:nvSpPr>
        <p:spPr>
          <a:xfrm>
            <a:off x="6217920" y="1463040"/>
            <a:ext cx="5425135" cy="3063240"/>
          </a:xfrm>
          <a:prstGeom prst="roundRect">
            <a:avLst>
              <a:gd name="adj" fmla="val 4776"/>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10" name="Text 8"/>
          <p:cNvSpPr txBox="1"/>
          <p:nvPr/>
        </p:nvSpPr>
        <p:spPr>
          <a:xfrm>
            <a:off x="6537960" y="1645920"/>
            <a:ext cx="4572000" cy="320040"/>
          </a:xfrm>
          <a:prstGeom prst="rect">
            <a:avLst/>
          </a:prstGeom>
          <a:noFill/>
          <a:ln/>
        </p:spPr>
        <p:txBody>
          <a:bodyPr wrap="square" lIns="0" tIns="0" rIns="0" bIns="0" rtlCol="0" anchor="t"/>
          <a:lstStyle/>
          <a:p>
            <a:pPr marL="0" indent="0">
              <a:buNone/>
            </a:pPr>
            <a:r>
              <a:rPr lang="en-US" sz="1800" b="1" dirty="0">
                <a:solidFill>
                  <a:schemeClr val="tx1"/>
                </a:solidFill>
              </a:rPr>
              <a:t>누가, 어떻게 쓰나</a:t>
            </a:r>
            <a:endParaRPr lang="en-US" sz="1800" dirty="0"/>
          </a:p>
        </p:txBody>
      </p:sp>
      <p:sp>
        <p:nvSpPr>
          <p:cNvPr id="11" name="Text 9"/>
          <p:cNvSpPr txBox="1"/>
          <p:nvPr/>
        </p:nvSpPr>
        <p:spPr>
          <a:xfrm>
            <a:off x="6537960" y="2194560"/>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이용자</a:t>
            </a:r>
            <a:endParaRPr lang="en-US" sz="1400" dirty="0"/>
          </a:p>
        </p:txBody>
      </p:sp>
      <p:sp>
        <p:nvSpPr>
          <p:cNvPr id="12" name="Text 10"/>
          <p:cNvSpPr txBox="1"/>
          <p:nvPr/>
        </p:nvSpPr>
        <p:spPr>
          <a:xfrm>
            <a:off x="8275320" y="2194560"/>
            <a:ext cx="3184855" cy="457200"/>
          </a:xfrm>
          <a:prstGeom prst="rect">
            <a:avLst/>
          </a:prstGeom>
          <a:noFill/>
          <a:ln/>
        </p:spPr>
        <p:txBody>
          <a:bodyPr wrap="square" lIns="0" tIns="0" rIns="0" bIns="0" rtlCol="0" anchor="ctr"/>
          <a:lstStyle/>
          <a:p>
            <a:pPr marL="0" indent="0">
              <a:buNone/>
            </a:pPr>
            <a:r>
              <a:rPr lang="en-US" sz="1300" dirty="0">
                <a:solidFill>
                  <a:schemeClr val="tx2"/>
                </a:solidFill>
              </a:rPr>
              <a:t>한 번 등록하고, 후보와 근거를 보며 판단</a:t>
            </a:r>
            <a:endParaRPr lang="en-US" sz="1300" dirty="0"/>
          </a:p>
        </p:txBody>
      </p:sp>
      <p:sp>
        <p:nvSpPr>
          <p:cNvPr id="13" name="Text 11"/>
          <p:cNvSpPr txBox="1"/>
          <p:nvPr/>
        </p:nvSpPr>
        <p:spPr>
          <a:xfrm>
            <a:off x="6537960" y="2761488"/>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유실물센터·기관</a:t>
            </a:r>
            <a:endParaRPr lang="en-US" sz="1400" dirty="0"/>
          </a:p>
        </p:txBody>
      </p:sp>
      <p:sp>
        <p:nvSpPr>
          <p:cNvPr id="14" name="Text 12"/>
          <p:cNvSpPr txBox="1"/>
          <p:nvPr/>
        </p:nvSpPr>
        <p:spPr>
          <a:xfrm>
            <a:off x="8275320" y="2761488"/>
            <a:ext cx="3184855" cy="457200"/>
          </a:xfrm>
          <a:prstGeom prst="rect">
            <a:avLst/>
          </a:prstGeom>
          <a:noFill/>
          <a:ln/>
        </p:spPr>
        <p:txBody>
          <a:bodyPr wrap="square" lIns="0" tIns="0" rIns="0" bIns="0" rtlCol="0" anchor="ctr"/>
          <a:lstStyle/>
          <a:p>
            <a:pPr marL="0" indent="0">
              <a:buNone/>
            </a:pPr>
            <a:r>
              <a:rPr lang="en-US" sz="1300" dirty="0">
                <a:solidFill>
                  <a:schemeClr val="tx2"/>
                </a:solidFill>
              </a:rPr>
              <a:t>보관 습득물이 분실자와 자동 연결</a:t>
            </a:r>
            <a:endParaRPr lang="en-US" sz="1300" dirty="0"/>
          </a:p>
        </p:txBody>
      </p:sp>
      <p:sp>
        <p:nvSpPr>
          <p:cNvPr id="15" name="Text 13"/>
          <p:cNvSpPr txBox="1"/>
          <p:nvPr/>
        </p:nvSpPr>
        <p:spPr>
          <a:xfrm>
            <a:off x="6537960" y="3328416"/>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대학·지자체</a:t>
            </a:r>
            <a:endParaRPr lang="en-US" sz="1400" dirty="0"/>
          </a:p>
        </p:txBody>
      </p:sp>
      <p:sp>
        <p:nvSpPr>
          <p:cNvPr id="16" name="Text 14"/>
          <p:cNvSpPr txBox="1"/>
          <p:nvPr/>
        </p:nvSpPr>
        <p:spPr>
          <a:xfrm>
            <a:off x="8275320" y="3328416"/>
            <a:ext cx="3184855" cy="457200"/>
          </a:xfrm>
          <a:prstGeom prst="rect">
            <a:avLst/>
          </a:prstGeom>
          <a:noFill/>
          <a:ln/>
        </p:spPr>
        <p:txBody>
          <a:bodyPr wrap="square" lIns="0" tIns="0" rIns="0" bIns="0" rtlCol="0" anchor="ctr"/>
          <a:lstStyle/>
          <a:p>
            <a:pPr marL="0" indent="0">
              <a:buNone/>
            </a:pPr>
            <a:r>
              <a:rPr lang="en-US" sz="1300" dirty="0">
                <a:solidFill>
                  <a:schemeClr val="tx2"/>
                </a:solidFill>
              </a:rPr>
              <a:t>기관 습득물 직접 등록으로 캠퍼스·지역 도입</a:t>
            </a:r>
            <a:endParaRPr lang="en-US" sz="1300" dirty="0"/>
          </a:p>
        </p:txBody>
      </p:sp>
      <p:sp>
        <p:nvSpPr>
          <p:cNvPr id="17" name="Text 15"/>
          <p:cNvSpPr txBox="1"/>
          <p:nvPr/>
        </p:nvSpPr>
        <p:spPr>
          <a:xfrm>
            <a:off x="6537960" y="3895344"/>
            <a:ext cx="1737360" cy="457200"/>
          </a:xfrm>
          <a:prstGeom prst="rect">
            <a:avLst/>
          </a:prstGeom>
          <a:noFill/>
          <a:ln/>
        </p:spPr>
        <p:txBody>
          <a:bodyPr wrap="square" lIns="0" tIns="0" rIns="0" bIns="0" rtlCol="0" anchor="ctr"/>
          <a:lstStyle/>
          <a:p>
            <a:pPr marL="0" indent="0">
              <a:buNone/>
            </a:pPr>
            <a:r>
              <a:rPr lang="en-US" sz="1400" b="1" dirty="0">
                <a:solidFill>
                  <a:schemeClr val="tx1"/>
                </a:solidFill>
              </a:rPr>
              <a:t>공공데이터</a:t>
            </a:r>
            <a:endParaRPr lang="en-US" sz="1400" dirty="0"/>
          </a:p>
        </p:txBody>
      </p:sp>
      <p:sp>
        <p:nvSpPr>
          <p:cNvPr id="18" name="Text 16"/>
          <p:cNvSpPr txBox="1"/>
          <p:nvPr/>
        </p:nvSpPr>
        <p:spPr>
          <a:xfrm>
            <a:off x="8275320" y="3895344"/>
            <a:ext cx="3184855" cy="457200"/>
          </a:xfrm>
          <a:prstGeom prst="rect">
            <a:avLst/>
          </a:prstGeom>
          <a:noFill/>
          <a:ln/>
        </p:spPr>
        <p:txBody>
          <a:bodyPr wrap="square" lIns="0" tIns="0" rIns="0" bIns="0" rtlCol="0" anchor="ctr"/>
          <a:lstStyle/>
          <a:p>
            <a:pPr marL="0" indent="0">
              <a:buNone/>
            </a:pPr>
            <a:r>
              <a:rPr lang="en-US" sz="1300" dirty="0">
                <a:solidFill>
                  <a:schemeClr val="tx2"/>
                </a:solidFill>
              </a:rPr>
              <a:t>LOST112 데이터를 재활용, 새 수집 부담 없음</a:t>
            </a:r>
            <a:endParaRPr lang="en-US" sz="1300" dirty="0"/>
          </a:p>
        </p:txBody>
      </p:sp>
      <p:sp>
        <p:nvSpPr>
          <p:cNvPr id="19" name="Roadmap 지금"/>
          <p:cNvSpPr/>
          <p:nvPr/>
        </p:nvSpPr>
        <p:spPr>
          <a:xfrm>
            <a:off x="548640" y="4754880"/>
            <a:ext cx="3515258" cy="1417320"/>
          </a:xfrm>
          <a:prstGeom prst="roundRect">
            <a:avLst>
              <a:gd name="adj" fmla="val 10323"/>
            </a:avLst>
          </a:prstGeom>
          <a:solidFill>
            <a:schemeClr val="tx1"/>
          </a:solidFill>
          <a:ln w="12700">
            <a:solidFill>
              <a:schemeClr val="tx1"/>
            </a:solidFill>
            <a:prstDash val="solid"/>
          </a:ln>
        </p:spPr>
        <p:txBody>
          <a:bodyPr/>
          <a:lstStyle/>
          <a:p>
            <a:endParaRPr lang="ko-KR" altLang="en-US"/>
          </a:p>
        </p:txBody>
      </p:sp>
      <p:sp>
        <p:nvSpPr>
          <p:cNvPr id="20" name="Text 18"/>
          <p:cNvSpPr txBox="1"/>
          <p:nvPr/>
        </p:nvSpPr>
        <p:spPr>
          <a:xfrm>
            <a:off x="822960" y="4919472"/>
            <a:ext cx="1828800" cy="320040"/>
          </a:xfrm>
          <a:prstGeom prst="rect">
            <a:avLst/>
          </a:prstGeom>
          <a:noFill/>
          <a:ln/>
        </p:spPr>
        <p:txBody>
          <a:bodyPr wrap="square" lIns="0" tIns="0" rIns="0" bIns="0" rtlCol="0" anchor="t"/>
          <a:lstStyle/>
          <a:p>
            <a:pPr marL="0" indent="0">
              <a:buNone/>
            </a:pPr>
            <a:r>
              <a:rPr lang="en-US" sz="1700" b="1" dirty="0">
                <a:solidFill>
                  <a:schemeClr val="bg1"/>
                </a:solidFill>
              </a:rPr>
              <a:t>지금</a:t>
            </a:r>
            <a:endParaRPr lang="en-US" sz="1700" dirty="0"/>
          </a:p>
        </p:txBody>
      </p:sp>
      <p:sp>
        <p:nvSpPr>
          <p:cNvPr id="21" name="Text 19"/>
          <p:cNvSpPr txBox="1"/>
          <p:nvPr/>
        </p:nvSpPr>
        <p:spPr>
          <a:xfrm>
            <a:off x="822960" y="5321808"/>
            <a:ext cx="3058058" cy="731520"/>
          </a:xfrm>
          <a:prstGeom prst="rect">
            <a:avLst/>
          </a:prstGeom>
          <a:noFill/>
          <a:ln/>
        </p:spPr>
        <p:txBody>
          <a:bodyPr wrap="square" lIns="0" tIns="0" rIns="0" bIns="0" rtlCol="0" anchor="t"/>
          <a:lstStyle/>
          <a:p>
            <a:pPr marL="0" indent="0">
              <a:buNone/>
            </a:pPr>
            <a:r>
              <a:rPr lang="en-US" sz="1300" dirty="0">
                <a:solidFill>
                  <a:schemeClr val="accent6"/>
                </a:solidFill>
              </a:rPr>
              <a:t>텍스트·지역·날짜 매칭</a:t>
            </a:r>
            <a:endParaRPr lang="en-US" sz="1300" dirty="0"/>
          </a:p>
          <a:p>
            <a:pPr marL="0" indent="0">
              <a:buNone/>
            </a:pPr>
            <a:r>
              <a:rPr lang="en-US" sz="1300" dirty="0">
                <a:solidFill>
                  <a:schemeClr val="accent6"/>
                </a:solidFill>
              </a:rPr>
              <a:t>서비스 내 알림 · 단계형 등록</a:t>
            </a:r>
            <a:endParaRPr lang="en-US" sz="1300" dirty="0"/>
          </a:p>
        </p:txBody>
      </p:sp>
      <p:sp>
        <p:nvSpPr>
          <p:cNvPr id="22" name="Roadmap 다음"/>
          <p:cNvSpPr/>
          <p:nvPr/>
        </p:nvSpPr>
        <p:spPr>
          <a:xfrm>
            <a:off x="4338218" y="4754880"/>
            <a:ext cx="3515258" cy="1417320"/>
          </a:xfrm>
          <a:prstGeom prst="roundRect">
            <a:avLst>
              <a:gd name="adj" fmla="val 10323"/>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23" name="Text 21"/>
          <p:cNvSpPr txBox="1"/>
          <p:nvPr/>
        </p:nvSpPr>
        <p:spPr>
          <a:xfrm>
            <a:off x="4612538" y="4919472"/>
            <a:ext cx="1828800" cy="320040"/>
          </a:xfrm>
          <a:prstGeom prst="rect">
            <a:avLst/>
          </a:prstGeom>
          <a:noFill/>
          <a:ln/>
        </p:spPr>
        <p:txBody>
          <a:bodyPr wrap="square" lIns="0" tIns="0" rIns="0" bIns="0" rtlCol="0" anchor="t"/>
          <a:lstStyle/>
          <a:p>
            <a:pPr marL="0" indent="0">
              <a:buNone/>
            </a:pPr>
            <a:r>
              <a:rPr lang="en-US" sz="1700" b="1" dirty="0">
                <a:solidFill>
                  <a:schemeClr val="tx1"/>
                </a:solidFill>
              </a:rPr>
              <a:t>다음</a:t>
            </a:r>
            <a:endParaRPr lang="en-US" sz="1700" dirty="0"/>
          </a:p>
        </p:txBody>
      </p:sp>
      <p:sp>
        <p:nvSpPr>
          <p:cNvPr id="24" name="Text 22"/>
          <p:cNvSpPr txBox="1"/>
          <p:nvPr/>
        </p:nvSpPr>
        <p:spPr>
          <a:xfrm>
            <a:off x="4612538" y="5321808"/>
            <a:ext cx="3058058" cy="731520"/>
          </a:xfrm>
          <a:prstGeom prst="rect">
            <a:avLst/>
          </a:prstGeom>
          <a:noFill/>
          <a:ln/>
        </p:spPr>
        <p:txBody>
          <a:bodyPr wrap="square" lIns="0" tIns="0" rIns="0" bIns="0" rtlCol="0" anchor="t"/>
          <a:lstStyle/>
          <a:p>
            <a:pPr marL="0" indent="0">
              <a:buNone/>
            </a:pPr>
            <a:r>
              <a:rPr lang="en-US" sz="1300" dirty="0">
                <a:solidFill>
                  <a:schemeClr val="tx2"/>
                </a:solidFill>
              </a:rPr>
              <a:t>사진 유사도(CLIP) · 이메일 알림 연동</a:t>
            </a:r>
            <a:endParaRPr lang="en-US" sz="1300" dirty="0"/>
          </a:p>
          <a:p>
            <a:pPr marL="0" indent="0">
              <a:buNone/>
            </a:pPr>
            <a:r>
              <a:rPr lang="en-US" sz="1300" dirty="0">
                <a:solidFill>
                  <a:schemeClr val="tx2"/>
                </a:solidFill>
              </a:rPr>
              <a:t>기관 습득물 직접 등록</a:t>
            </a:r>
            <a:endParaRPr lang="en-US" sz="1300" dirty="0"/>
          </a:p>
        </p:txBody>
      </p:sp>
      <p:sp>
        <p:nvSpPr>
          <p:cNvPr id="25" name="Roadmap 확장"/>
          <p:cNvSpPr/>
          <p:nvPr/>
        </p:nvSpPr>
        <p:spPr>
          <a:xfrm>
            <a:off x="8127797" y="4754880"/>
            <a:ext cx="3515258" cy="1417320"/>
          </a:xfrm>
          <a:prstGeom prst="roundRect">
            <a:avLst>
              <a:gd name="adj" fmla="val 10323"/>
            </a:avLst>
          </a:prstGeom>
          <a:solidFill>
            <a:schemeClr val="bg1"/>
          </a:solidFill>
          <a:ln w="12700">
            <a:solidFill>
              <a:schemeClr val="bg1"/>
            </a:solidFill>
            <a:prstDash val="solid"/>
          </a:ln>
          <a:effectLst>
            <a:outerShdw blurRad="127000" dist="25400" dir="5400000" algn="bl" rotWithShape="0">
              <a:srgbClr val="000000">
                <a:alpha val="8000"/>
              </a:srgbClr>
            </a:outerShdw>
          </a:effectLst>
        </p:spPr>
        <p:txBody>
          <a:bodyPr/>
          <a:lstStyle/>
          <a:p>
            <a:endParaRPr lang="ko-KR" altLang="en-US"/>
          </a:p>
        </p:txBody>
      </p:sp>
      <p:sp>
        <p:nvSpPr>
          <p:cNvPr id="26" name="Text 24"/>
          <p:cNvSpPr txBox="1"/>
          <p:nvPr/>
        </p:nvSpPr>
        <p:spPr>
          <a:xfrm>
            <a:off x="8402117" y="4919472"/>
            <a:ext cx="1828800" cy="320040"/>
          </a:xfrm>
          <a:prstGeom prst="rect">
            <a:avLst/>
          </a:prstGeom>
          <a:noFill/>
          <a:ln/>
        </p:spPr>
        <p:txBody>
          <a:bodyPr wrap="square" lIns="0" tIns="0" rIns="0" bIns="0" rtlCol="0" anchor="t"/>
          <a:lstStyle/>
          <a:p>
            <a:pPr marL="0" indent="0">
              <a:buNone/>
            </a:pPr>
            <a:r>
              <a:rPr lang="en-US" sz="1700" b="1" dirty="0">
                <a:solidFill>
                  <a:schemeClr val="tx1"/>
                </a:solidFill>
              </a:rPr>
              <a:t>확장</a:t>
            </a:r>
            <a:endParaRPr lang="en-US" sz="1700" dirty="0"/>
          </a:p>
        </p:txBody>
      </p:sp>
      <p:sp>
        <p:nvSpPr>
          <p:cNvPr id="27" name="Text 25"/>
          <p:cNvSpPr txBox="1"/>
          <p:nvPr/>
        </p:nvSpPr>
        <p:spPr>
          <a:xfrm>
            <a:off x="8402117" y="5321808"/>
            <a:ext cx="3058058" cy="731520"/>
          </a:xfrm>
          <a:prstGeom prst="rect">
            <a:avLst/>
          </a:prstGeom>
          <a:noFill/>
          <a:ln/>
        </p:spPr>
        <p:txBody>
          <a:bodyPr wrap="square" lIns="0" tIns="0" rIns="0" bIns="0" rtlCol="0" anchor="t"/>
          <a:lstStyle/>
          <a:p>
            <a:pPr marL="0" indent="0">
              <a:buNone/>
            </a:pPr>
            <a:r>
              <a:rPr lang="en-US" sz="1300" dirty="0">
                <a:solidFill>
                  <a:schemeClr val="tx2"/>
                </a:solidFill>
              </a:rPr>
              <a:t>카카오 알림톡 · 실데이터 정확도 평가</a:t>
            </a:r>
            <a:endParaRPr lang="en-US" sz="1300" dirty="0"/>
          </a:p>
          <a:p>
            <a:pPr marL="0" indent="0">
              <a:buNone/>
            </a:pPr>
            <a:r>
              <a:rPr lang="en-US" sz="1300" dirty="0">
                <a:solidFill>
                  <a:schemeClr val="tx2"/>
                </a:solidFill>
              </a:rPr>
              <a:t>중고거래 플랫폼 연동 검토</a:t>
            </a:r>
            <a:endParaRPr lang="en-US" sz="1300" dirty="0"/>
          </a:p>
        </p:txBody>
      </p:sp>
      <p:sp>
        <p:nvSpPr>
          <p:cNvPr id="28"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ReFind logo"/>
          <p:cNvPicPr>
            <a:picLocks noChangeAspect="1"/>
          </p:cNvPicPr>
          <p:nvPr/>
        </p:nvPicPr>
        <p:blipFill>
          <a:blip r:embed="rId3"/>
          <a:stretch>
            <a:fillRect/>
          </a:stretch>
        </p:blipFill>
        <p:spPr>
          <a:xfrm>
            <a:off x="548640" y="640080"/>
            <a:ext cx="548640" cy="548640"/>
          </a:xfrm>
          <a:prstGeom prst="rect">
            <a:avLst/>
          </a:prstGeom>
        </p:spPr>
      </p:pic>
      <p:sp>
        <p:nvSpPr>
          <p:cNvPr id="3" name="Text 0"/>
          <p:cNvSpPr txBox="1"/>
          <p:nvPr/>
        </p:nvSpPr>
        <p:spPr>
          <a:xfrm>
            <a:off x="548640" y="1325880"/>
            <a:ext cx="7315200" cy="1097280"/>
          </a:xfrm>
          <a:prstGeom prst="rect">
            <a:avLst/>
          </a:prstGeom>
          <a:noFill/>
          <a:ln/>
        </p:spPr>
        <p:txBody>
          <a:bodyPr wrap="square" lIns="0" tIns="0" rIns="0" bIns="0" rtlCol="0" anchor="ctr"/>
          <a:lstStyle/>
          <a:p>
            <a:pPr marL="0" indent="0">
              <a:buNone/>
            </a:pPr>
            <a:r>
              <a:rPr lang="en-US" sz="6600" b="1" dirty="0">
                <a:solidFill>
                  <a:schemeClr val="bg1"/>
                </a:solidFill>
              </a:rPr>
              <a:t>감사합니다</a:t>
            </a:r>
            <a:endParaRPr lang="en-US" sz="6600" dirty="0"/>
          </a:p>
        </p:txBody>
      </p:sp>
      <p:sp>
        <p:nvSpPr>
          <p:cNvPr id="4" name="Text 1"/>
          <p:cNvSpPr txBox="1"/>
          <p:nvPr/>
        </p:nvSpPr>
        <p:spPr>
          <a:xfrm>
            <a:off x="548640" y="2468880"/>
            <a:ext cx="8229600" cy="457200"/>
          </a:xfrm>
          <a:prstGeom prst="rect">
            <a:avLst/>
          </a:prstGeom>
          <a:noFill/>
          <a:ln/>
        </p:spPr>
        <p:txBody>
          <a:bodyPr wrap="square" lIns="0" tIns="0" rIns="0" bIns="0" rtlCol="0" anchor="t"/>
          <a:lstStyle/>
          <a:p>
            <a:pPr marL="0" indent="0">
              <a:buNone/>
            </a:pPr>
            <a:r>
              <a:rPr lang="en-US" sz="2200" dirty="0">
                <a:solidFill>
                  <a:schemeClr val="accent6"/>
                </a:solidFill>
              </a:rPr>
              <a:t>잃어버린 물건이 나를 먼저 찾아옵니다</a:t>
            </a:r>
            <a:endParaRPr lang="en-US" sz="2200" dirty="0"/>
          </a:p>
        </p:txBody>
      </p:sp>
      <p:sp>
        <p:nvSpPr>
          <p:cNvPr id="5" name="웹 사이트 link card"/>
          <p:cNvSpPr/>
          <p:nvPr/>
        </p:nvSpPr>
        <p:spPr>
          <a:xfrm>
            <a:off x="548640" y="3337560"/>
            <a:ext cx="5364328" cy="2697480"/>
          </a:xfrm>
          <a:prstGeom prst="roundRect">
            <a:avLst>
              <a:gd name="adj" fmla="val 6780"/>
            </a:avLst>
          </a:prstGeom>
          <a:solidFill>
            <a:schemeClr val="bg1"/>
          </a:solidFill>
          <a:ln w="12700">
            <a:solidFill>
              <a:schemeClr val="bg1"/>
            </a:solidFill>
            <a:prstDash val="solid"/>
          </a:ln>
        </p:spPr>
        <p:txBody>
          <a:bodyPr/>
          <a:lstStyle/>
          <a:p>
            <a:endParaRPr lang="ko-KR" altLang="en-US"/>
          </a:p>
        </p:txBody>
      </p:sp>
      <p:pic>
        <p:nvPicPr>
          <p:cNvPr id="6" name="Image 1" descr="웹 사이트 QR 코드"/>
          <p:cNvPicPr>
            <a:picLocks noChangeAspect="1"/>
          </p:cNvPicPr>
          <p:nvPr/>
        </p:nvPicPr>
        <p:blipFill>
          <a:blip r:embed="rId4"/>
          <a:stretch>
            <a:fillRect/>
          </a:stretch>
        </p:blipFill>
        <p:spPr>
          <a:xfrm>
            <a:off x="822960" y="3611880"/>
            <a:ext cx="2148840" cy="2148840"/>
          </a:xfrm>
          <a:prstGeom prst="rect">
            <a:avLst/>
          </a:prstGeom>
        </p:spPr>
      </p:pic>
      <p:pic>
        <p:nvPicPr>
          <p:cNvPr id="7" name="Image 2" descr="globe icon"/>
          <p:cNvPicPr>
            <a:picLocks noChangeAspect="1"/>
          </p:cNvPicPr>
          <p:nvPr/>
        </p:nvPicPr>
        <p:blipFill>
          <a:blip r:embed="rId5"/>
          <a:stretch>
            <a:fillRect/>
          </a:stretch>
        </p:blipFill>
        <p:spPr>
          <a:xfrm>
            <a:off x="3246120" y="3657600"/>
            <a:ext cx="384048" cy="384048"/>
          </a:xfrm>
          <a:prstGeom prst="rect">
            <a:avLst/>
          </a:prstGeom>
        </p:spPr>
      </p:pic>
      <p:sp>
        <p:nvSpPr>
          <p:cNvPr id="8" name="Text 3"/>
          <p:cNvSpPr txBox="1"/>
          <p:nvPr/>
        </p:nvSpPr>
        <p:spPr>
          <a:xfrm>
            <a:off x="3749040" y="3657600"/>
            <a:ext cx="1981048" cy="384048"/>
          </a:xfrm>
          <a:prstGeom prst="rect">
            <a:avLst/>
          </a:prstGeom>
          <a:noFill/>
          <a:ln/>
        </p:spPr>
        <p:txBody>
          <a:bodyPr wrap="square" lIns="0" tIns="0" rIns="0" bIns="0" rtlCol="0" anchor="ctr"/>
          <a:lstStyle/>
          <a:p>
            <a:pPr marL="0" indent="0">
              <a:buNone/>
            </a:pPr>
            <a:r>
              <a:rPr lang="en-US" sz="2000" b="1" dirty="0">
                <a:solidFill>
                  <a:schemeClr val="tx1"/>
                </a:solidFill>
              </a:rPr>
              <a:t>웹 사이트</a:t>
            </a:r>
            <a:endParaRPr lang="en-US" sz="2000" dirty="0"/>
          </a:p>
        </p:txBody>
      </p:sp>
      <p:sp>
        <p:nvSpPr>
          <p:cNvPr id="9" name="Text 4">
            <a:hlinkClick r:id="rId6"/>
          </p:cNvPr>
          <p:cNvSpPr txBox="1"/>
          <p:nvPr/>
        </p:nvSpPr>
        <p:spPr>
          <a:xfrm>
            <a:off x="3246120" y="4251960"/>
            <a:ext cx="2438248" cy="868680"/>
          </a:xfrm>
          <a:prstGeom prst="rect">
            <a:avLst/>
          </a:prstGeom>
          <a:noFill/>
          <a:ln/>
        </p:spPr>
        <p:txBody>
          <a:bodyPr wrap="square" lIns="0" tIns="0" rIns="0" bIns="0" rtlCol="0" anchor="t"/>
          <a:lstStyle/>
          <a:p>
            <a:pPr marL="0" indent="0">
              <a:buNone/>
            </a:pPr>
            <a:r>
              <a:rPr lang="en-US" sz="1300" u="sng" dirty="0">
                <a:solidFill>
                  <a:schemeClr val="tx1"/>
                </a:solidFill>
                <a:hlinkClick r:id="rId6">
                  <a:extLst>
                    <a:ext uri="{A12FA001-AC4F-418D-AE19-62706E023703}">
                      <ahyp:hlinkClr xmlns:ahyp="http://schemas.microsoft.com/office/drawing/2018/hyperlinkcolor" val="tx"/>
                    </a:ext>
                  </a:extLst>
                </a:hlinkClick>
              </a:rPr>
              <a:t>d29d7xry7tkopu.cloudfront.net</a:t>
            </a:r>
            <a:endParaRPr lang="en-US" sz="1300" dirty="0"/>
          </a:p>
        </p:txBody>
      </p:sp>
      <p:sp>
        <p:nvSpPr>
          <p:cNvPr id="10" name="Text 5"/>
          <p:cNvSpPr txBox="1"/>
          <p:nvPr/>
        </p:nvSpPr>
        <p:spPr>
          <a:xfrm>
            <a:off x="3246120" y="5257800"/>
            <a:ext cx="2438248" cy="274320"/>
          </a:xfrm>
          <a:prstGeom prst="rect">
            <a:avLst/>
          </a:prstGeom>
          <a:noFill/>
          <a:ln/>
        </p:spPr>
        <p:txBody>
          <a:bodyPr wrap="square" lIns="0" tIns="0" rIns="0" bIns="0" rtlCol="0" anchor="t"/>
          <a:lstStyle/>
          <a:p>
            <a:pPr marL="0" indent="0">
              <a:buNone/>
            </a:pPr>
            <a:r>
              <a:rPr lang="en-US" sz="1200" dirty="0">
                <a:solidFill>
                  <a:schemeClr val="tx2"/>
                </a:solidFill>
              </a:rPr>
              <a:t>QR로 바로 접속</a:t>
            </a:r>
            <a:endParaRPr lang="en-US" sz="1200" dirty="0"/>
          </a:p>
        </p:txBody>
      </p:sp>
      <p:sp>
        <p:nvSpPr>
          <p:cNvPr id="11" name="GitHub link card"/>
          <p:cNvSpPr/>
          <p:nvPr/>
        </p:nvSpPr>
        <p:spPr>
          <a:xfrm>
            <a:off x="6278728" y="3337560"/>
            <a:ext cx="5364328" cy="2697480"/>
          </a:xfrm>
          <a:prstGeom prst="roundRect">
            <a:avLst>
              <a:gd name="adj" fmla="val 6780"/>
            </a:avLst>
          </a:prstGeom>
          <a:solidFill>
            <a:schemeClr val="bg1"/>
          </a:solidFill>
          <a:ln w="12700">
            <a:solidFill>
              <a:schemeClr val="bg1"/>
            </a:solidFill>
            <a:prstDash val="solid"/>
          </a:ln>
        </p:spPr>
        <p:txBody>
          <a:bodyPr/>
          <a:lstStyle/>
          <a:p>
            <a:endParaRPr lang="ko-KR" altLang="en-US"/>
          </a:p>
        </p:txBody>
      </p:sp>
      <p:pic>
        <p:nvPicPr>
          <p:cNvPr id="12" name="Image 3" descr="GitHub QR 코드"/>
          <p:cNvPicPr>
            <a:picLocks noChangeAspect="1"/>
          </p:cNvPicPr>
          <p:nvPr/>
        </p:nvPicPr>
        <p:blipFill>
          <a:blip r:embed="rId7"/>
          <a:stretch>
            <a:fillRect/>
          </a:stretch>
        </p:blipFill>
        <p:spPr>
          <a:xfrm>
            <a:off x="6553048" y="3611880"/>
            <a:ext cx="2148840" cy="2148840"/>
          </a:xfrm>
          <a:prstGeom prst="rect">
            <a:avLst/>
          </a:prstGeom>
        </p:spPr>
      </p:pic>
      <p:pic>
        <p:nvPicPr>
          <p:cNvPr id="13" name="Image 4" descr="github icon"/>
          <p:cNvPicPr>
            <a:picLocks noChangeAspect="1"/>
          </p:cNvPicPr>
          <p:nvPr/>
        </p:nvPicPr>
        <p:blipFill>
          <a:blip r:embed="rId8"/>
          <a:stretch>
            <a:fillRect/>
          </a:stretch>
        </p:blipFill>
        <p:spPr>
          <a:xfrm>
            <a:off x="8976208" y="3657600"/>
            <a:ext cx="384048" cy="384048"/>
          </a:xfrm>
          <a:prstGeom prst="rect">
            <a:avLst/>
          </a:prstGeom>
        </p:spPr>
      </p:pic>
      <p:sp>
        <p:nvSpPr>
          <p:cNvPr id="14" name="Text 7"/>
          <p:cNvSpPr txBox="1"/>
          <p:nvPr/>
        </p:nvSpPr>
        <p:spPr>
          <a:xfrm>
            <a:off x="9479128" y="3657600"/>
            <a:ext cx="1981048" cy="384048"/>
          </a:xfrm>
          <a:prstGeom prst="rect">
            <a:avLst/>
          </a:prstGeom>
          <a:noFill/>
          <a:ln/>
        </p:spPr>
        <p:txBody>
          <a:bodyPr wrap="square" lIns="0" tIns="0" rIns="0" bIns="0" rtlCol="0" anchor="ctr"/>
          <a:lstStyle/>
          <a:p>
            <a:pPr marL="0" indent="0">
              <a:buNone/>
            </a:pPr>
            <a:r>
              <a:rPr lang="en-US" sz="2000" b="1" dirty="0">
                <a:solidFill>
                  <a:schemeClr val="tx1"/>
                </a:solidFill>
              </a:rPr>
              <a:t>GitHub</a:t>
            </a:r>
            <a:endParaRPr lang="en-US" sz="2000" dirty="0"/>
          </a:p>
        </p:txBody>
      </p:sp>
      <p:sp>
        <p:nvSpPr>
          <p:cNvPr id="15" name="Text 8">
            <a:hlinkClick r:id="rId9"/>
          </p:cNvPr>
          <p:cNvSpPr txBox="1"/>
          <p:nvPr/>
        </p:nvSpPr>
        <p:spPr>
          <a:xfrm>
            <a:off x="8976208" y="4251960"/>
            <a:ext cx="2438248" cy="868680"/>
          </a:xfrm>
          <a:prstGeom prst="rect">
            <a:avLst/>
          </a:prstGeom>
          <a:noFill/>
          <a:ln/>
        </p:spPr>
        <p:txBody>
          <a:bodyPr wrap="square" lIns="0" tIns="0" rIns="0" bIns="0" rtlCol="0" anchor="t"/>
          <a:lstStyle/>
          <a:p>
            <a:pPr marL="0" indent="0">
              <a:buNone/>
            </a:pPr>
            <a:r>
              <a:rPr lang="en-US" sz="1300" u="sng" dirty="0">
                <a:solidFill>
                  <a:schemeClr val="tx1"/>
                </a:solidFill>
                <a:hlinkClick r:id="rId9">
                  <a:extLst>
                    <a:ext uri="{A12FA001-AC4F-418D-AE19-62706E023703}">
                      <ahyp:hlinkClr xmlns:ahyp="http://schemas.microsoft.com/office/drawing/2018/hyperlinkcolor" val="tx"/>
                    </a:ext>
                  </a:extLst>
                </a:hlinkClick>
              </a:rPr>
              <a:t>github.com/Terra0305/</a:t>
            </a:r>
            <a:endParaRPr lang="en-US" sz="1300" dirty="0"/>
          </a:p>
          <a:p>
            <a:pPr marL="0" indent="0">
              <a:buNone/>
            </a:pPr>
            <a:r>
              <a:rPr lang="en-US" sz="1300" u="sng" dirty="0">
                <a:solidFill>
                  <a:schemeClr val="tx1"/>
                </a:solidFill>
                <a:hlinkClick r:id="rId9">
                  <a:extLst>
                    <a:ext uri="{A12FA001-AC4F-418D-AE19-62706E023703}">
                      <ahyp:hlinkClr xmlns:ahyp="http://schemas.microsoft.com/office/drawing/2018/hyperlinkcolor" val="tx"/>
                    </a:ext>
                  </a:extLst>
                </a:hlinkClick>
              </a:rPr>
              <a:t>ICTbuild-upProject</a:t>
            </a:r>
            <a:endParaRPr lang="en-US" sz="1300" dirty="0"/>
          </a:p>
        </p:txBody>
      </p:sp>
      <p:sp>
        <p:nvSpPr>
          <p:cNvPr id="16" name="Text 9"/>
          <p:cNvSpPr txBox="1"/>
          <p:nvPr/>
        </p:nvSpPr>
        <p:spPr>
          <a:xfrm>
            <a:off x="8976208" y="5257800"/>
            <a:ext cx="2438248" cy="274320"/>
          </a:xfrm>
          <a:prstGeom prst="rect">
            <a:avLst/>
          </a:prstGeom>
          <a:noFill/>
          <a:ln/>
        </p:spPr>
        <p:txBody>
          <a:bodyPr wrap="square" lIns="0" tIns="0" rIns="0" bIns="0" rtlCol="0" anchor="t"/>
          <a:lstStyle/>
          <a:p>
            <a:pPr marL="0" indent="0">
              <a:buNone/>
            </a:pPr>
            <a:r>
              <a:rPr lang="en-US" sz="1200" dirty="0">
                <a:solidFill>
                  <a:schemeClr val="tx2"/>
                </a:solidFill>
              </a:rPr>
              <a:t>QR로 바로 접속</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221EF-5C4E-0C5D-6C6B-F11A50D3E6DE}"/>
            </a:ext>
          </a:extLst>
        </p:cNvPr>
        <p:cNvGrpSpPr/>
        <p:nvPr/>
      </p:nvGrpSpPr>
      <p:grpSpPr>
        <a:xfrm>
          <a:off x="0" y="0"/>
          <a:ext cx="0" cy="0"/>
          <a:chOff x="0" y="0"/>
          <a:chExt cx="0" cy="0"/>
        </a:xfrm>
      </p:grpSpPr>
      <p:pic>
        <p:nvPicPr>
          <p:cNvPr id="2" name="Image 0" descr="ReFind logo">
            <a:extLst>
              <a:ext uri="{FF2B5EF4-FFF2-40B4-BE49-F238E27FC236}">
                <a16:creationId xmlns:a16="http://schemas.microsoft.com/office/drawing/2014/main" id="{DC8B0240-00CC-8DEC-5545-6F021E3A2E95}"/>
              </a:ext>
            </a:extLst>
          </p:cNvPr>
          <p:cNvPicPr>
            <a:picLocks noChangeAspect="1"/>
          </p:cNvPicPr>
          <p:nvPr/>
        </p:nvPicPr>
        <p:blipFill>
          <a:blip r:embed="rId3"/>
          <a:stretch>
            <a:fillRect/>
          </a:stretch>
        </p:blipFill>
        <p:spPr>
          <a:xfrm>
            <a:off x="548640" y="640080"/>
            <a:ext cx="548640" cy="548640"/>
          </a:xfrm>
          <a:prstGeom prst="rect">
            <a:avLst/>
          </a:prstGeom>
        </p:spPr>
      </p:pic>
      <p:sp>
        <p:nvSpPr>
          <p:cNvPr id="3" name="Text 0">
            <a:extLst>
              <a:ext uri="{FF2B5EF4-FFF2-40B4-BE49-F238E27FC236}">
                <a16:creationId xmlns:a16="http://schemas.microsoft.com/office/drawing/2014/main" id="{DBA0C228-FB12-D527-EE76-CF98768D0EF7}"/>
              </a:ext>
            </a:extLst>
          </p:cNvPr>
          <p:cNvSpPr txBox="1"/>
          <p:nvPr/>
        </p:nvSpPr>
        <p:spPr>
          <a:xfrm>
            <a:off x="548640" y="1325880"/>
            <a:ext cx="7315200" cy="1097280"/>
          </a:xfrm>
          <a:prstGeom prst="rect">
            <a:avLst/>
          </a:prstGeom>
          <a:noFill/>
          <a:ln/>
        </p:spPr>
        <p:txBody>
          <a:bodyPr wrap="square" lIns="0" tIns="0" rIns="0" bIns="0" rtlCol="0" anchor="ctr"/>
          <a:lstStyle/>
          <a:p>
            <a:pPr marL="0" indent="0">
              <a:buNone/>
            </a:pPr>
            <a:r>
              <a:rPr lang="en-US" sz="6600" b="1" dirty="0">
                <a:solidFill>
                  <a:schemeClr val="bg1"/>
                </a:solidFill>
              </a:rPr>
              <a:t>감사합니다</a:t>
            </a:r>
            <a:endParaRPr lang="en-US" sz="6600" dirty="0"/>
          </a:p>
        </p:txBody>
      </p:sp>
      <p:sp>
        <p:nvSpPr>
          <p:cNvPr id="4" name="Text 1">
            <a:extLst>
              <a:ext uri="{FF2B5EF4-FFF2-40B4-BE49-F238E27FC236}">
                <a16:creationId xmlns:a16="http://schemas.microsoft.com/office/drawing/2014/main" id="{ADD56BC7-4306-BA51-9B8A-CDF913E414BE}"/>
              </a:ext>
            </a:extLst>
          </p:cNvPr>
          <p:cNvSpPr txBox="1"/>
          <p:nvPr/>
        </p:nvSpPr>
        <p:spPr>
          <a:xfrm>
            <a:off x="548640" y="2468880"/>
            <a:ext cx="8229600" cy="457200"/>
          </a:xfrm>
          <a:prstGeom prst="rect">
            <a:avLst/>
          </a:prstGeom>
          <a:noFill/>
          <a:ln/>
        </p:spPr>
        <p:txBody>
          <a:bodyPr wrap="square" lIns="0" tIns="0" rIns="0" bIns="0" rtlCol="0" anchor="t"/>
          <a:lstStyle/>
          <a:p>
            <a:pPr marL="0" indent="0">
              <a:buNone/>
            </a:pPr>
            <a:r>
              <a:rPr lang="en-US" sz="2200" dirty="0">
                <a:solidFill>
                  <a:schemeClr val="accent6"/>
                </a:solidFill>
              </a:rPr>
              <a:t>잃어버린 물건이 나를 먼저 찾아옵니다</a:t>
            </a:r>
            <a:endParaRPr lang="en-US" sz="2200" dirty="0"/>
          </a:p>
        </p:txBody>
      </p:sp>
      <p:sp>
        <p:nvSpPr>
          <p:cNvPr id="5" name="웹 사이트 link card">
            <a:extLst>
              <a:ext uri="{FF2B5EF4-FFF2-40B4-BE49-F238E27FC236}">
                <a16:creationId xmlns:a16="http://schemas.microsoft.com/office/drawing/2014/main" id="{B59D4C19-0E44-9331-5794-3B821B4CFBB7}"/>
              </a:ext>
            </a:extLst>
          </p:cNvPr>
          <p:cNvSpPr/>
          <p:nvPr/>
        </p:nvSpPr>
        <p:spPr>
          <a:xfrm>
            <a:off x="548640" y="3337560"/>
            <a:ext cx="5364328" cy="2697480"/>
          </a:xfrm>
          <a:prstGeom prst="roundRect">
            <a:avLst>
              <a:gd name="adj" fmla="val 6780"/>
            </a:avLst>
          </a:prstGeom>
          <a:solidFill>
            <a:schemeClr val="bg1"/>
          </a:solidFill>
          <a:ln w="12700">
            <a:solidFill>
              <a:schemeClr val="bg1"/>
            </a:solidFill>
            <a:prstDash val="solid"/>
          </a:ln>
        </p:spPr>
        <p:txBody>
          <a:bodyPr/>
          <a:lstStyle/>
          <a:p>
            <a:endParaRPr lang="ko-KR" altLang="en-US"/>
          </a:p>
        </p:txBody>
      </p:sp>
      <p:pic>
        <p:nvPicPr>
          <p:cNvPr id="6" name="Image 1" descr="웹 사이트 QR 코드">
            <a:extLst>
              <a:ext uri="{FF2B5EF4-FFF2-40B4-BE49-F238E27FC236}">
                <a16:creationId xmlns:a16="http://schemas.microsoft.com/office/drawing/2014/main" id="{6B8A0E83-2555-6B5F-BDAB-0EA90B60FCAD}"/>
              </a:ext>
            </a:extLst>
          </p:cNvPr>
          <p:cNvPicPr>
            <a:picLocks noChangeAspect="1"/>
          </p:cNvPicPr>
          <p:nvPr/>
        </p:nvPicPr>
        <p:blipFill>
          <a:blip r:embed="rId4"/>
          <a:stretch>
            <a:fillRect/>
          </a:stretch>
        </p:blipFill>
        <p:spPr>
          <a:xfrm>
            <a:off x="822960" y="3611880"/>
            <a:ext cx="2148840" cy="2148840"/>
          </a:xfrm>
          <a:prstGeom prst="rect">
            <a:avLst/>
          </a:prstGeom>
        </p:spPr>
      </p:pic>
      <p:pic>
        <p:nvPicPr>
          <p:cNvPr id="7" name="Image 2" descr="globe icon">
            <a:extLst>
              <a:ext uri="{FF2B5EF4-FFF2-40B4-BE49-F238E27FC236}">
                <a16:creationId xmlns:a16="http://schemas.microsoft.com/office/drawing/2014/main" id="{348C5C6E-5E63-4E17-2418-1DDDDF398B09}"/>
              </a:ext>
            </a:extLst>
          </p:cNvPr>
          <p:cNvPicPr>
            <a:picLocks noChangeAspect="1"/>
          </p:cNvPicPr>
          <p:nvPr/>
        </p:nvPicPr>
        <p:blipFill>
          <a:blip r:embed="rId5"/>
          <a:stretch>
            <a:fillRect/>
          </a:stretch>
        </p:blipFill>
        <p:spPr>
          <a:xfrm>
            <a:off x="3246120" y="3657600"/>
            <a:ext cx="384048" cy="384048"/>
          </a:xfrm>
          <a:prstGeom prst="rect">
            <a:avLst/>
          </a:prstGeom>
        </p:spPr>
      </p:pic>
      <p:sp>
        <p:nvSpPr>
          <p:cNvPr id="8" name="Text 3">
            <a:extLst>
              <a:ext uri="{FF2B5EF4-FFF2-40B4-BE49-F238E27FC236}">
                <a16:creationId xmlns:a16="http://schemas.microsoft.com/office/drawing/2014/main" id="{DBE1B08A-DDDE-B52A-2D66-02212AC76C65}"/>
              </a:ext>
            </a:extLst>
          </p:cNvPr>
          <p:cNvSpPr txBox="1"/>
          <p:nvPr/>
        </p:nvSpPr>
        <p:spPr>
          <a:xfrm>
            <a:off x="3749040" y="3657600"/>
            <a:ext cx="1981048" cy="384048"/>
          </a:xfrm>
          <a:prstGeom prst="rect">
            <a:avLst/>
          </a:prstGeom>
          <a:noFill/>
          <a:ln/>
        </p:spPr>
        <p:txBody>
          <a:bodyPr wrap="square" lIns="0" tIns="0" rIns="0" bIns="0" rtlCol="0" anchor="ctr"/>
          <a:lstStyle/>
          <a:p>
            <a:pPr marL="0" indent="0">
              <a:buNone/>
            </a:pPr>
            <a:r>
              <a:rPr lang="en-US" sz="2000" b="1" dirty="0">
                <a:solidFill>
                  <a:schemeClr val="tx1"/>
                </a:solidFill>
              </a:rPr>
              <a:t>웹 사이트</a:t>
            </a:r>
            <a:endParaRPr lang="en-US" sz="2000" dirty="0"/>
          </a:p>
        </p:txBody>
      </p:sp>
      <p:sp>
        <p:nvSpPr>
          <p:cNvPr id="9" name="Text 4">
            <a:hlinkClick r:id="rId6"/>
            <a:extLst>
              <a:ext uri="{FF2B5EF4-FFF2-40B4-BE49-F238E27FC236}">
                <a16:creationId xmlns:a16="http://schemas.microsoft.com/office/drawing/2014/main" id="{C4A37C9F-B7C0-4D4D-41B7-975415E6D825}"/>
              </a:ext>
            </a:extLst>
          </p:cNvPr>
          <p:cNvSpPr txBox="1"/>
          <p:nvPr/>
        </p:nvSpPr>
        <p:spPr>
          <a:xfrm>
            <a:off x="3246120" y="4251960"/>
            <a:ext cx="2438248" cy="868680"/>
          </a:xfrm>
          <a:prstGeom prst="rect">
            <a:avLst/>
          </a:prstGeom>
          <a:noFill/>
          <a:ln/>
        </p:spPr>
        <p:txBody>
          <a:bodyPr wrap="square" lIns="0" tIns="0" rIns="0" bIns="0" rtlCol="0" anchor="t"/>
          <a:lstStyle/>
          <a:p>
            <a:pPr marL="0" indent="0">
              <a:buNone/>
            </a:pPr>
            <a:r>
              <a:rPr lang="en-US" sz="1300" u="sng" dirty="0">
                <a:solidFill>
                  <a:schemeClr val="tx1"/>
                </a:solidFill>
                <a:hlinkClick r:id="rId6">
                  <a:extLst>
                    <a:ext uri="{A12FA001-AC4F-418D-AE19-62706E023703}">
                      <ahyp:hlinkClr xmlns:ahyp="http://schemas.microsoft.com/office/drawing/2018/hyperlinkcolor" val="tx"/>
                    </a:ext>
                  </a:extLst>
                </a:hlinkClick>
              </a:rPr>
              <a:t>d29d7xry7tkopu.cloudfront.net</a:t>
            </a:r>
            <a:endParaRPr lang="en-US" sz="1300" dirty="0"/>
          </a:p>
        </p:txBody>
      </p:sp>
      <p:sp>
        <p:nvSpPr>
          <p:cNvPr id="10" name="Text 5">
            <a:extLst>
              <a:ext uri="{FF2B5EF4-FFF2-40B4-BE49-F238E27FC236}">
                <a16:creationId xmlns:a16="http://schemas.microsoft.com/office/drawing/2014/main" id="{03EE3595-E09E-50B8-206B-15F21EEBE92A}"/>
              </a:ext>
            </a:extLst>
          </p:cNvPr>
          <p:cNvSpPr txBox="1"/>
          <p:nvPr/>
        </p:nvSpPr>
        <p:spPr>
          <a:xfrm>
            <a:off x="3246120" y="5257800"/>
            <a:ext cx="2438248" cy="274320"/>
          </a:xfrm>
          <a:prstGeom prst="rect">
            <a:avLst/>
          </a:prstGeom>
          <a:noFill/>
          <a:ln/>
        </p:spPr>
        <p:txBody>
          <a:bodyPr wrap="square" lIns="0" tIns="0" rIns="0" bIns="0" rtlCol="0" anchor="t"/>
          <a:lstStyle/>
          <a:p>
            <a:pPr marL="0" indent="0">
              <a:buNone/>
            </a:pPr>
            <a:r>
              <a:rPr lang="en-US" sz="1200" dirty="0">
                <a:solidFill>
                  <a:schemeClr val="tx2"/>
                </a:solidFill>
              </a:rPr>
              <a:t>QR로 바로 접속</a:t>
            </a:r>
            <a:endParaRPr lang="en-US" sz="1200" dirty="0"/>
          </a:p>
        </p:txBody>
      </p:sp>
      <p:sp>
        <p:nvSpPr>
          <p:cNvPr id="11" name="GitHub link card">
            <a:extLst>
              <a:ext uri="{FF2B5EF4-FFF2-40B4-BE49-F238E27FC236}">
                <a16:creationId xmlns:a16="http://schemas.microsoft.com/office/drawing/2014/main" id="{6712CCD4-A2EE-9E7F-D7BC-5E7AAB8446E1}"/>
              </a:ext>
            </a:extLst>
          </p:cNvPr>
          <p:cNvSpPr/>
          <p:nvPr/>
        </p:nvSpPr>
        <p:spPr>
          <a:xfrm>
            <a:off x="6278728" y="3337560"/>
            <a:ext cx="5364328" cy="2697480"/>
          </a:xfrm>
          <a:prstGeom prst="roundRect">
            <a:avLst>
              <a:gd name="adj" fmla="val 6780"/>
            </a:avLst>
          </a:prstGeom>
          <a:solidFill>
            <a:schemeClr val="bg1"/>
          </a:solidFill>
          <a:ln w="12700">
            <a:solidFill>
              <a:schemeClr val="bg1"/>
            </a:solidFill>
            <a:prstDash val="solid"/>
          </a:ln>
        </p:spPr>
        <p:txBody>
          <a:bodyPr/>
          <a:lstStyle/>
          <a:p>
            <a:endParaRPr lang="ko-KR" altLang="en-US"/>
          </a:p>
        </p:txBody>
      </p:sp>
      <p:pic>
        <p:nvPicPr>
          <p:cNvPr id="12" name="Image 3" descr="GitHub QR 코드">
            <a:extLst>
              <a:ext uri="{FF2B5EF4-FFF2-40B4-BE49-F238E27FC236}">
                <a16:creationId xmlns:a16="http://schemas.microsoft.com/office/drawing/2014/main" id="{2EF6CC95-75D3-B475-87B8-C6EFB88DD31F}"/>
              </a:ext>
            </a:extLst>
          </p:cNvPr>
          <p:cNvPicPr>
            <a:picLocks noChangeAspect="1"/>
          </p:cNvPicPr>
          <p:nvPr/>
        </p:nvPicPr>
        <p:blipFill>
          <a:blip r:embed="rId7"/>
          <a:stretch>
            <a:fillRect/>
          </a:stretch>
        </p:blipFill>
        <p:spPr>
          <a:xfrm>
            <a:off x="6553048" y="3611880"/>
            <a:ext cx="2148840" cy="2148840"/>
          </a:xfrm>
          <a:prstGeom prst="rect">
            <a:avLst/>
          </a:prstGeom>
        </p:spPr>
      </p:pic>
      <p:pic>
        <p:nvPicPr>
          <p:cNvPr id="13" name="Image 4" descr="github icon">
            <a:extLst>
              <a:ext uri="{FF2B5EF4-FFF2-40B4-BE49-F238E27FC236}">
                <a16:creationId xmlns:a16="http://schemas.microsoft.com/office/drawing/2014/main" id="{6E5F561E-4FA7-BEF7-C928-53BFB5BB165D}"/>
              </a:ext>
            </a:extLst>
          </p:cNvPr>
          <p:cNvPicPr>
            <a:picLocks noChangeAspect="1"/>
          </p:cNvPicPr>
          <p:nvPr/>
        </p:nvPicPr>
        <p:blipFill>
          <a:blip r:embed="rId8"/>
          <a:stretch>
            <a:fillRect/>
          </a:stretch>
        </p:blipFill>
        <p:spPr>
          <a:xfrm>
            <a:off x="8976208" y="3657600"/>
            <a:ext cx="384048" cy="384048"/>
          </a:xfrm>
          <a:prstGeom prst="rect">
            <a:avLst/>
          </a:prstGeom>
        </p:spPr>
      </p:pic>
      <p:sp>
        <p:nvSpPr>
          <p:cNvPr id="14" name="Text 7">
            <a:extLst>
              <a:ext uri="{FF2B5EF4-FFF2-40B4-BE49-F238E27FC236}">
                <a16:creationId xmlns:a16="http://schemas.microsoft.com/office/drawing/2014/main" id="{9C157FD4-280E-B565-6540-343C1EBBAA25}"/>
              </a:ext>
            </a:extLst>
          </p:cNvPr>
          <p:cNvSpPr txBox="1"/>
          <p:nvPr/>
        </p:nvSpPr>
        <p:spPr>
          <a:xfrm>
            <a:off x="9479128" y="3657600"/>
            <a:ext cx="1981048" cy="384048"/>
          </a:xfrm>
          <a:prstGeom prst="rect">
            <a:avLst/>
          </a:prstGeom>
          <a:noFill/>
          <a:ln/>
        </p:spPr>
        <p:txBody>
          <a:bodyPr wrap="square" lIns="0" tIns="0" rIns="0" bIns="0" rtlCol="0" anchor="ctr"/>
          <a:lstStyle/>
          <a:p>
            <a:pPr marL="0" indent="0">
              <a:buNone/>
            </a:pPr>
            <a:r>
              <a:rPr lang="en-US" sz="2000" b="1" dirty="0">
                <a:solidFill>
                  <a:schemeClr val="tx1"/>
                </a:solidFill>
              </a:rPr>
              <a:t>GitHub</a:t>
            </a:r>
            <a:endParaRPr lang="en-US" sz="2000" dirty="0"/>
          </a:p>
        </p:txBody>
      </p:sp>
      <p:sp>
        <p:nvSpPr>
          <p:cNvPr id="15" name="Text 8">
            <a:hlinkClick r:id="rId9"/>
            <a:extLst>
              <a:ext uri="{FF2B5EF4-FFF2-40B4-BE49-F238E27FC236}">
                <a16:creationId xmlns:a16="http://schemas.microsoft.com/office/drawing/2014/main" id="{DB5EA6E7-A204-7E9A-4833-3A860B3C6B3C}"/>
              </a:ext>
            </a:extLst>
          </p:cNvPr>
          <p:cNvSpPr txBox="1"/>
          <p:nvPr/>
        </p:nvSpPr>
        <p:spPr>
          <a:xfrm>
            <a:off x="8976208" y="4251960"/>
            <a:ext cx="2438248" cy="868680"/>
          </a:xfrm>
          <a:prstGeom prst="rect">
            <a:avLst/>
          </a:prstGeom>
          <a:noFill/>
          <a:ln/>
        </p:spPr>
        <p:txBody>
          <a:bodyPr wrap="square" lIns="0" tIns="0" rIns="0" bIns="0" rtlCol="0" anchor="t"/>
          <a:lstStyle/>
          <a:p>
            <a:pPr marL="0" indent="0">
              <a:buNone/>
            </a:pPr>
            <a:r>
              <a:rPr lang="en-US" sz="1300" u="sng" dirty="0">
                <a:solidFill>
                  <a:schemeClr val="tx1"/>
                </a:solidFill>
                <a:hlinkClick r:id="rId9">
                  <a:extLst>
                    <a:ext uri="{A12FA001-AC4F-418D-AE19-62706E023703}">
                      <ahyp:hlinkClr xmlns:ahyp="http://schemas.microsoft.com/office/drawing/2018/hyperlinkcolor" val="tx"/>
                    </a:ext>
                  </a:extLst>
                </a:hlinkClick>
              </a:rPr>
              <a:t>github.com/Terra0305/</a:t>
            </a:r>
            <a:endParaRPr lang="en-US" sz="1300" dirty="0"/>
          </a:p>
          <a:p>
            <a:pPr marL="0" indent="0">
              <a:buNone/>
            </a:pPr>
            <a:r>
              <a:rPr lang="en-US" sz="1300" u="sng" dirty="0">
                <a:solidFill>
                  <a:schemeClr val="tx1"/>
                </a:solidFill>
                <a:hlinkClick r:id="rId9">
                  <a:extLst>
                    <a:ext uri="{A12FA001-AC4F-418D-AE19-62706E023703}">
                      <ahyp:hlinkClr xmlns:ahyp="http://schemas.microsoft.com/office/drawing/2018/hyperlinkcolor" val="tx"/>
                    </a:ext>
                  </a:extLst>
                </a:hlinkClick>
              </a:rPr>
              <a:t>ICTbuild-upProject</a:t>
            </a:r>
            <a:endParaRPr lang="en-US" sz="1300" dirty="0"/>
          </a:p>
        </p:txBody>
      </p:sp>
      <p:sp>
        <p:nvSpPr>
          <p:cNvPr id="16" name="Text 9">
            <a:extLst>
              <a:ext uri="{FF2B5EF4-FFF2-40B4-BE49-F238E27FC236}">
                <a16:creationId xmlns:a16="http://schemas.microsoft.com/office/drawing/2014/main" id="{B1C44766-3837-EB8E-183C-4492E0863299}"/>
              </a:ext>
            </a:extLst>
          </p:cNvPr>
          <p:cNvSpPr txBox="1"/>
          <p:nvPr/>
        </p:nvSpPr>
        <p:spPr>
          <a:xfrm>
            <a:off x="8976208" y="5257800"/>
            <a:ext cx="2438248" cy="274320"/>
          </a:xfrm>
          <a:prstGeom prst="rect">
            <a:avLst/>
          </a:prstGeom>
          <a:noFill/>
          <a:ln/>
        </p:spPr>
        <p:txBody>
          <a:bodyPr wrap="square" lIns="0" tIns="0" rIns="0" bIns="0" rtlCol="0" anchor="t"/>
          <a:lstStyle/>
          <a:p>
            <a:pPr marL="0" indent="0">
              <a:buNone/>
            </a:pPr>
            <a:r>
              <a:rPr lang="en-US" sz="1200" dirty="0">
                <a:solidFill>
                  <a:schemeClr val="tx2"/>
                </a:solidFill>
              </a:rPr>
              <a:t>QR로 바로 접속</a:t>
            </a:r>
            <a:endParaRPr lang="en-US" sz="1200" dirty="0"/>
          </a:p>
        </p:txBody>
      </p:sp>
    </p:spTree>
    <p:extLst>
      <p:ext uri="{BB962C8B-B14F-4D97-AF65-F5344CB8AC3E}">
        <p14:creationId xmlns:p14="http://schemas.microsoft.com/office/powerpoint/2010/main" val="1404801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339BE-2549-97E9-B36C-47BF10AFEEF6}"/>
            </a:ext>
          </a:extLst>
        </p:cNvPr>
        <p:cNvGrpSpPr/>
        <p:nvPr/>
      </p:nvGrpSpPr>
      <p:grpSpPr>
        <a:xfrm>
          <a:off x="0" y="0"/>
          <a:ext cx="0" cy="0"/>
          <a:chOff x="0" y="0"/>
          <a:chExt cx="0" cy="0"/>
        </a:xfrm>
      </p:grpSpPr>
      <p:pic>
        <p:nvPicPr>
          <p:cNvPr id="2" name="Image 0" descr="ReFind logo">
            <a:extLst>
              <a:ext uri="{FF2B5EF4-FFF2-40B4-BE49-F238E27FC236}">
                <a16:creationId xmlns:a16="http://schemas.microsoft.com/office/drawing/2014/main" id="{CCE6BA12-4C6F-AF10-569B-23E88B214A92}"/>
              </a:ext>
            </a:extLst>
          </p:cNvPr>
          <p:cNvPicPr>
            <a:picLocks noChangeAspect="1"/>
          </p:cNvPicPr>
          <p:nvPr/>
        </p:nvPicPr>
        <p:blipFill>
          <a:blip r:embed="rId3"/>
          <a:stretch>
            <a:fillRect/>
          </a:stretch>
        </p:blipFill>
        <p:spPr>
          <a:xfrm>
            <a:off x="548640" y="640080"/>
            <a:ext cx="548640" cy="548640"/>
          </a:xfrm>
          <a:prstGeom prst="rect">
            <a:avLst/>
          </a:prstGeom>
        </p:spPr>
      </p:pic>
      <p:sp>
        <p:nvSpPr>
          <p:cNvPr id="3" name="Text 0">
            <a:extLst>
              <a:ext uri="{FF2B5EF4-FFF2-40B4-BE49-F238E27FC236}">
                <a16:creationId xmlns:a16="http://schemas.microsoft.com/office/drawing/2014/main" id="{D00EBDF2-151D-34BE-97F0-B7491BDA511C}"/>
              </a:ext>
            </a:extLst>
          </p:cNvPr>
          <p:cNvSpPr txBox="1"/>
          <p:nvPr/>
        </p:nvSpPr>
        <p:spPr>
          <a:xfrm>
            <a:off x="548640" y="1325880"/>
            <a:ext cx="7315200" cy="1097280"/>
          </a:xfrm>
          <a:prstGeom prst="rect">
            <a:avLst/>
          </a:prstGeom>
          <a:noFill/>
          <a:ln/>
        </p:spPr>
        <p:txBody>
          <a:bodyPr wrap="square" lIns="0" tIns="0" rIns="0" bIns="0" rtlCol="0" anchor="ctr"/>
          <a:lstStyle/>
          <a:p>
            <a:pPr marL="0" indent="0">
              <a:buNone/>
            </a:pPr>
            <a:r>
              <a:rPr lang="en-US" sz="6600" b="1" dirty="0">
                <a:solidFill>
                  <a:schemeClr val="bg1"/>
                </a:solidFill>
              </a:rPr>
              <a:t>감사합니다</a:t>
            </a:r>
            <a:endParaRPr lang="en-US" sz="6600" dirty="0"/>
          </a:p>
        </p:txBody>
      </p:sp>
      <p:sp>
        <p:nvSpPr>
          <p:cNvPr id="4" name="Text 1">
            <a:extLst>
              <a:ext uri="{FF2B5EF4-FFF2-40B4-BE49-F238E27FC236}">
                <a16:creationId xmlns:a16="http://schemas.microsoft.com/office/drawing/2014/main" id="{0F6CA123-1D07-9B79-DCCC-83B78D9EA9E1}"/>
              </a:ext>
            </a:extLst>
          </p:cNvPr>
          <p:cNvSpPr txBox="1"/>
          <p:nvPr/>
        </p:nvSpPr>
        <p:spPr>
          <a:xfrm>
            <a:off x="548640" y="2468880"/>
            <a:ext cx="8229600" cy="457200"/>
          </a:xfrm>
          <a:prstGeom prst="rect">
            <a:avLst/>
          </a:prstGeom>
          <a:noFill/>
          <a:ln/>
        </p:spPr>
        <p:txBody>
          <a:bodyPr wrap="square" lIns="0" tIns="0" rIns="0" bIns="0" rtlCol="0" anchor="t"/>
          <a:lstStyle/>
          <a:p>
            <a:pPr marL="0" indent="0">
              <a:buNone/>
            </a:pPr>
            <a:r>
              <a:rPr lang="en-US" sz="2200" dirty="0">
                <a:solidFill>
                  <a:schemeClr val="accent6"/>
                </a:solidFill>
              </a:rPr>
              <a:t>잃어버린 물건이 나를 먼저 찾아옵니다</a:t>
            </a:r>
            <a:endParaRPr lang="en-US" sz="2200" dirty="0"/>
          </a:p>
        </p:txBody>
      </p:sp>
      <p:sp>
        <p:nvSpPr>
          <p:cNvPr id="5" name="웹 사이트 link card">
            <a:extLst>
              <a:ext uri="{FF2B5EF4-FFF2-40B4-BE49-F238E27FC236}">
                <a16:creationId xmlns:a16="http://schemas.microsoft.com/office/drawing/2014/main" id="{95A8F18A-0134-1613-E80E-57B1E6C725E2}"/>
              </a:ext>
            </a:extLst>
          </p:cNvPr>
          <p:cNvSpPr/>
          <p:nvPr/>
        </p:nvSpPr>
        <p:spPr>
          <a:xfrm>
            <a:off x="548640" y="3337560"/>
            <a:ext cx="5364328" cy="2697480"/>
          </a:xfrm>
          <a:prstGeom prst="roundRect">
            <a:avLst>
              <a:gd name="adj" fmla="val 6780"/>
            </a:avLst>
          </a:prstGeom>
          <a:solidFill>
            <a:schemeClr val="bg1"/>
          </a:solidFill>
          <a:ln w="12700">
            <a:solidFill>
              <a:schemeClr val="bg1"/>
            </a:solidFill>
            <a:prstDash val="solid"/>
          </a:ln>
        </p:spPr>
        <p:txBody>
          <a:bodyPr/>
          <a:lstStyle/>
          <a:p>
            <a:endParaRPr lang="ko-KR" altLang="en-US"/>
          </a:p>
        </p:txBody>
      </p:sp>
      <p:pic>
        <p:nvPicPr>
          <p:cNvPr id="6" name="Image 1" descr="웹 사이트 QR 코드">
            <a:extLst>
              <a:ext uri="{FF2B5EF4-FFF2-40B4-BE49-F238E27FC236}">
                <a16:creationId xmlns:a16="http://schemas.microsoft.com/office/drawing/2014/main" id="{CBA9684D-528C-C85C-D4F3-5BD2FF24915B}"/>
              </a:ext>
            </a:extLst>
          </p:cNvPr>
          <p:cNvPicPr>
            <a:picLocks noChangeAspect="1"/>
          </p:cNvPicPr>
          <p:nvPr/>
        </p:nvPicPr>
        <p:blipFill>
          <a:blip r:embed="rId4"/>
          <a:stretch>
            <a:fillRect/>
          </a:stretch>
        </p:blipFill>
        <p:spPr>
          <a:xfrm>
            <a:off x="822960" y="3611880"/>
            <a:ext cx="2148840" cy="2148840"/>
          </a:xfrm>
          <a:prstGeom prst="rect">
            <a:avLst/>
          </a:prstGeom>
        </p:spPr>
      </p:pic>
      <p:pic>
        <p:nvPicPr>
          <p:cNvPr id="7" name="Image 2" descr="globe icon">
            <a:extLst>
              <a:ext uri="{FF2B5EF4-FFF2-40B4-BE49-F238E27FC236}">
                <a16:creationId xmlns:a16="http://schemas.microsoft.com/office/drawing/2014/main" id="{37A60808-187C-4EB6-7267-AAA569DC48FF}"/>
              </a:ext>
            </a:extLst>
          </p:cNvPr>
          <p:cNvPicPr>
            <a:picLocks noChangeAspect="1"/>
          </p:cNvPicPr>
          <p:nvPr/>
        </p:nvPicPr>
        <p:blipFill>
          <a:blip r:embed="rId5"/>
          <a:stretch>
            <a:fillRect/>
          </a:stretch>
        </p:blipFill>
        <p:spPr>
          <a:xfrm>
            <a:off x="3246120" y="3657600"/>
            <a:ext cx="384048" cy="384048"/>
          </a:xfrm>
          <a:prstGeom prst="rect">
            <a:avLst/>
          </a:prstGeom>
        </p:spPr>
      </p:pic>
      <p:sp>
        <p:nvSpPr>
          <p:cNvPr id="8" name="Text 3">
            <a:extLst>
              <a:ext uri="{FF2B5EF4-FFF2-40B4-BE49-F238E27FC236}">
                <a16:creationId xmlns:a16="http://schemas.microsoft.com/office/drawing/2014/main" id="{334F981E-B50E-AD07-6EE5-3CCB24EC155D}"/>
              </a:ext>
            </a:extLst>
          </p:cNvPr>
          <p:cNvSpPr txBox="1"/>
          <p:nvPr/>
        </p:nvSpPr>
        <p:spPr>
          <a:xfrm>
            <a:off x="3749040" y="3657600"/>
            <a:ext cx="1981048" cy="384048"/>
          </a:xfrm>
          <a:prstGeom prst="rect">
            <a:avLst/>
          </a:prstGeom>
          <a:noFill/>
          <a:ln/>
        </p:spPr>
        <p:txBody>
          <a:bodyPr wrap="square" lIns="0" tIns="0" rIns="0" bIns="0" rtlCol="0" anchor="ctr"/>
          <a:lstStyle/>
          <a:p>
            <a:pPr marL="0" indent="0">
              <a:buNone/>
            </a:pPr>
            <a:r>
              <a:rPr lang="en-US" sz="2000" b="1" dirty="0">
                <a:solidFill>
                  <a:schemeClr val="tx1"/>
                </a:solidFill>
              </a:rPr>
              <a:t>웹 사이트</a:t>
            </a:r>
            <a:endParaRPr lang="en-US" sz="2000" dirty="0"/>
          </a:p>
        </p:txBody>
      </p:sp>
      <p:sp>
        <p:nvSpPr>
          <p:cNvPr id="9" name="Text 4">
            <a:hlinkClick r:id="rId6"/>
            <a:extLst>
              <a:ext uri="{FF2B5EF4-FFF2-40B4-BE49-F238E27FC236}">
                <a16:creationId xmlns:a16="http://schemas.microsoft.com/office/drawing/2014/main" id="{C08498C7-7576-B70E-89FB-8780F9FB3470}"/>
              </a:ext>
            </a:extLst>
          </p:cNvPr>
          <p:cNvSpPr txBox="1"/>
          <p:nvPr/>
        </p:nvSpPr>
        <p:spPr>
          <a:xfrm>
            <a:off x="3246120" y="4251960"/>
            <a:ext cx="2438248" cy="868680"/>
          </a:xfrm>
          <a:prstGeom prst="rect">
            <a:avLst/>
          </a:prstGeom>
          <a:noFill/>
          <a:ln/>
        </p:spPr>
        <p:txBody>
          <a:bodyPr wrap="square" lIns="0" tIns="0" rIns="0" bIns="0" rtlCol="0" anchor="t"/>
          <a:lstStyle/>
          <a:p>
            <a:pPr marL="0" indent="0">
              <a:buNone/>
            </a:pPr>
            <a:r>
              <a:rPr lang="en-US" sz="1300" u="sng" dirty="0">
                <a:solidFill>
                  <a:schemeClr val="tx1"/>
                </a:solidFill>
                <a:hlinkClick r:id="rId6">
                  <a:extLst>
                    <a:ext uri="{A12FA001-AC4F-418D-AE19-62706E023703}">
                      <ahyp:hlinkClr xmlns:ahyp="http://schemas.microsoft.com/office/drawing/2018/hyperlinkcolor" val="tx"/>
                    </a:ext>
                  </a:extLst>
                </a:hlinkClick>
              </a:rPr>
              <a:t>d29d7xry7tkopu.cloudfront.net</a:t>
            </a:r>
            <a:endParaRPr lang="en-US" sz="1300" dirty="0"/>
          </a:p>
        </p:txBody>
      </p:sp>
      <p:sp>
        <p:nvSpPr>
          <p:cNvPr id="10" name="Text 5">
            <a:extLst>
              <a:ext uri="{FF2B5EF4-FFF2-40B4-BE49-F238E27FC236}">
                <a16:creationId xmlns:a16="http://schemas.microsoft.com/office/drawing/2014/main" id="{B1503ADC-D147-1D5A-7B7E-7D47F532C02A}"/>
              </a:ext>
            </a:extLst>
          </p:cNvPr>
          <p:cNvSpPr txBox="1"/>
          <p:nvPr/>
        </p:nvSpPr>
        <p:spPr>
          <a:xfrm>
            <a:off x="3246120" y="5257800"/>
            <a:ext cx="2438248" cy="274320"/>
          </a:xfrm>
          <a:prstGeom prst="rect">
            <a:avLst/>
          </a:prstGeom>
          <a:noFill/>
          <a:ln/>
        </p:spPr>
        <p:txBody>
          <a:bodyPr wrap="square" lIns="0" tIns="0" rIns="0" bIns="0" rtlCol="0" anchor="t"/>
          <a:lstStyle/>
          <a:p>
            <a:pPr marL="0" indent="0">
              <a:buNone/>
            </a:pPr>
            <a:r>
              <a:rPr lang="en-US" sz="1200" dirty="0">
                <a:solidFill>
                  <a:schemeClr val="tx2"/>
                </a:solidFill>
              </a:rPr>
              <a:t>QR로 바로 접속</a:t>
            </a:r>
            <a:endParaRPr lang="en-US" sz="1200" dirty="0"/>
          </a:p>
        </p:txBody>
      </p:sp>
      <p:sp>
        <p:nvSpPr>
          <p:cNvPr id="11" name="GitHub link card">
            <a:extLst>
              <a:ext uri="{FF2B5EF4-FFF2-40B4-BE49-F238E27FC236}">
                <a16:creationId xmlns:a16="http://schemas.microsoft.com/office/drawing/2014/main" id="{B852FBF7-3F38-64EF-ECDE-23879DB4CB1D}"/>
              </a:ext>
            </a:extLst>
          </p:cNvPr>
          <p:cNvSpPr/>
          <p:nvPr/>
        </p:nvSpPr>
        <p:spPr>
          <a:xfrm>
            <a:off x="6278728" y="3337560"/>
            <a:ext cx="5364328" cy="2697480"/>
          </a:xfrm>
          <a:prstGeom prst="roundRect">
            <a:avLst>
              <a:gd name="adj" fmla="val 6780"/>
            </a:avLst>
          </a:prstGeom>
          <a:solidFill>
            <a:schemeClr val="bg1"/>
          </a:solidFill>
          <a:ln w="12700">
            <a:solidFill>
              <a:schemeClr val="bg1"/>
            </a:solidFill>
            <a:prstDash val="solid"/>
          </a:ln>
        </p:spPr>
        <p:txBody>
          <a:bodyPr/>
          <a:lstStyle/>
          <a:p>
            <a:endParaRPr lang="ko-KR" altLang="en-US"/>
          </a:p>
        </p:txBody>
      </p:sp>
      <p:pic>
        <p:nvPicPr>
          <p:cNvPr id="12" name="Image 3" descr="GitHub QR 코드">
            <a:extLst>
              <a:ext uri="{FF2B5EF4-FFF2-40B4-BE49-F238E27FC236}">
                <a16:creationId xmlns:a16="http://schemas.microsoft.com/office/drawing/2014/main" id="{919AC1B2-610E-48C1-D434-64ADDDDEE49F}"/>
              </a:ext>
            </a:extLst>
          </p:cNvPr>
          <p:cNvPicPr>
            <a:picLocks noChangeAspect="1"/>
          </p:cNvPicPr>
          <p:nvPr/>
        </p:nvPicPr>
        <p:blipFill>
          <a:blip r:embed="rId7"/>
          <a:stretch>
            <a:fillRect/>
          </a:stretch>
        </p:blipFill>
        <p:spPr>
          <a:xfrm>
            <a:off x="6553048" y="3611880"/>
            <a:ext cx="2148840" cy="2148840"/>
          </a:xfrm>
          <a:prstGeom prst="rect">
            <a:avLst/>
          </a:prstGeom>
        </p:spPr>
      </p:pic>
      <p:pic>
        <p:nvPicPr>
          <p:cNvPr id="13" name="Image 4" descr="github icon">
            <a:extLst>
              <a:ext uri="{FF2B5EF4-FFF2-40B4-BE49-F238E27FC236}">
                <a16:creationId xmlns:a16="http://schemas.microsoft.com/office/drawing/2014/main" id="{E455521A-8947-FA61-1E60-0F59800023A7}"/>
              </a:ext>
            </a:extLst>
          </p:cNvPr>
          <p:cNvPicPr>
            <a:picLocks noChangeAspect="1"/>
          </p:cNvPicPr>
          <p:nvPr/>
        </p:nvPicPr>
        <p:blipFill>
          <a:blip r:embed="rId8"/>
          <a:stretch>
            <a:fillRect/>
          </a:stretch>
        </p:blipFill>
        <p:spPr>
          <a:xfrm>
            <a:off x="8976208" y="3657600"/>
            <a:ext cx="384048" cy="384048"/>
          </a:xfrm>
          <a:prstGeom prst="rect">
            <a:avLst/>
          </a:prstGeom>
        </p:spPr>
      </p:pic>
      <p:sp>
        <p:nvSpPr>
          <p:cNvPr id="14" name="Text 7">
            <a:extLst>
              <a:ext uri="{FF2B5EF4-FFF2-40B4-BE49-F238E27FC236}">
                <a16:creationId xmlns:a16="http://schemas.microsoft.com/office/drawing/2014/main" id="{8B171995-E476-BE68-C40C-DE45ED792D0E}"/>
              </a:ext>
            </a:extLst>
          </p:cNvPr>
          <p:cNvSpPr txBox="1"/>
          <p:nvPr/>
        </p:nvSpPr>
        <p:spPr>
          <a:xfrm>
            <a:off x="9479128" y="3657600"/>
            <a:ext cx="1981048" cy="384048"/>
          </a:xfrm>
          <a:prstGeom prst="rect">
            <a:avLst/>
          </a:prstGeom>
          <a:noFill/>
          <a:ln/>
        </p:spPr>
        <p:txBody>
          <a:bodyPr wrap="square" lIns="0" tIns="0" rIns="0" bIns="0" rtlCol="0" anchor="ctr"/>
          <a:lstStyle/>
          <a:p>
            <a:pPr marL="0" indent="0">
              <a:buNone/>
            </a:pPr>
            <a:r>
              <a:rPr lang="en-US" sz="2000" b="1" dirty="0">
                <a:solidFill>
                  <a:schemeClr val="tx1"/>
                </a:solidFill>
              </a:rPr>
              <a:t>GitHub</a:t>
            </a:r>
            <a:endParaRPr lang="en-US" sz="2000" dirty="0"/>
          </a:p>
        </p:txBody>
      </p:sp>
      <p:sp>
        <p:nvSpPr>
          <p:cNvPr id="15" name="Text 8">
            <a:hlinkClick r:id="rId9"/>
            <a:extLst>
              <a:ext uri="{FF2B5EF4-FFF2-40B4-BE49-F238E27FC236}">
                <a16:creationId xmlns:a16="http://schemas.microsoft.com/office/drawing/2014/main" id="{5ECFF2C5-3BA5-B9B9-CE57-82619817AB45}"/>
              </a:ext>
            </a:extLst>
          </p:cNvPr>
          <p:cNvSpPr txBox="1"/>
          <p:nvPr/>
        </p:nvSpPr>
        <p:spPr>
          <a:xfrm>
            <a:off x="8976208" y="4251960"/>
            <a:ext cx="2438248" cy="868680"/>
          </a:xfrm>
          <a:prstGeom prst="rect">
            <a:avLst/>
          </a:prstGeom>
          <a:noFill/>
          <a:ln/>
        </p:spPr>
        <p:txBody>
          <a:bodyPr wrap="square" lIns="0" tIns="0" rIns="0" bIns="0" rtlCol="0" anchor="t"/>
          <a:lstStyle/>
          <a:p>
            <a:pPr marL="0" indent="0">
              <a:buNone/>
            </a:pPr>
            <a:r>
              <a:rPr lang="en-US" sz="1300" u="sng" dirty="0">
                <a:solidFill>
                  <a:schemeClr val="tx1"/>
                </a:solidFill>
                <a:hlinkClick r:id="rId9">
                  <a:extLst>
                    <a:ext uri="{A12FA001-AC4F-418D-AE19-62706E023703}">
                      <ahyp:hlinkClr xmlns:ahyp="http://schemas.microsoft.com/office/drawing/2018/hyperlinkcolor" val="tx"/>
                    </a:ext>
                  </a:extLst>
                </a:hlinkClick>
              </a:rPr>
              <a:t>github.com/Terra0305/</a:t>
            </a:r>
            <a:endParaRPr lang="en-US" sz="1300" dirty="0"/>
          </a:p>
          <a:p>
            <a:pPr marL="0" indent="0">
              <a:buNone/>
            </a:pPr>
            <a:r>
              <a:rPr lang="en-US" sz="1300" u="sng" dirty="0">
                <a:solidFill>
                  <a:schemeClr val="tx1"/>
                </a:solidFill>
                <a:hlinkClick r:id="rId9">
                  <a:extLst>
                    <a:ext uri="{A12FA001-AC4F-418D-AE19-62706E023703}">
                      <ahyp:hlinkClr xmlns:ahyp="http://schemas.microsoft.com/office/drawing/2018/hyperlinkcolor" val="tx"/>
                    </a:ext>
                  </a:extLst>
                </a:hlinkClick>
              </a:rPr>
              <a:t>ICTbuild-upProject</a:t>
            </a:r>
            <a:endParaRPr lang="en-US" sz="1300" dirty="0"/>
          </a:p>
        </p:txBody>
      </p:sp>
      <p:sp>
        <p:nvSpPr>
          <p:cNvPr id="16" name="Text 9">
            <a:extLst>
              <a:ext uri="{FF2B5EF4-FFF2-40B4-BE49-F238E27FC236}">
                <a16:creationId xmlns:a16="http://schemas.microsoft.com/office/drawing/2014/main" id="{BD8E1BAB-E49D-8A28-13CB-978CC6E25A20}"/>
              </a:ext>
            </a:extLst>
          </p:cNvPr>
          <p:cNvSpPr txBox="1"/>
          <p:nvPr/>
        </p:nvSpPr>
        <p:spPr>
          <a:xfrm>
            <a:off x="8976208" y="5257800"/>
            <a:ext cx="2438248" cy="274320"/>
          </a:xfrm>
          <a:prstGeom prst="rect">
            <a:avLst/>
          </a:prstGeom>
          <a:noFill/>
          <a:ln/>
        </p:spPr>
        <p:txBody>
          <a:bodyPr wrap="square" lIns="0" tIns="0" rIns="0" bIns="0" rtlCol="0" anchor="t"/>
          <a:lstStyle/>
          <a:p>
            <a:pPr marL="0" indent="0">
              <a:buNone/>
            </a:pPr>
            <a:r>
              <a:rPr lang="en-US" sz="1200" dirty="0">
                <a:solidFill>
                  <a:schemeClr val="tx2"/>
                </a:solidFill>
              </a:rPr>
              <a:t>QR로 바로 접속</a:t>
            </a:r>
            <a:endParaRPr lang="en-US" sz="1200" dirty="0"/>
          </a:p>
        </p:txBody>
      </p:sp>
    </p:spTree>
    <p:extLst>
      <p:ext uri="{BB962C8B-B14F-4D97-AF65-F5344CB8AC3E}">
        <p14:creationId xmlns:p14="http://schemas.microsoft.com/office/powerpoint/2010/main" val="2343134475"/>
      </p:ext>
    </p:extLst>
  </p:cSld>
  <p:clrMapOvr>
    <a:masterClrMapping/>
  </p:clrMapOvr>
</p:sld>
</file>

<file path=ppt/theme/theme1.xml><?xml version="1.0" encoding="utf-8"?>
<a:theme xmlns:a="http://schemas.openxmlformats.org/drawingml/2006/main" name="ReFind Claim Tag">
  <a:themeElements>
    <a:clrScheme name="ReFind Claim Tag">
      <a:dk1>
        <a:srgbClr val="000000"/>
      </a:dk1>
      <a:lt1>
        <a:srgbClr val="FFFFFF"/>
      </a:lt1>
      <a:dk2>
        <a:srgbClr val="636366"/>
      </a:dk2>
      <a:lt2>
        <a:srgbClr val="F2F2F7"/>
      </a:lt2>
      <a:accent1>
        <a:srgbClr val="1C1C1E"/>
      </a:accent1>
      <a:accent2>
        <a:srgbClr val="2C2C2E"/>
      </a:accent2>
      <a:accent3>
        <a:srgbClr val="1D7A36"/>
      </a:accent3>
      <a:accent4>
        <a:srgbClr val="D70015"/>
      </a:accent4>
      <a:accent5>
        <a:srgbClr val="E5E5EA"/>
      </a:accent5>
      <a:accent6>
        <a:srgbClr val="A1A1A6"/>
      </a:accent6>
      <a:hlink>
        <a:srgbClr val="000000"/>
      </a:hlink>
      <a:folHlink>
        <a:srgbClr val="636366"/>
      </a:folHlink>
    </a:clrScheme>
    <a:fontScheme name="ReFind Claim Tag">
      <a:majorFont>
        <a:latin typeface="Apple SD Gothic Neo"/>
        <a:ea typeface="Apple SD Gothic Neo"/>
        <a:cs typeface=""/>
        <a:font script="Jpan" typeface="游ゴシック Light"/>
        <a:font script="Hang" typeface="Apple SD Gothic Neo"/>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Apple SD Gothic Neo"/>
        <a:cs typeface=""/>
        <a:font script="Jpan" typeface="游ゴシック"/>
        <a:font script="Hang" typeface="Apple SD Gothic Neo"/>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2549</Words>
  <Application>Microsoft Macintosh PowerPoint</Application>
  <PresentationFormat>와이드스크린</PresentationFormat>
  <Paragraphs>295</Paragraphs>
  <Slides>15</Slides>
  <Notes>15</Notes>
  <HiddenSlides>0</HiddenSlides>
  <MMClips>1</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15</vt:i4>
      </vt:variant>
    </vt:vector>
  </HeadingPairs>
  <TitlesOfParts>
    <vt:vector size="19" baseType="lpstr">
      <vt:lpstr>Apple SD Gothic Neo</vt:lpstr>
      <vt:lpstr>Arial</vt:lpstr>
      <vt:lpstr>Menlo</vt:lpstr>
      <vt:lpstr>ReFind Claim Tag</vt:lpstr>
      <vt:lpstr>PowerPoint 프레젠테이션</vt:lpstr>
      <vt:lpstr>주인에게 돌아가는 유실물이 줄고 있습니다</vt:lpstr>
      <vt:lpstr>이미 있는 서비스는 어디까지 해결했을까</vt:lpstr>
      <vt:lpstr>등록 한 번이면, 나머지는 ReFind가 합니다</vt:lpstr>
      <vt:lpstr>시연: 등록부터 알림까지</vt:lpstr>
      <vt:lpstr>서비스 화면: 라이트 · 다크 · 모바일</vt:lpstr>
      <vt:lpstr>이름이 달라도 같은 물건을 알아봅니다</vt:lpstr>
      <vt:lpstr>왜 추천했는지, 점수로 보여줍니다</vt:lpstr>
      <vt:lpstr>엉뚱한 지역은 걸러내고, 0.78점 이상만 알립니다</vt:lpstr>
      <vt:lpstr>TOP 5 적중률 96.7%</vt:lpstr>
      <vt:lpstr>AWS 서울 리전에서 운영 중인 서비스</vt:lpstr>
      <vt:lpstr>기대효과와 다음 단계</vt:lpstr>
      <vt:lpstr>PowerPoint 프레젠테이션</vt:lpstr>
      <vt:lpstr>PowerPoint 프레젠테이션</vt:lpstr>
      <vt:lpstr>PowerPoint 프레젠테이션</vt:lpstr>
    </vt:vector>
  </TitlesOfParts>
  <Company>ReFind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ReFind 최종발표</dc:title>
  <dc:subject>PptxGenJS Presentation</dc:subject>
  <dc:creator>김민서</dc:creator>
  <cp:lastModifiedBy>김민서</cp:lastModifiedBy>
  <cp:revision>3</cp:revision>
  <dcterms:created xsi:type="dcterms:W3CDTF">2026-10-24T08:49:42Z</dcterms:created>
  <dcterms:modified xsi:type="dcterms:W3CDTF">2026-10-24T09:32:17Z</dcterms:modified>
</cp:coreProperties>
</file>