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c60576d-34f3-090f-8e6a-278741069634}">
          <p14:sldIdLst>
            <p14:sldId id="256"/>
            <p14:sldId id="257"/>
            <p14:sldId id="258"/>
          </p14:sldIdLst>
        </p14:section>
        <p14:section name="서비스" id="{27fe4941-02d8-c7be-76bf-7a0190ba4097}">
          <p14:sldIdLst>
            <p14:sldId id="259"/>
            <p14:sldId id="260"/>
          </p14:sldIdLst>
        </p14:section>
        <p14:section name="핵심 기술" id="{006faac3-b955-44bd-aece-727101adf7b7}">
          <p14:sldIdLst>
            <p14:sldId id="261"/>
            <p14:sldId id="262"/>
            <p14:sldId id="263"/>
            <p14:sldId id="264"/>
          </p14:sldIdLst>
        </p14:section>
        <p14:section name="성과" id="{a8f60707-eb59-20e5-c192-e6559fce4015}">
          <p14:sldIdLst>
            <p14:sldId id="265"/>
            <p14:sldId id="266"/>
          </p14:sldIdLst>
        </p14:section>
        <p14:section name="마무리" id="{2b825cef-894a-1d19-3b81-9158869b302b}">
          <p14:sldIdLst>
            <p14:sldId id="267"/>
            <p14:sldId id="268"/>
          </p14:sldIdLst>
        </p14:section>
        <p14:section name="부록" id="{08df0b15-b92b-1bb0-8d75-872be01609c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반환율</c:v>
                </c:pt>
              </c:strCache>
            </c:strRef>
          </c:tx>
          <c:spPr>
            <a:solidFill>
              <a:srgbClr val="AEAEB2"/>
            </a:solidFill>
            <a:effectLst/>
          </c:spPr>
          <c:invertIfNegative val="0"/>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AEAEB2"/>
              </a:solidFill>
              <a:effectLst/>
            </c:spPr>
          </c:dPt>
          <c:dPt>
            <c:idx val="1"/>
            <c:invertIfNegative val="0"/>
            <c:bubble3D val="0"/>
            <c:spPr>
              <a:solidFill>
                <a:srgbClr val="AEAEB2"/>
              </a:solidFill>
              <a:effectLst/>
            </c:spPr>
          </c:dPt>
          <c:dPt>
            <c:idx val="2"/>
            <c:invertIfNegative val="0"/>
            <c:bubble3D val="0"/>
            <c:spPr>
              <a:solidFill>
                <a:srgbClr val="AEAEB2"/>
              </a:solidFill>
              <a:effectLst/>
            </c:spPr>
          </c:dPt>
          <c:dPt>
            <c:idx val="3"/>
            <c:invertIfNegative val="0"/>
            <c:bubble3D val="0"/>
            <c:spPr>
              <a:solidFill>
                <a:srgbClr val="AEAEB2"/>
              </a:solidFill>
              <a:effectLst/>
            </c:spPr>
          </c:dPt>
          <c:dPt>
            <c:idx val="4"/>
            <c:invertIfNegative val="0"/>
            <c:bubble3D val="0"/>
            <c:spPr>
              <a:solidFill>
                <a:srgbClr val="000000"/>
              </a:solidFill>
              <a:effectLst/>
            </c:spPr>
          </c:dPt>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65.6</c:v>
                </c:pt>
                <c:pt idx="1">
                  <c:v>63</c:v>
                </c:pt>
                <c:pt idx="2">
                  <c:v>60</c:v>
                </c:pt>
                <c:pt idx="3">
                  <c:v>56.9</c:v>
                </c:pt>
                <c:pt idx="4">
                  <c:v>51.5</c:v>
                </c:pt>
              </c:numCache>
            </c:numRef>
          </c:val>
        </c:ser>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가중치</c:v>
                </c:pt>
              </c:strCache>
            </c:strRef>
          </c:tx>
          <c:spPr>
            <a:solidFill>
              <a:srgbClr val="000000"/>
            </a:solidFill>
            <a:effectLst/>
          </c:spPr>
          <c:invertIfNegative val="0"/>
          <c:dLbls>
            <c:numFmt formatCode="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000000"/>
              </a:solidFill>
              <a:effectLst/>
            </c:spPr>
          </c:dPt>
          <c:dPt>
            <c:idx val="1"/>
            <c:invertIfNegative val="0"/>
            <c:bubble3D val="0"/>
            <c:spPr>
              <a:solidFill>
                <a:srgbClr val="000000"/>
              </a:solidFill>
              <a:effectLst/>
            </c:spPr>
          </c:dPt>
          <c:dPt>
            <c:idx val="2"/>
            <c:invertIfNegative val="0"/>
            <c:bubble3D val="0"/>
            <c:spPr>
              <a:solidFill>
                <a:srgbClr val="000000"/>
              </a:solidFill>
              <a:effectLst/>
            </c:spPr>
          </c:dPt>
          <c:dPt>
            <c:idx val="3"/>
            <c:invertIfNegative val="0"/>
            <c:bubble3D val="0"/>
            <c:spPr>
              <a:solidFill>
                <a:srgbClr val="000000"/>
              </a:solidFill>
              <a:effectLst/>
            </c:spPr>
          </c:dPt>
          <c:dPt>
            <c:idx val="4"/>
            <c:invertIfNegative val="0"/>
            <c:bubble3D val="0"/>
            <c:spPr>
              <a:solidFill>
                <a:srgbClr val="000000"/>
              </a:solidFill>
              <a:effectLst/>
            </c:spPr>
          </c:dPt>
          <c:dPt>
            <c:idx val="5"/>
            <c:invertIfNegative val="0"/>
            <c:bubble3D val="0"/>
            <c:spPr>
              <a:solidFill>
                <a:srgbClr val="AEAEB2"/>
              </a:solidFill>
              <a:effectLst/>
            </c:spPr>
          </c:dPt>
          <c:cat>
            <c:multiLvlStrRef>
              <c:f>Sheet1!$A$2:$A$7</c:f>
              <c:multiLvlStrCache>
                <c:ptCount val="6"/>
                <c:lvl>
                  <c:pt idx="0">
                    <c:v>텍스트 유사도</c:v>
                  </c:pt>
                  <c:pt idx="1">
                    <c:v>카테고리</c:v>
                  </c:pt>
                  <c:pt idx="2">
                    <c:v>색상</c:v>
                  </c:pt>
                  <c:pt idx="3">
                    <c:v>분실 장소</c:v>
                  </c:pt>
                  <c:pt idx="4">
                    <c:v>날짜</c:v>
                  </c:pt>
                  <c:pt idx="5">
                    <c:v>사진 (로드맵)</c:v>
                  </c:pt>
                </c:lvl>
              </c:multiLvlStrCache>
            </c:multiLvlStrRef>
          </c:cat>
          <c:val>
            <c:numRef>
              <c:f>Sheet1!$B$2:$B$7</c:f>
              <c:numCache>
                <c:formatCode>General</c:formatCode>
                <c:ptCount val="6"/>
                <c:pt idx="0">
                  <c:v>35</c:v>
                </c:pt>
                <c:pt idx="1">
                  <c:v>15</c:v>
                </c:pt>
                <c:pt idx="2">
                  <c:v>10</c:v>
                </c:pt>
                <c:pt idx="3">
                  <c:v>10</c:v>
                </c:pt>
                <c:pt idx="4">
                  <c:v>5</c:v>
                </c:pt>
                <c:pt idx="5">
                  <c:v>25</c:v>
                </c:pt>
              </c:numCache>
            </c:numRef>
          </c:val>
        </c:ser>
        <c:dLbls>
          <c:numFmt formatCode="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ReFind</c:v>
                </c:pt>
              </c:strCache>
            </c:strRef>
          </c:tx>
          <c:spPr>
            <a:solidFill>
              <a:srgbClr val="000000"/>
            </a:solidFill>
            <a:effectLst/>
          </c:spPr>
          <c:invertIfNegative val="0"/>
          <c:dLbls>
            <c:numFmt formatCode="0.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모두 입력</c:v>
                  </c:pt>
                  <c:pt idx="1">
                    <c:v>장소 비움</c:v>
                  </c:pt>
                  <c:pt idx="2">
                    <c:v>설명 비움</c:v>
                  </c:pt>
                  <c:pt idx="3">
                    <c:v>색상 비움</c:v>
                  </c:pt>
                </c:lvl>
              </c:multiLvlStrCache>
            </c:multiLvlStrRef>
          </c:cat>
          <c:val>
            <c:numRef>
              <c:f>Sheet1!$B$2:$B$5</c:f>
              <c:numCache>
                <c:formatCode>General</c:formatCode>
                <c:ptCount val="4"/>
                <c:pt idx="0">
                  <c:v>97.2</c:v>
                </c:pt>
                <c:pt idx="1">
                  <c:v>92.8</c:v>
                </c:pt>
                <c:pt idx="2">
                  <c:v>92.8</c:v>
                </c:pt>
                <c:pt idx="3">
                  <c:v>71.7</c:v>
                </c:pt>
              </c:numCache>
            </c:numRef>
          </c:val>
        </c:ser>
        <c:ser>
          <c:idx val="1"/>
          <c:order val="1"/>
          <c:tx>
            <c:strRef>
              <c:f>Sheet1!$C$1</c:f>
              <c:strCache>
                <c:ptCount val="1"/>
                <c:pt idx="0">
                  <c:v>텍스트만</c:v>
                </c:pt>
              </c:strCache>
            </c:strRef>
          </c:tx>
          <c:spPr>
            <a:solidFill>
              <a:srgbClr val="AEAEB2"/>
            </a:solidFill>
            <a:effectLst/>
          </c:spPr>
          <c:invertIfNegative val="0"/>
          <c:dLbls>
            <c:numFmt formatCode="0.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모두 입력</c:v>
                  </c:pt>
                  <c:pt idx="1">
                    <c:v>장소 비움</c:v>
                  </c:pt>
                  <c:pt idx="2">
                    <c:v>설명 비움</c:v>
                  </c:pt>
                  <c:pt idx="3">
                    <c:v>색상 비움</c:v>
                  </c:pt>
                </c:lvl>
              </c:multiLvlStrCache>
            </c:multiLvlStrRef>
          </c:cat>
          <c:val>
            <c:numRef>
              <c:f>Sheet1!$C$2:$C$5</c:f>
              <c:numCache>
                <c:formatCode>General</c:formatCode>
                <c:ptCount val="4"/>
                <c:pt idx="0">
                  <c:v>92.2</c:v>
                </c:pt>
                <c:pt idx="1">
                  <c:v>78.3</c:v>
                </c:pt>
                <c:pt idx="2">
                  <c:v>73.3</c:v>
                </c:pt>
                <c:pt idx="3">
                  <c:v>81.1</c:v>
                </c:pt>
              </c:numCache>
            </c:numRef>
          </c:val>
        </c:ser>
        <c:dLbls>
          <c:numFmt formatCode="0.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0000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5 적중률</c:v>
                </c:pt>
              </c:strCache>
            </c:strRef>
          </c:tx>
          <c:spPr>
            <a:solidFill>
              <a:srgbClr val="AEAEB2"/>
            </a:solidFill>
            <a:effectLst/>
          </c:spPr>
          <c:invertIfNegative val="0"/>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AEAEB2"/>
              </a:solidFill>
              <a:effectLst/>
            </c:spPr>
          </c:dPt>
          <c:dPt>
            <c:idx val="1"/>
            <c:invertIfNegative val="0"/>
            <c:bubble3D val="0"/>
            <c:spPr>
              <a:solidFill>
                <a:srgbClr val="AEAEB2"/>
              </a:solidFill>
              <a:effectLst/>
            </c:spPr>
          </c:dPt>
          <c:dPt>
            <c:idx val="2"/>
            <c:invertIfNegative val="0"/>
            <c:bubble3D val="0"/>
            <c:spPr>
              <a:solidFill>
                <a:srgbClr val="AEAEB2"/>
              </a:solidFill>
              <a:effectLst/>
            </c:spPr>
          </c:dPt>
          <c:dPt>
            <c:idx val="3"/>
            <c:invertIfNegative val="0"/>
            <c:bubble3D val="0"/>
            <c:spPr>
              <a:solidFill>
                <a:srgbClr val="636366"/>
              </a:solidFill>
              <a:effectLst/>
            </c:spPr>
          </c:dPt>
          <c:dPt>
            <c:idx val="4"/>
            <c:invertIfNegative val="0"/>
            <c:bubble3D val="0"/>
            <c:spPr>
              <a:solidFill>
                <a:srgbClr val="000000"/>
              </a:solidFill>
              <a:effectLst/>
            </c:spPr>
          </c:dPt>
          <c:cat>
            <c:multiLvlStrRef>
              <c:f>Sheet1!$A$2:$A$6</c:f>
              <c:multiLvlStrCache>
                <c:ptCount val="5"/>
                <c:lvl>
                  <c:pt idx="0">
                    <c:v>키워드 단어 일치</c:v>
                  </c:pt>
                  <c:pt idx="1">
                    <c:v>키워드 TF-IDF</c:v>
                  </c:pt>
                  <c:pt idx="2">
                    <c:v>TF-IDF + 지역·날짜 필터</c:v>
                  </c:pt>
                  <c:pt idx="3">
                    <c:v>텍스트 유사도만 (+필터)</c:v>
                  </c:pt>
                  <c:pt idx="4">
                    <c:v>ReFind</c:v>
                  </c:pt>
                </c:lvl>
              </c:multiLvlStrCache>
            </c:multiLvlStrRef>
          </c:cat>
          <c:val>
            <c:numRef>
              <c:f>Sheet1!$B$2:$B$6</c:f>
              <c:numCache>
                <c:formatCode>General</c:formatCode>
                <c:ptCount val="5"/>
                <c:pt idx="0">
                  <c:v>57.7</c:v>
                </c:pt>
                <c:pt idx="1">
                  <c:v>68.3</c:v>
                </c:pt>
                <c:pt idx="2">
                  <c:v>85</c:v>
                </c:pt>
                <c:pt idx="3">
                  <c:v>92.3</c:v>
                </c:pt>
                <c:pt idx="4">
                  <c:v>96.7</c:v>
                </c:pt>
              </c:numCache>
            </c:numRef>
          </c:val>
        </c:ser>
        <c:dLbls>
          <c:numFmt formatCode="0.0&quot;%&quot;" sourceLinked="0"/>
          <c:txPr>
            <a:bodyPr/>
            <a:lstStyle/>
            <a:p>
              <a:pPr>
                <a:defRPr b="1" i="0" strike="noStrike" sz="1400" u="none">
                  <a:solidFill>
                    <a:srgbClr val="00000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15초]
안녕하세요, 김민서입니다. ReFind는 "잃어버린 물건이 나를 먼저 찾아옵니다"라는 서비스입니다.
문제, 기존 서비스와의 차이, 시연, 점수 검증, 구현 범위 순서로 말씀드리겠습니다.
(화면 오른쪽 카드는 실제 서비스 첫 화면의 매칭 결과 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 30초]
서울 지하철 유실물 접수는 2021년 약 10만 2천 건에서 2025년 16만 8천 건으로 65% 늘었습니다.
그런데 주인에게 돌아간 비율은 65.6%에서 51.5%로 떨어졌습니다. 물건은 늘고, 돌아가는 비율은 줄고 있다는 뜻입니다.
서울 지하철 기준이고, 출처는 서울교통공사 데이터를 분석한 보도입니다.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 45초]
이미 있는 서비스는 어디까지 해결했을까요? 표는 공개 자료로 확인한 범위만 채웠습니다.
LOST112는 전국 습득물을 조회하고 비슷한 물건이 들어오면 알려 주지만, 유사 판단 기준은 공개되어 있지 않습니다. 당근은 이웃의 글을 사람이 직접 읽고 판단하는 방식이고, 파인딩올은 AI 이미지 분석과 QR 스티커가 중심입니다.
다만 추천 이유를 항목별로 보여 주는지는 공개 자료로 확인하지 못했습니다. 그래서 ReFind의 차별점은, 결과를 나열하는 데서 끝나지 않고 왜 비슷한지 항목별 근거를 보여 준다는 점입니다.
(물음표는 "없다"가 아니라 "확인하지 못했다"입니다. 경쟁 서비스를 단정해서 깎아내리지 않도록 주의하세요.)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[1:30–2:05 · 35초]
사용 방법은 세 단계입니다. 물품과 색상, 장소, 날짜, 특징을 4단계로 등록하면, 경찰청 LOST112 습득물과 자동으로 비교해 후보 TOP 5와 근거를 보여 드립니다. 지금 후보가 없어도 새 습득물이 들어오면 다시 비교해서 알려 드립니다.
한 가지 역할을 분명히 하겠습니다. ReFind는 비슷한 습득물을 찾아 연결해 주는 탐색 서비스입니다. 신고와 소유권 확인, 반환은 보관 기관의 절차로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[2:05–3:10 · 약 65초 — 영상 재생]
지금부터 시연 영상을 보시겠습니다.
(슬라이드의 영상을 클릭해 재생합니다. 가입 → 분실물 등록 4단계 → TOP 5 → 후보 상세 → 알림 순서이고 약 1분 5초입니다.)
포인트 세 가지만 짚겠습니다. 첫째, 등록은 이름과 특징, 날짜, 지역만으로 끝납니다. 둘째, 후보마다 점수와 이유가 함께 나옵니다. 셋째, 새 습득물이 생기면 알림으로 먼저 알려 줍니다.
(운영 서비스에서 시연 계정으로 녹화했고, 분실 날짜를 2주 전으로 등록해 이미 보관 중인 습득물이 후보로 나온 장면입니다. 알림이 많이 쌓여 보이면 "흔한 물건이라 후보가 많았고, 알림 과다 방지는 보강 과제"라고 짧게 말하세요.)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[3:10–3:40 · 30초]
첫 번째 차별점은 이름이 달라도 같은 물건을 알아본다는 점입니다.
"갈색 가죽 카드지갑"을 등록하면, 이름이 다른 "명함 케이스"도 의미가 비슷해서 0.92점으로 상위에 오르고, 이름은 같아도 색과 재질이 다른 카드지갑은 0.76점에 그칩니다.
이 점수는 확정 확률이 아니라 유사도이고, 후보 카드에는 왜 비슷한지 근거가 함께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[3:40–4:25 · 45초]
두 번째는 점수 설계입니다. 최종 점수는 텍스트 유사도 35%, 카테고리 15%, 색상 10%, 장소 10%, 날짜 5%를 합산하고, 사진 25%는 로드맵입니다.
오른쪽 코드가 핵심입니다. 값이 없는 항목은 0점이 아니라 비교 불가로 빼고, 남은 가중치로 다시 정규화합니다. 그래서 사진을 올리지 않았다고 불일치로 처리되지 않습니다.
이 점수는 확정 확률이 아니라 유사도를 합산한 값이고, 화면에도 그렇게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[4:25–5:15 · 50초]
그렇다면 가중치가 왜 이 값인지, 입력이 비면 점수가 흔들리지 않는지 실제로 돌려봤습니다.
왼쪽입니다. 가중치를 절반이나 두 배로 바꿔도 TOP 5 적중률은 94에서 99% 사이였고, 모든 항목을 같은 비중으로 두면 1위 적중이 76.7%에서 41.1%로 떨어졌습니다. 지금 설정은 합리적인 범위입니다.
오른쪽은 한계입니다. 상세 장소나 설명을 비워도 92.8%를 유지하지만, 색상을 비우면 71.7%로 떨어집니다. 입력이 줄면 점수의 의미가 달라지므로 정보 충족도를 함께 보여 주는 보강이 필요합니다.
(이 검증셋은 자체 제작이고 날짜·장소를 일부러 변별력 없게 둔 엄격한 조건입니다. 실데이터 검증은 앞으로의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[5:15–5:50 · 35초]
세 번째는 엉뚱한 후보를 걸러내는 일입니다. 개선 전에는 조선대에서 잃어버린 카드지갑에 대전, 제주, 부산 경찰서의 습득물이 나왔습니다. 경찰서 이름에서 지역을 잘못 뽑았기 때문입니다.
지금은 코드처럼 종류, 날짜 범위, 시·도, 거리 조건을 모두 통과한 습득물만 점수를 계산합니다. 알림은 0.78점 이상일 때만, 같은 매칭은 한 번만 보내고, 매일 새벽 4시에 수집해서 다시 매칭합니다.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[5:50–6:25 · 35초]
실제로 얼마나 잘 찾을까요? 자체 검증셋에서 TOP 5 적중률은 96.7%로, 지역·날짜 필터를 쓴 키워드 검색 85.0%보다 11.7%p 높습니다.
텍스트 유사도만 쓰면 92.3%라서, 종류·색상·장소·날짜를 함께 쓰는 효과도 확인됩니다.
다만 이 검증셋은 정답쌍 60건과 방해 습득물 600건으로 직접 만든 것이라, 실데이터 평가는 과제로 남겨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[6:25–7:05 · 40초]
구조는 단순합니다. 사용자는 CloudFront로 접속하고, EC2의 Docker에서 Next.js와 FastAPI, PostgreSQL, 매일 수집 크론이 돌며 LOST112 데이터를 가져옵니다.
현재 구현된 것은 왼쪽 카드입니다. 등록, TOP 5와 근거, 매일 재매칭과 알림, 라이트·다크·모바일 화면이고, 자동 테스트 23개와 자동 배포를 갖췄습니다.
가운데는 남은 보강 과제입니다. 가중치의 실데이터 검증, 입력 누락 시 안정성, 알림 과다 방지입니다. 중고거래 연동은 API를 검토 중이라 현재 범위에서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[7:05–7:40 · 35초]
팀은 네 명입니다. (각자 이름과 담당을 한 문장씩 소개합니다.)
규모로 보면, 서울 지하철 기준으로 주인에게 직접 반환되지 않은 유실물이 약 8만 1천 건이고, 반환율이 1%p 오를 때마다 약 1,700건이 더 돌아간다는 산술 추정입니다. 실측한 도입 효과는 아닙니다.
다음 단계는 사진 유사도, 이메일 알림 연동, 기관 습득물 직접 등록입니다.
(팀원 4명의 이름·담당 영역·주요 기여를 슬라이드의 [ ] 칸에 채우세요.)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[7:40–8:00 · 20초]
정리하겠습니다. ReFind는 공식 습득물 데이터 위에 매칭 계층을 더해, 등록 한 번으로 후보와 근거를 보여 주고 새 습득물을 먼저 알려 주는 서비스입니다.
서비스와 코드는 QR 코드와 링크로 바로 확인하실 수 있습니다. 들어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질문이 나올 때 사용]
디자인은 흑백 단색의 "분실물 태그" 콘셉트로 통일했고, 점수는 검은 태그 안에 크게 보여 줍니다.
라이트와 다크 테마를 지원하며 선택값은 저장됩니다. 급하게 휴대폰으로 등록하는 경우가 많아 모바일 우선으로 설계했고, 본문 건너뛰기 링크와 동작 줄이기 같은 접근성도 반영했습니다.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pic>
        <p:nvPicPr>
          <p:cNvPr id="3" name="Image 0" descr="/private/tmp/claude-501/-Users-ming-Desktop--------ICTbuild-upProject/ad517a1d-c5d3-4091-b925-7e5679a63f19/scratchpad/build/assets/logo-black.png">    </p:cNvPr>
          <p:cNvPicPr>
            <a:picLocks noChangeAspect="1"/>
          </p:cNvPicPr>
          <p:nvPr/>
        </p:nvPicPr>
        <p:blipFill>
          <a:blip r:embed="rId1"/>
          <a:stretch>
            <a:fillRect/>
          </a:stretch>
        </p:blipFill>
        <p:spPr>
          <a:xfrm>
            <a:off x="548640" y="6400800"/>
            <a:ext cx="237744" cy="237744"/>
          </a:xfrm>
          <a:prstGeom prst="rect">
            <a:avLst/>
          </a:prstGeom>
        </p:spPr>
      </p:pic>
      <p:sp>
        <p:nvSpPr>
          <p:cNvPr id="4" name="Text 0"/>
          <p:cNvSpPr txBox="1"/>
          <p:nvPr/>
        </p:nvSpPr>
        <p:spPr>
          <a:xfrm>
            <a:off x="877824" y="6382512"/>
            <a:ext cx="1371600" cy="274320"/>
          </a:xfrm>
          <a:prstGeom prst="rect">
            <a:avLst/>
          </a:prstGeom>
          <a:noFill/>
          <a:ln/>
        </p:spPr>
        <p:txBody>
          <a:bodyPr wrap="square" lIns="0" tIns="0" rIns="0" bIns="0" rtlCol="0" anchor="ctr"/>
          <a:lstStyle/>
          <a:p>
            <a:pPr indent="0" marL="0">
              <a:buNone/>
            </a:pPr>
            <a:r>
              <a:rPr lang="en-US" sz="1200" b="1" dirty="0">
                <a:solidFill>
                  <a:schemeClr val="tx2"/>
                </a:solidFill>
              </a:rPr>
              <a:t>ReFind</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private/tmp/claude-501/-Users-ming-Desktop--------ICTbuild-upProject/ad517a1d-c5d3-4091-b925-7e5679a63f19/scratchpad/build/assets/logo-white.png">    </p:cNvPr>
          <p:cNvPicPr>
            <a:picLocks noChangeAspect="1"/>
          </p:cNvPicPr>
          <p:nvPr/>
        </p:nvPicPr>
        <p:blipFill>
          <a:blip r:embed="rId1"/>
          <a:stretch>
            <a:fillRect/>
          </a:stretch>
        </p:blipFill>
        <p:spPr>
          <a:xfrm>
            <a:off x="548640" y="6400800"/>
            <a:ext cx="237744" cy="237744"/>
          </a:xfrm>
          <a:prstGeom prst="rect">
            <a:avLst/>
          </a:prstGeom>
        </p:spPr>
      </p:pic>
      <p:sp>
        <p:nvSpPr>
          <p:cNvPr id="4" name="Text 0"/>
          <p:cNvSpPr txBox="1"/>
          <p:nvPr/>
        </p:nvSpPr>
        <p:spPr>
          <a:xfrm>
            <a:off x="877824" y="6382512"/>
            <a:ext cx="1371600" cy="274320"/>
          </a:xfrm>
          <a:prstGeom prst="rect">
            <a:avLst/>
          </a:prstGeom>
          <a:noFill/>
          <a:ln/>
        </p:spPr>
        <p:txBody>
          <a:bodyPr wrap="square" lIns="0" tIns="0" rIns="0" bIns="0" rtlCol="0" anchor="ctr"/>
          <a:lstStyle/>
          <a:p>
            <a:pPr indent="0" marL="0">
              <a:buNone/>
            </a:pPr>
            <a:r>
              <a:rPr lang="en-US" sz="1200" b="1" dirty="0">
                <a:solidFill>
                  <a:schemeClr val="accent6"/>
                </a:solidFill>
              </a:rPr>
              <a:t>ReFind</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29d7xry7tkopu.cloudfront.net" TargetMode="External"/><Relationship Id="rId3" Type="http://schemas.openxmlformats.org/officeDocument/2006/relationships/hyperlink" Target="https://github.com/Terra0305/ICTbuild-upProject" TargetMode="External"/><Relationship Id="rId1" Type="http://schemas.openxmlformats.org/officeDocument/2006/relationships/image" Target="../media/image-1-1.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d29d7xry7tkopu.cloudfront.net" TargetMode="External"/><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d29d7xry7tkopu.cloudfront.net" TargetMode="External"/><Relationship Id="rId7" Type="http://schemas.openxmlformats.org/officeDocument/2006/relationships/hyperlink" Target="https://github.com/Terra0305/ICTbuild-upProject" TargetMode="Externa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eFind logo">    </p:cNvPr>
          <p:cNvPicPr>
            <a:picLocks noChangeAspect="1"/>
          </p:cNvPicPr>
          <p:nvPr/>
        </p:nvPicPr>
        <p:blipFill>
          <a:blip r:embed="rId1"/>
          <a:stretch>
            <a:fillRect/>
          </a:stretch>
        </p:blipFill>
        <p:spPr>
          <a:xfrm>
            <a:off x="548640" y="640080"/>
            <a:ext cx="640080" cy="640080"/>
          </a:xfrm>
          <a:prstGeom prst="rect">
            <a:avLst/>
          </a:prstGeom>
        </p:spPr>
      </p:pic>
      <p:sp>
        <p:nvSpPr>
          <p:cNvPr id="3" name="Chip ICT 빌드업 캠프 · 최종발표"/>
          <p:cNvSpPr/>
          <p:nvPr/>
        </p:nvSpPr>
        <p:spPr>
          <a:xfrm>
            <a:off x="548640" y="1600200"/>
            <a:ext cx="3017520" cy="384048"/>
          </a:xfrm>
          <a:prstGeom prst="roundRect">
            <a:avLst>
              <a:gd name="adj" fmla="val 50000"/>
            </a:avLst>
          </a:prstGeom>
          <a:solidFill>
            <a:schemeClr val="accent2"/>
          </a:solidFill>
          <a:ln w="12700">
            <a:solidFill>
              <a:schemeClr val="accent2"/>
            </a:solidFill>
            <a:prstDash val="solid"/>
          </a:ln>
        </p:spPr>
      </p:sp>
      <p:sp>
        <p:nvSpPr>
          <p:cNvPr id="4" name="Text 1"/>
          <p:cNvSpPr txBox="1"/>
          <p:nvPr/>
        </p:nvSpPr>
        <p:spPr>
          <a:xfrm>
            <a:off x="548640" y="1600200"/>
            <a:ext cx="3017520" cy="384048"/>
          </a:xfrm>
          <a:prstGeom prst="rect">
            <a:avLst/>
          </a:prstGeom>
          <a:noFill/>
          <a:ln/>
        </p:spPr>
        <p:txBody>
          <a:bodyPr wrap="square" lIns="0" tIns="0" rIns="0" bIns="0" rtlCol="0" anchor="ctr"/>
          <a:lstStyle/>
          <a:p>
            <a:pPr algn="ctr" indent="0" marL="0">
              <a:buNone/>
            </a:pPr>
            <a:r>
              <a:rPr lang="en-US" sz="1400" b="1" dirty="0">
                <a:solidFill>
                  <a:schemeClr val="bg1"/>
                </a:solidFill>
              </a:rPr>
              <a:t>ICT 빌드업 캠프 · 최종발표</a:t>
            </a:r>
            <a:endParaRPr lang="en-US" sz="1400" dirty="0"/>
          </a:p>
        </p:txBody>
      </p:sp>
      <p:sp>
        <p:nvSpPr>
          <p:cNvPr id="5" name="Text 2"/>
          <p:cNvSpPr txBox="1"/>
          <p:nvPr/>
        </p:nvSpPr>
        <p:spPr>
          <a:xfrm>
            <a:off x="548640" y="2148840"/>
            <a:ext cx="6035040" cy="1371600"/>
          </a:xfrm>
          <a:prstGeom prst="rect">
            <a:avLst/>
          </a:prstGeom>
          <a:noFill/>
          <a:ln/>
        </p:spPr>
        <p:txBody>
          <a:bodyPr wrap="square" lIns="0" tIns="0" rIns="0" bIns="0" rtlCol="0" anchor="ctr"/>
          <a:lstStyle/>
          <a:p>
            <a:pPr indent="0" marL="0">
              <a:buNone/>
            </a:pPr>
            <a:r>
              <a:rPr lang="en-US" sz="8800" b="1" dirty="0">
                <a:solidFill>
                  <a:schemeClr val="bg1"/>
                </a:solidFill>
              </a:rPr>
              <a:t>ReFind</a:t>
            </a:r>
            <a:endParaRPr lang="en-US" sz="8800" dirty="0"/>
          </a:p>
        </p:txBody>
      </p:sp>
      <p:sp>
        <p:nvSpPr>
          <p:cNvPr id="6" name="Text 3"/>
          <p:cNvSpPr txBox="1"/>
          <p:nvPr/>
        </p:nvSpPr>
        <p:spPr>
          <a:xfrm>
            <a:off x="548640" y="3611880"/>
            <a:ext cx="6035040" cy="1188720"/>
          </a:xfrm>
          <a:prstGeom prst="rect">
            <a:avLst/>
          </a:prstGeom>
          <a:noFill/>
          <a:ln/>
        </p:spPr>
        <p:txBody>
          <a:bodyPr wrap="square" lIns="0" tIns="0" rIns="0" bIns="0" rtlCol="0" anchor="t"/>
          <a:lstStyle/>
          <a:p>
            <a:pPr indent="0" marL="0">
              <a:buNone/>
            </a:pPr>
            <a:r>
              <a:rPr lang="en-US" sz="3000" dirty="0">
                <a:solidFill>
                  <a:schemeClr val="accent6"/>
                </a:solidFill>
              </a:rPr>
              <a:t>잃어버린 물건이</a:t>
            </a:r>
            <a:endParaRPr lang="en-US" sz="3000" dirty="0"/>
          </a:p>
          <a:p>
            <a:pPr indent="0" marL="0">
              <a:buNone/>
            </a:pPr>
            <a:r>
              <a:rPr lang="en-US" sz="3000" dirty="0">
                <a:solidFill>
                  <a:schemeClr val="accent6"/>
                </a:solidFill>
              </a:rPr>
              <a:t>나를 먼저 찾아옵니다</a:t>
            </a:r>
            <a:endParaRPr lang="en-US" sz="3000" dirty="0"/>
          </a:p>
        </p:txBody>
      </p:sp>
      <p:sp>
        <p:nvSpPr>
          <p:cNvPr id="7" name="Text 4"/>
          <p:cNvSpPr txBox="1"/>
          <p:nvPr/>
        </p:nvSpPr>
        <p:spPr>
          <a:xfrm>
            <a:off x="548640" y="5029200"/>
            <a:ext cx="6035040" cy="365760"/>
          </a:xfrm>
          <a:prstGeom prst="rect">
            <a:avLst/>
          </a:prstGeom>
          <a:noFill/>
          <a:ln/>
        </p:spPr>
        <p:txBody>
          <a:bodyPr wrap="square" lIns="0" tIns="0" rIns="0" bIns="0" rtlCol="0" anchor="t"/>
          <a:lstStyle/>
          <a:p>
            <a:pPr indent="0" marL="0">
              <a:buNone/>
            </a:pPr>
            <a:r>
              <a:rPr lang="en-US" sz="1600" dirty="0">
                <a:solidFill>
                  <a:schemeClr val="bg1"/>
                </a:solidFill>
              </a:rPr>
              <a:t>김민서 · ReFind  |  2026.10</a:t>
            </a:r>
            <a:endParaRPr lang="en-US" sz="1600" dirty="0"/>
          </a:p>
        </p:txBody>
      </p:sp>
      <p:sp>
        <p:nvSpPr>
          <p:cNvPr id="8" name="Text 5"/>
          <p:cNvSpPr txBox="1"/>
          <p:nvPr/>
        </p:nvSpPr>
        <p:spPr>
          <a:xfrm>
            <a:off x="548640" y="5806440"/>
            <a:ext cx="6035040" cy="274320"/>
          </a:xfrm>
          <a:prstGeom prst="rect">
            <a:avLst/>
          </a:prstGeom>
          <a:noFill/>
          <a:ln/>
        </p:spPr>
        <p:txBody>
          <a:bodyPr wrap="square" lIns="0" tIns="0" rIns="0" bIns="0" rtlCol="0" anchor="t"/>
          <a:lstStyle/>
          <a:p>
            <a:pPr indent="0" marL="0">
              <a:buNone/>
            </a:pPr>
            <a:r>
              <a:rPr lang="en-US" sz="1300" dirty="0">
                <a:solidFill>
                  <a:schemeClr val="accent6"/>
                </a:solidFill>
              </a:rPr>
              <a:t>서비스  </a:t>
            </a:r>
            <a:pPr indent="0" marL="0">
              <a:buNone/>
            </a:pPr>
            <a:r>
              <a:rPr lang="en-US" sz="13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d29d7xry7tkopu.cloudfront.net</a:t>
            </a:r>
            <a:endParaRPr lang="en-US" sz="1300" dirty="0"/>
          </a:p>
        </p:txBody>
      </p:sp>
      <p:sp>
        <p:nvSpPr>
          <p:cNvPr id="9" name="Text 6"/>
          <p:cNvSpPr txBox="1"/>
          <p:nvPr/>
        </p:nvSpPr>
        <p:spPr>
          <a:xfrm>
            <a:off x="548640" y="6126480"/>
            <a:ext cx="6035040" cy="274320"/>
          </a:xfrm>
          <a:prstGeom prst="rect">
            <a:avLst/>
          </a:prstGeom>
          <a:noFill/>
          <a:ln/>
        </p:spPr>
        <p:txBody>
          <a:bodyPr wrap="square" lIns="0" tIns="0" rIns="0" bIns="0" rtlCol="0" anchor="t"/>
          <a:lstStyle/>
          <a:p>
            <a:pPr indent="0" marL="0">
              <a:buNone/>
            </a:pPr>
            <a:r>
              <a:rPr lang="en-US" sz="1300" dirty="0">
                <a:solidFill>
                  <a:schemeClr val="accent6"/>
                </a:solidFill>
              </a:rPr>
              <a:t>GitHub  </a:t>
            </a:r>
            <a:pPr indent="0" marL="0">
              <a:buNone/>
            </a:pPr>
            <a:r>
              <a:rPr lang="en-US" sz="13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github.com/Terra0305/ICTbuild-upProject</a:t>
            </a:r>
            <a:endParaRPr lang="en-US" sz="1300" dirty="0"/>
          </a:p>
        </p:txBody>
      </p:sp>
      <p:sp>
        <p:nvSpPr>
          <p:cNvPr id="10" name="Tag card"/>
          <p:cNvSpPr/>
          <p:nvPr/>
        </p:nvSpPr>
        <p:spPr>
          <a:xfrm>
            <a:off x="7040880" y="1463040"/>
            <a:ext cx="4599432" cy="2240280"/>
          </a:xfrm>
          <a:prstGeom prst="roundRect">
            <a:avLst>
              <a:gd name="adj" fmla="val 8163"/>
            </a:avLst>
          </a:prstGeom>
          <a:solidFill>
            <a:schemeClr val="accent1"/>
          </a:solidFill>
          <a:ln w="12700">
            <a:solidFill>
              <a:schemeClr val="accent1"/>
            </a:solidFill>
            <a:prstDash val="solid"/>
          </a:ln>
        </p:spPr>
      </p:sp>
      <p:sp>
        <p:nvSpPr>
          <p:cNvPr id="11" name="Score panel"/>
          <p:cNvSpPr/>
          <p:nvPr/>
        </p:nvSpPr>
        <p:spPr>
          <a:xfrm>
            <a:off x="10222992" y="1463040"/>
            <a:ext cx="1417320" cy="2240280"/>
          </a:xfrm>
          <a:prstGeom prst="roundRect">
            <a:avLst>
              <a:gd name="adj" fmla="val 12903"/>
            </a:avLst>
          </a:prstGeom>
          <a:solidFill>
            <a:schemeClr val="bg1"/>
          </a:solidFill>
          <a:ln w="12700">
            <a:solidFill>
              <a:schemeClr val="bg1"/>
            </a:solidFill>
            <a:prstDash val="solid"/>
          </a:ln>
        </p:spPr>
      </p:sp>
      <p:sp>
        <p:nvSpPr>
          <p:cNvPr id="12" name="Text 9"/>
          <p:cNvSpPr txBox="1"/>
          <p:nvPr/>
        </p:nvSpPr>
        <p:spPr>
          <a:xfrm>
            <a:off x="7315200" y="1691640"/>
            <a:ext cx="2286000" cy="274320"/>
          </a:xfrm>
          <a:prstGeom prst="rect">
            <a:avLst/>
          </a:prstGeom>
          <a:noFill/>
          <a:ln/>
        </p:spPr>
        <p:txBody>
          <a:bodyPr wrap="square" lIns="0" tIns="0" rIns="0" bIns="0" rtlCol="0" anchor="t"/>
          <a:lstStyle/>
          <a:p>
            <a:pPr indent="0" marL="0">
              <a:buNone/>
            </a:pPr>
            <a:r>
              <a:rPr lang="en-US" sz="1100" dirty="0">
                <a:solidFill>
                  <a:schemeClr val="accent6"/>
                </a:solidFill>
                <a:latin typeface="Menlo" pitchFamily="34" charset="0"/>
                <a:ea typeface="Menlo" pitchFamily="34" charset="-122"/>
                <a:cs typeface="Menlo" pitchFamily="34" charset="-120"/>
              </a:rPr>
              <a:t>RF-7K2D91</a:t>
            </a:r>
            <a:endParaRPr lang="en-US" sz="1100" dirty="0"/>
          </a:p>
        </p:txBody>
      </p:sp>
      <p:sp>
        <p:nvSpPr>
          <p:cNvPr id="13" name="Text 10"/>
          <p:cNvSpPr txBox="1"/>
          <p:nvPr/>
        </p:nvSpPr>
        <p:spPr>
          <a:xfrm>
            <a:off x="7315200" y="2103120"/>
            <a:ext cx="2926080" cy="411480"/>
          </a:xfrm>
          <a:prstGeom prst="rect">
            <a:avLst/>
          </a:prstGeom>
          <a:noFill/>
          <a:ln/>
        </p:spPr>
        <p:txBody>
          <a:bodyPr wrap="square" lIns="0" tIns="0" rIns="0" bIns="0" rtlCol="0" anchor="t"/>
          <a:lstStyle/>
          <a:p>
            <a:pPr indent="0" marL="0">
              <a:buNone/>
            </a:pPr>
            <a:r>
              <a:rPr lang="en-US" sz="2000" b="1" dirty="0">
                <a:solidFill>
                  <a:schemeClr val="bg1"/>
                </a:solidFill>
              </a:rPr>
              <a:t>검정 가죽 카드지갑</a:t>
            </a:r>
            <a:endParaRPr lang="en-US" sz="2000" dirty="0"/>
          </a:p>
        </p:txBody>
      </p:sp>
      <p:sp>
        <p:nvSpPr>
          <p:cNvPr id="14" name="Text 11"/>
          <p:cNvSpPr txBox="1"/>
          <p:nvPr/>
        </p:nvSpPr>
        <p:spPr>
          <a:xfrm>
            <a:off x="7315200" y="2560320"/>
            <a:ext cx="2926080" cy="274320"/>
          </a:xfrm>
          <a:prstGeom prst="rect">
            <a:avLst/>
          </a:prstGeom>
          <a:noFill/>
          <a:ln/>
        </p:spPr>
        <p:txBody>
          <a:bodyPr wrap="square" lIns="0" tIns="0" rIns="0" bIns="0" rtlCol="0" anchor="t"/>
          <a:lstStyle/>
          <a:p>
            <a:pPr indent="0" marL="0">
              <a:buNone/>
            </a:pPr>
            <a:r>
              <a:rPr lang="en-US" sz="1300" dirty="0">
                <a:solidFill>
                  <a:schemeClr val="accent6"/>
                </a:solidFill>
              </a:rPr>
              <a:t>습득 2일 전 · 서울특별시</a:t>
            </a:r>
            <a:endParaRPr lang="en-US" sz="1300" dirty="0"/>
          </a:p>
        </p:txBody>
      </p:sp>
      <p:sp>
        <p:nvSpPr>
          <p:cNvPr id="15" name="Chip 종류 일치"/>
          <p:cNvSpPr/>
          <p:nvPr/>
        </p:nvSpPr>
        <p:spPr>
          <a:xfrm>
            <a:off x="7315200" y="3063240"/>
            <a:ext cx="859536" cy="310896"/>
          </a:xfrm>
          <a:prstGeom prst="roundRect">
            <a:avLst>
              <a:gd name="adj" fmla="val 50000"/>
            </a:avLst>
          </a:prstGeom>
          <a:solidFill>
            <a:schemeClr val="accent2"/>
          </a:solidFill>
          <a:ln w="12700">
            <a:solidFill>
              <a:schemeClr val="accent2"/>
            </a:solidFill>
            <a:prstDash val="solid"/>
          </a:ln>
        </p:spPr>
      </p:sp>
      <p:sp>
        <p:nvSpPr>
          <p:cNvPr id="16" name="Text 13"/>
          <p:cNvSpPr txBox="1"/>
          <p:nvPr/>
        </p:nvSpPr>
        <p:spPr>
          <a:xfrm>
            <a:off x="7315200" y="3063240"/>
            <a:ext cx="859536" cy="310896"/>
          </a:xfrm>
          <a:prstGeom prst="rect">
            <a:avLst/>
          </a:prstGeom>
          <a:noFill/>
          <a:ln/>
        </p:spPr>
        <p:txBody>
          <a:bodyPr wrap="square" lIns="0" tIns="0" rIns="0" bIns="0" rtlCol="0" anchor="ctr"/>
          <a:lstStyle/>
          <a:p>
            <a:pPr algn="ctr" indent="0" marL="0">
              <a:buNone/>
            </a:pPr>
            <a:r>
              <a:rPr lang="en-US" sz="1100" b="1" dirty="0">
                <a:solidFill>
                  <a:schemeClr val="bg1"/>
                </a:solidFill>
              </a:rPr>
              <a:t>종류 일치</a:t>
            </a:r>
            <a:endParaRPr lang="en-US" sz="1100" dirty="0"/>
          </a:p>
        </p:txBody>
      </p:sp>
      <p:sp>
        <p:nvSpPr>
          <p:cNvPr id="17" name="Chip 색상 일치"/>
          <p:cNvSpPr/>
          <p:nvPr/>
        </p:nvSpPr>
        <p:spPr>
          <a:xfrm>
            <a:off x="8229600" y="3063240"/>
            <a:ext cx="859536" cy="310896"/>
          </a:xfrm>
          <a:prstGeom prst="roundRect">
            <a:avLst>
              <a:gd name="adj" fmla="val 50000"/>
            </a:avLst>
          </a:prstGeom>
          <a:solidFill>
            <a:schemeClr val="accent2"/>
          </a:solidFill>
          <a:ln w="12700">
            <a:solidFill>
              <a:schemeClr val="accent2"/>
            </a:solidFill>
            <a:prstDash val="solid"/>
          </a:ln>
        </p:spPr>
      </p:sp>
      <p:sp>
        <p:nvSpPr>
          <p:cNvPr id="18" name="Text 15"/>
          <p:cNvSpPr txBox="1"/>
          <p:nvPr/>
        </p:nvSpPr>
        <p:spPr>
          <a:xfrm>
            <a:off x="8229600" y="3063240"/>
            <a:ext cx="859536" cy="310896"/>
          </a:xfrm>
          <a:prstGeom prst="rect">
            <a:avLst/>
          </a:prstGeom>
          <a:noFill/>
          <a:ln/>
        </p:spPr>
        <p:txBody>
          <a:bodyPr wrap="square" lIns="0" tIns="0" rIns="0" bIns="0" rtlCol="0" anchor="ctr"/>
          <a:lstStyle/>
          <a:p>
            <a:pPr algn="ctr" indent="0" marL="0">
              <a:buNone/>
            </a:pPr>
            <a:r>
              <a:rPr lang="en-US" sz="1100" b="1" dirty="0">
                <a:solidFill>
                  <a:schemeClr val="bg1"/>
                </a:solidFill>
              </a:rPr>
              <a:t>색상 일치</a:t>
            </a:r>
            <a:endParaRPr lang="en-US" sz="1100" dirty="0"/>
          </a:p>
        </p:txBody>
      </p:sp>
      <p:sp>
        <p:nvSpPr>
          <p:cNvPr id="19" name="Chip 같은 지역"/>
          <p:cNvSpPr/>
          <p:nvPr/>
        </p:nvSpPr>
        <p:spPr>
          <a:xfrm>
            <a:off x="9144000" y="3063240"/>
            <a:ext cx="859536" cy="310896"/>
          </a:xfrm>
          <a:prstGeom prst="roundRect">
            <a:avLst>
              <a:gd name="adj" fmla="val 50000"/>
            </a:avLst>
          </a:prstGeom>
          <a:solidFill>
            <a:schemeClr val="accent2"/>
          </a:solidFill>
          <a:ln w="12700">
            <a:solidFill>
              <a:schemeClr val="accent2"/>
            </a:solidFill>
            <a:prstDash val="solid"/>
          </a:ln>
        </p:spPr>
      </p:sp>
      <p:sp>
        <p:nvSpPr>
          <p:cNvPr id="20" name="Text 17"/>
          <p:cNvSpPr txBox="1"/>
          <p:nvPr/>
        </p:nvSpPr>
        <p:spPr>
          <a:xfrm>
            <a:off x="9144000" y="3063240"/>
            <a:ext cx="859536" cy="310896"/>
          </a:xfrm>
          <a:prstGeom prst="rect">
            <a:avLst/>
          </a:prstGeom>
          <a:noFill/>
          <a:ln/>
        </p:spPr>
        <p:txBody>
          <a:bodyPr wrap="square" lIns="0" tIns="0" rIns="0" bIns="0" rtlCol="0" anchor="ctr"/>
          <a:lstStyle/>
          <a:p>
            <a:pPr algn="ctr" indent="0" marL="0">
              <a:buNone/>
            </a:pPr>
            <a:r>
              <a:rPr lang="en-US" sz="1100" b="1" dirty="0">
                <a:solidFill>
                  <a:schemeClr val="bg1"/>
                </a:solidFill>
              </a:rPr>
              <a:t>같은 지역</a:t>
            </a:r>
            <a:endParaRPr lang="en-US" sz="1100" dirty="0"/>
          </a:p>
        </p:txBody>
      </p:sp>
      <p:sp>
        <p:nvSpPr>
          <p:cNvPr id="21" name="Text 18"/>
          <p:cNvSpPr txBox="1"/>
          <p:nvPr/>
        </p:nvSpPr>
        <p:spPr>
          <a:xfrm>
            <a:off x="10222992" y="1828800"/>
            <a:ext cx="1417320" cy="274320"/>
          </a:xfrm>
          <a:prstGeom prst="rect">
            <a:avLst/>
          </a:prstGeom>
          <a:noFill/>
          <a:ln/>
        </p:spPr>
        <p:txBody>
          <a:bodyPr wrap="square" lIns="0" tIns="0" rIns="0" bIns="0" rtlCol="0" anchor="t"/>
          <a:lstStyle/>
          <a:p>
            <a:pPr algn="ctr" indent="0" marL="0">
              <a:buNone/>
            </a:pPr>
            <a:r>
              <a:rPr lang="en-US" sz="1100" dirty="0">
                <a:solidFill>
                  <a:schemeClr val="tx1"/>
                </a:solidFill>
              </a:rPr>
              <a:t>매칭 점수</a:t>
            </a:r>
            <a:endParaRPr lang="en-US" sz="1100" dirty="0"/>
          </a:p>
        </p:txBody>
      </p:sp>
      <p:sp>
        <p:nvSpPr>
          <p:cNvPr id="22" name="Text 19"/>
          <p:cNvSpPr txBox="1"/>
          <p:nvPr/>
        </p:nvSpPr>
        <p:spPr>
          <a:xfrm>
            <a:off x="10222992" y="2103120"/>
            <a:ext cx="1417320" cy="731520"/>
          </a:xfrm>
          <a:prstGeom prst="rect">
            <a:avLst/>
          </a:prstGeom>
          <a:noFill/>
          <a:ln/>
        </p:spPr>
        <p:txBody>
          <a:bodyPr wrap="square" lIns="0" tIns="0" rIns="0" bIns="0" rtlCol="0" anchor="ctr"/>
          <a:lstStyle/>
          <a:p>
            <a:pPr algn="ctr" indent="0" marL="0">
              <a:buNone/>
            </a:pPr>
            <a:r>
              <a:rPr lang="en-US" sz="4400" b="1" dirty="0">
                <a:solidFill>
                  <a:schemeClr val="tx1"/>
                </a:solidFill>
              </a:rPr>
              <a:t>92</a:t>
            </a:r>
            <a:endParaRPr lang="en-US" sz="4400" dirty="0"/>
          </a:p>
        </p:txBody>
      </p:sp>
      <p:sp>
        <p:nvSpPr>
          <p:cNvPr id="23" name="Text 20"/>
          <p:cNvSpPr txBox="1"/>
          <p:nvPr/>
        </p:nvSpPr>
        <p:spPr>
          <a:xfrm>
            <a:off x="10222992" y="2880360"/>
            <a:ext cx="1417320" cy="274320"/>
          </a:xfrm>
          <a:prstGeom prst="rect">
            <a:avLst/>
          </a:prstGeom>
          <a:noFill/>
          <a:ln/>
        </p:spPr>
        <p:txBody>
          <a:bodyPr wrap="square" lIns="0" tIns="0" rIns="0" bIns="0" rtlCol="0" anchor="t"/>
          <a:lstStyle/>
          <a:p>
            <a:pPr algn="ctr" indent="0" marL="0">
              <a:buNone/>
            </a:pPr>
            <a:r>
              <a:rPr lang="en-US" sz="1100" dirty="0">
                <a:solidFill>
                  <a:schemeClr val="tx1"/>
                </a:solidFill>
              </a:rPr>
              <a:t>가능성 높음</a:t>
            </a:r>
            <a:endParaRPr lang="en-US" sz="1100" dirty="0"/>
          </a:p>
        </p:txBody>
      </p:sp>
      <p:sp>
        <p:nvSpPr>
          <p:cNvPr id="24" name="Row 81"/>
          <p:cNvSpPr/>
          <p:nvPr/>
        </p:nvSpPr>
        <p:spPr>
          <a:xfrm>
            <a:off x="7040880" y="3886200"/>
            <a:ext cx="4599432" cy="777240"/>
          </a:xfrm>
          <a:prstGeom prst="roundRect">
            <a:avLst>
              <a:gd name="adj" fmla="val 16471"/>
            </a:avLst>
          </a:prstGeom>
          <a:solidFill>
            <a:schemeClr val="accent1"/>
          </a:solidFill>
          <a:ln w="12700">
            <a:solidFill>
              <a:schemeClr val="accent1"/>
            </a:solidFill>
            <a:prstDash val="solid"/>
          </a:ln>
        </p:spPr>
      </p:sp>
      <p:sp>
        <p:nvSpPr>
          <p:cNvPr id="25" name="Text 22"/>
          <p:cNvSpPr txBox="1"/>
          <p:nvPr/>
        </p:nvSpPr>
        <p:spPr>
          <a:xfrm>
            <a:off x="7315200" y="4014216"/>
            <a:ext cx="3017520" cy="274320"/>
          </a:xfrm>
          <a:prstGeom prst="rect">
            <a:avLst/>
          </a:prstGeom>
          <a:noFill/>
          <a:ln/>
        </p:spPr>
        <p:txBody>
          <a:bodyPr wrap="square" lIns="0" tIns="0" rIns="0" bIns="0" rtlCol="0" anchor="t"/>
          <a:lstStyle/>
          <a:p>
            <a:pPr indent="0" marL="0">
              <a:buNone/>
            </a:pPr>
            <a:r>
              <a:rPr lang="en-US" sz="1500" b="1" dirty="0">
                <a:solidFill>
                  <a:schemeClr val="bg1"/>
                </a:solidFill>
              </a:rPr>
              <a:t>검정색 지갑</a:t>
            </a:r>
            <a:endParaRPr lang="en-US" sz="1500" dirty="0"/>
          </a:p>
        </p:txBody>
      </p:sp>
      <p:sp>
        <p:nvSpPr>
          <p:cNvPr id="26" name="Text 23"/>
          <p:cNvSpPr txBox="1"/>
          <p:nvPr/>
        </p:nvSpPr>
        <p:spPr>
          <a:xfrm>
            <a:off x="7315200" y="4325112"/>
            <a:ext cx="3017520" cy="228600"/>
          </a:xfrm>
          <a:prstGeom prst="rect">
            <a:avLst/>
          </a:prstGeom>
          <a:noFill/>
          <a:ln/>
        </p:spPr>
        <p:txBody>
          <a:bodyPr wrap="square" lIns="0" tIns="0" rIns="0" bIns="0" rtlCol="0" anchor="t"/>
          <a:lstStyle/>
          <a:p>
            <a:pPr indent="0" marL="0">
              <a:buNone/>
            </a:pPr>
            <a:r>
              <a:rPr lang="en-US" sz="1100" dirty="0">
                <a:solidFill>
                  <a:schemeClr val="accent6"/>
                </a:solidFill>
              </a:rPr>
              <a:t>서울교통공사 유실물센터</a:t>
            </a:r>
            <a:endParaRPr lang="en-US" sz="1100" dirty="0"/>
          </a:p>
        </p:txBody>
      </p:sp>
      <p:sp>
        <p:nvSpPr>
          <p:cNvPr id="27" name="Text 24"/>
          <p:cNvSpPr txBox="1"/>
          <p:nvPr/>
        </p:nvSpPr>
        <p:spPr>
          <a:xfrm>
            <a:off x="10451592" y="3886200"/>
            <a:ext cx="914400" cy="777240"/>
          </a:xfrm>
          <a:prstGeom prst="rect">
            <a:avLst/>
          </a:prstGeom>
          <a:noFill/>
          <a:ln/>
        </p:spPr>
        <p:txBody>
          <a:bodyPr wrap="square" lIns="0" tIns="0" rIns="0" bIns="0" rtlCol="0" anchor="ctr"/>
          <a:lstStyle/>
          <a:p>
            <a:pPr algn="r" indent="0" marL="0">
              <a:buNone/>
            </a:pPr>
            <a:r>
              <a:rPr lang="en-US" sz="2600" b="1" dirty="0">
                <a:solidFill>
                  <a:schemeClr val="accent6"/>
                </a:solidFill>
              </a:rPr>
              <a:t>81</a:t>
            </a:r>
            <a:endParaRPr lang="en-US" sz="2600" dirty="0"/>
          </a:p>
        </p:txBody>
      </p:sp>
      <p:sp>
        <p:nvSpPr>
          <p:cNvPr id="28" name="Row 66"/>
          <p:cNvSpPr/>
          <p:nvPr/>
        </p:nvSpPr>
        <p:spPr>
          <a:xfrm>
            <a:off x="7040880" y="4754880"/>
            <a:ext cx="4599432" cy="777240"/>
          </a:xfrm>
          <a:prstGeom prst="roundRect">
            <a:avLst>
              <a:gd name="adj" fmla="val 16471"/>
            </a:avLst>
          </a:prstGeom>
          <a:solidFill>
            <a:schemeClr val="accent1"/>
          </a:solidFill>
          <a:ln w="12700">
            <a:solidFill>
              <a:schemeClr val="accent1"/>
            </a:solidFill>
            <a:prstDash val="solid"/>
          </a:ln>
        </p:spPr>
      </p:sp>
      <p:sp>
        <p:nvSpPr>
          <p:cNvPr id="29" name="Text 26"/>
          <p:cNvSpPr txBox="1"/>
          <p:nvPr/>
        </p:nvSpPr>
        <p:spPr>
          <a:xfrm>
            <a:off x="7315200" y="4882896"/>
            <a:ext cx="3017520" cy="274320"/>
          </a:xfrm>
          <a:prstGeom prst="rect">
            <a:avLst/>
          </a:prstGeom>
          <a:noFill/>
          <a:ln/>
        </p:spPr>
        <p:txBody>
          <a:bodyPr wrap="square" lIns="0" tIns="0" rIns="0" bIns="0" rtlCol="0" anchor="t"/>
          <a:lstStyle/>
          <a:p>
            <a:pPr indent="0" marL="0">
              <a:buNone/>
            </a:pPr>
            <a:r>
              <a:rPr lang="en-US" sz="1500" b="1" dirty="0">
                <a:solidFill>
                  <a:schemeClr val="bg1"/>
                </a:solidFill>
              </a:rPr>
              <a:t>카드 케이스 (갈색)</a:t>
            </a:r>
            <a:endParaRPr lang="en-US" sz="1500" dirty="0"/>
          </a:p>
        </p:txBody>
      </p:sp>
      <p:sp>
        <p:nvSpPr>
          <p:cNvPr id="30" name="Text 27"/>
          <p:cNvSpPr txBox="1"/>
          <p:nvPr/>
        </p:nvSpPr>
        <p:spPr>
          <a:xfrm>
            <a:off x="7315200" y="5193792"/>
            <a:ext cx="3017520" cy="228600"/>
          </a:xfrm>
          <a:prstGeom prst="rect">
            <a:avLst/>
          </a:prstGeom>
          <a:noFill/>
          <a:ln/>
        </p:spPr>
        <p:txBody>
          <a:bodyPr wrap="square" lIns="0" tIns="0" rIns="0" bIns="0" rtlCol="0" anchor="t"/>
          <a:lstStyle/>
          <a:p>
            <a:pPr indent="0" marL="0">
              <a:buNone/>
            </a:pPr>
            <a:r>
              <a:rPr lang="en-US" sz="1100" dirty="0">
                <a:solidFill>
                  <a:schemeClr val="accent6"/>
                </a:solidFill>
              </a:rPr>
              <a:t>역삼파출소 보관</a:t>
            </a:r>
            <a:endParaRPr lang="en-US" sz="1100" dirty="0"/>
          </a:p>
        </p:txBody>
      </p:sp>
      <p:sp>
        <p:nvSpPr>
          <p:cNvPr id="31" name="Text 28"/>
          <p:cNvSpPr txBox="1"/>
          <p:nvPr/>
        </p:nvSpPr>
        <p:spPr>
          <a:xfrm>
            <a:off x="10451592" y="4754880"/>
            <a:ext cx="914400" cy="777240"/>
          </a:xfrm>
          <a:prstGeom prst="rect">
            <a:avLst/>
          </a:prstGeom>
          <a:noFill/>
          <a:ln/>
        </p:spPr>
        <p:txBody>
          <a:bodyPr wrap="square" lIns="0" tIns="0" rIns="0" bIns="0" rtlCol="0" anchor="ctr"/>
          <a:lstStyle/>
          <a:p>
            <a:pPr algn="r" indent="0" marL="0">
              <a:buNone/>
            </a:pPr>
            <a:r>
              <a:rPr lang="en-US" sz="2600" b="1" dirty="0">
                <a:solidFill>
                  <a:schemeClr val="accent6"/>
                </a:solidFill>
              </a:rPr>
              <a:t>66</a:t>
            </a:r>
            <a:endParaRPr lang="en-US" sz="2600" dirty="0"/>
          </a:p>
        </p:txBody>
      </p:sp>
      <p:sp>
        <p:nvSpPr>
          <p:cNvPr id="32" name="Text 29"/>
          <p:cNvSpPr txBox="1"/>
          <p:nvPr/>
        </p:nvSpPr>
        <p:spPr>
          <a:xfrm>
            <a:off x="7040880" y="5669280"/>
            <a:ext cx="4599432" cy="274320"/>
          </a:xfrm>
          <a:prstGeom prst="rect">
            <a:avLst/>
          </a:prstGeom>
          <a:noFill/>
          <a:ln/>
        </p:spPr>
        <p:txBody>
          <a:bodyPr wrap="square" lIns="0" tIns="0" rIns="0" bIns="0" rtlCol="0" anchor="t"/>
          <a:lstStyle/>
          <a:p>
            <a:pPr indent="0" marL="0">
              <a:buNone/>
            </a:pPr>
            <a:r>
              <a:rPr lang="en-US" sz="1100" dirty="0">
                <a:solidFill>
                  <a:schemeClr val="accent6"/>
                </a:solidFill>
              </a:rPr>
              <a:t>예시 화면 (서비스 랜딩 구성)</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주인에게 돌아가는 유실물이 줄고 있습니다</a:t>
            </a:r>
            <a:endParaRPr lang="en-US" sz="3400" dirty="0"/>
          </a:p>
        </p:txBody>
      </p:sp>
      <p:sp>
        <p:nvSpPr>
          <p:cNvPr id="3" name="Stat intake"/>
          <p:cNvSpPr/>
          <p:nvPr/>
        </p:nvSpPr>
        <p:spPr>
          <a:xfrm>
            <a:off x="548640" y="1463040"/>
            <a:ext cx="4480560" cy="2011680"/>
          </a:xfrm>
          <a:prstGeom prst="roundRect">
            <a:avLst>
              <a:gd name="adj" fmla="val 727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914400" y="1691640"/>
            <a:ext cx="3749040" cy="274320"/>
          </a:xfrm>
          <a:prstGeom prst="rect">
            <a:avLst/>
          </a:prstGeom>
          <a:noFill/>
          <a:ln/>
        </p:spPr>
        <p:txBody>
          <a:bodyPr wrap="square" lIns="0" tIns="0" rIns="0" bIns="0" rtlCol="0" anchor="t"/>
          <a:lstStyle/>
          <a:p>
            <a:pPr indent="0" marL="0">
              <a:buNone/>
            </a:pPr>
            <a:r>
              <a:rPr lang="en-US" sz="1400" dirty="0">
                <a:solidFill>
                  <a:schemeClr val="tx2"/>
                </a:solidFill>
              </a:rPr>
              <a:t>유실물 접수 건수</a:t>
            </a:r>
            <a:endParaRPr lang="en-US" sz="1400" dirty="0"/>
          </a:p>
        </p:txBody>
      </p:sp>
      <p:sp>
        <p:nvSpPr>
          <p:cNvPr id="5" name="Text 3"/>
          <p:cNvSpPr txBox="1"/>
          <p:nvPr/>
        </p:nvSpPr>
        <p:spPr>
          <a:xfrm>
            <a:off x="914400" y="2011680"/>
            <a:ext cx="3749040" cy="868680"/>
          </a:xfrm>
          <a:prstGeom prst="rect">
            <a:avLst/>
          </a:prstGeom>
          <a:noFill/>
          <a:ln/>
        </p:spPr>
        <p:txBody>
          <a:bodyPr wrap="square" lIns="0" tIns="0" rIns="0" bIns="0" rtlCol="0" anchor="ctr"/>
          <a:lstStyle/>
          <a:p>
            <a:pPr indent="0" marL="0">
              <a:buNone/>
            </a:pPr>
            <a:r>
              <a:rPr lang="en-US" sz="5400" b="1" dirty="0">
                <a:solidFill>
                  <a:schemeClr val="tx1"/>
                </a:solidFill>
              </a:rPr>
              <a:t>+65%</a:t>
            </a:r>
            <a:endParaRPr lang="en-US" sz="5400" dirty="0"/>
          </a:p>
        </p:txBody>
      </p:sp>
      <p:sp>
        <p:nvSpPr>
          <p:cNvPr id="6" name="Text 4"/>
          <p:cNvSpPr txBox="1"/>
          <p:nvPr/>
        </p:nvSpPr>
        <p:spPr>
          <a:xfrm>
            <a:off x="914400" y="2926080"/>
            <a:ext cx="3749040" cy="320040"/>
          </a:xfrm>
          <a:prstGeom prst="rect">
            <a:avLst/>
          </a:prstGeom>
          <a:noFill/>
          <a:ln/>
        </p:spPr>
        <p:txBody>
          <a:bodyPr wrap="square" lIns="0" tIns="0" rIns="0" bIns="0" rtlCol="0" anchor="t"/>
          <a:lstStyle/>
          <a:p>
            <a:pPr indent="0" marL="0">
              <a:buNone/>
            </a:pPr>
            <a:r>
              <a:rPr lang="en-US" sz="1400" dirty="0">
                <a:solidFill>
                  <a:schemeClr val="tx2"/>
                </a:solidFill>
              </a:rPr>
              <a:t>2021년 10.2만 건 → 2025년 16.8만 건</a:t>
            </a:r>
            <a:endParaRPr lang="en-US" sz="1400" dirty="0"/>
          </a:p>
        </p:txBody>
      </p:sp>
      <p:sp>
        <p:nvSpPr>
          <p:cNvPr id="7" name="Stat return"/>
          <p:cNvSpPr/>
          <p:nvPr/>
        </p:nvSpPr>
        <p:spPr>
          <a:xfrm>
            <a:off x="548640" y="3703320"/>
            <a:ext cx="4480560" cy="2011680"/>
          </a:xfrm>
          <a:prstGeom prst="roundRect">
            <a:avLst>
              <a:gd name="adj" fmla="val 7273"/>
            </a:avLst>
          </a:prstGeom>
          <a:solidFill>
            <a:schemeClr val="tx1"/>
          </a:solidFill>
          <a:ln w="12700">
            <a:solidFill>
              <a:schemeClr val="tx1"/>
            </a:solidFill>
            <a:prstDash val="solid"/>
          </a:ln>
        </p:spPr>
      </p:sp>
      <p:sp>
        <p:nvSpPr>
          <p:cNvPr id="8" name="Text 6"/>
          <p:cNvSpPr txBox="1"/>
          <p:nvPr/>
        </p:nvSpPr>
        <p:spPr>
          <a:xfrm>
            <a:off x="914400" y="3931920"/>
            <a:ext cx="3749040" cy="274320"/>
          </a:xfrm>
          <a:prstGeom prst="rect">
            <a:avLst/>
          </a:prstGeom>
          <a:noFill/>
          <a:ln/>
        </p:spPr>
        <p:txBody>
          <a:bodyPr wrap="square" lIns="0" tIns="0" rIns="0" bIns="0" rtlCol="0" anchor="t"/>
          <a:lstStyle/>
          <a:p>
            <a:pPr indent="0" marL="0">
              <a:buNone/>
            </a:pPr>
            <a:r>
              <a:rPr lang="en-US" sz="1400" dirty="0">
                <a:solidFill>
                  <a:schemeClr val="accent6"/>
                </a:solidFill>
              </a:rPr>
              <a:t>주인에게 돌아간 비율</a:t>
            </a:r>
            <a:endParaRPr lang="en-US" sz="1400" dirty="0"/>
          </a:p>
        </p:txBody>
      </p:sp>
      <p:sp>
        <p:nvSpPr>
          <p:cNvPr id="9" name="Text 7"/>
          <p:cNvSpPr txBox="1"/>
          <p:nvPr/>
        </p:nvSpPr>
        <p:spPr>
          <a:xfrm>
            <a:off x="914400" y="4251960"/>
            <a:ext cx="3749040" cy="868680"/>
          </a:xfrm>
          <a:prstGeom prst="rect">
            <a:avLst/>
          </a:prstGeom>
          <a:noFill/>
          <a:ln/>
        </p:spPr>
        <p:txBody>
          <a:bodyPr wrap="square" lIns="0" tIns="0" rIns="0" bIns="0" rtlCol="0" anchor="ctr"/>
          <a:lstStyle/>
          <a:p>
            <a:pPr indent="0" marL="0">
              <a:buNone/>
            </a:pPr>
            <a:r>
              <a:rPr lang="en-US" sz="3400" b="1" dirty="0">
                <a:solidFill>
                  <a:schemeClr val="bg1"/>
                </a:solidFill>
              </a:rPr>
              <a:t>65.6 → 51.5%</a:t>
            </a:r>
            <a:endParaRPr lang="en-US" sz="3400" dirty="0"/>
          </a:p>
        </p:txBody>
      </p:sp>
      <p:sp>
        <p:nvSpPr>
          <p:cNvPr id="10" name="Text 8"/>
          <p:cNvSpPr txBox="1"/>
          <p:nvPr/>
        </p:nvSpPr>
        <p:spPr>
          <a:xfrm>
            <a:off x="914400" y="5212080"/>
            <a:ext cx="3749040" cy="320040"/>
          </a:xfrm>
          <a:prstGeom prst="rect">
            <a:avLst/>
          </a:prstGeom>
          <a:noFill/>
          <a:ln/>
        </p:spPr>
        <p:txBody>
          <a:bodyPr wrap="square" lIns="0" tIns="0" rIns="0" bIns="0" rtlCol="0" anchor="t"/>
          <a:lstStyle/>
          <a:p>
            <a:pPr indent="0" marL="0">
              <a:buNone/>
            </a:pPr>
            <a:r>
              <a:rPr lang="en-US" sz="1400" dirty="0">
                <a:solidFill>
                  <a:schemeClr val="accent6"/>
                </a:solidFill>
              </a:rPr>
              <a:t>2021년 → 2025년, 14.1%p 하락</a:t>
            </a:r>
            <a:endParaRPr lang="en-US" sz="1400" dirty="0"/>
          </a:p>
        </p:txBody>
      </p:sp>
      <p:sp>
        <p:nvSpPr>
          <p:cNvPr id="11" name="Chart card"/>
          <p:cNvSpPr/>
          <p:nvPr/>
        </p:nvSpPr>
        <p:spPr>
          <a:xfrm>
            <a:off x="5303520" y="1463040"/>
            <a:ext cx="6336792" cy="4251960"/>
          </a:xfrm>
          <a:prstGeom prst="roundRect">
            <a:avLst>
              <a:gd name="adj" fmla="val 344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2" name="Text 10"/>
          <p:cNvSpPr txBox="1"/>
          <p:nvPr/>
        </p:nvSpPr>
        <p:spPr>
          <a:xfrm>
            <a:off x="5669280" y="1691640"/>
            <a:ext cx="3657600" cy="274320"/>
          </a:xfrm>
          <a:prstGeom prst="rect">
            <a:avLst/>
          </a:prstGeom>
          <a:noFill/>
          <a:ln/>
        </p:spPr>
        <p:txBody>
          <a:bodyPr wrap="square" lIns="0" tIns="0" rIns="0" bIns="0" rtlCol="0" anchor="t"/>
          <a:lstStyle/>
          <a:p>
            <a:pPr indent="0" marL="0">
              <a:buNone/>
            </a:pPr>
            <a:r>
              <a:rPr lang="en-US" sz="1400" b="1" dirty="0">
                <a:solidFill>
                  <a:schemeClr val="tx1"/>
                </a:solidFill>
              </a:rPr>
              <a:t>주인에게 돌아간 비율 (%)</a:t>
            </a:r>
            <a:endParaRPr lang="en-US" sz="1400" dirty="0"/>
          </a:p>
        </p:txBody>
      </p:sp>
      <p:graphicFrame>
        <p:nvGraphicFramePr>
          <p:cNvPr id="13" name="Chart 0" descr=""/>
          <p:cNvGraphicFramePr/>
          <p:nvPr/>
        </p:nvGraphicFramePr>
        <p:xfrm>
          <a:off x="5486400" y="2057400"/>
          <a:ext cx="5971032" cy="35204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dirty="0">
                <a:solidFill>
                  <a:schemeClr val="tx2"/>
                </a:solidFill>
              </a:rPr>
              <a:t>출처: 서울교통공사 유실물 데이터(황희 의원 분석), The Herald Business, 2026.10.16 · 서울 지하철 기준</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기존 서비스와 무엇이 다른가</a:t>
            </a:r>
            <a:endParaRPr lang="en-US" sz="3400" dirty="0"/>
          </a:p>
        </p:txBody>
      </p:sp>
      <p:graphicFrame>
        <p:nvGraphicFramePr>
          <p:cNvPr id="4" name="Feature comparison"/>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651760"/>
                <a:gridCol w="1600200"/>
                <a:gridCol w="1600200"/>
                <a:gridCol w="1600200"/>
                <a:gridCol w="1600200"/>
                <a:gridCol w="2039112"/>
              </a:tblGrid>
              <a:tr h="457200">
                <a:tc>
                  <a:txBody>
                    <a:bodyPr/>
                    <a:lstStyle/>
                    <a:p>
                      <a:pPr indent="0" marL="0">
                        <a:buNone/>
                      </a:pPr>
                      <a:r>
                        <a:rPr lang="en-US" sz="1400" b="1" dirty="0">
                          <a:solidFill>
                            <a:srgbClr val="000000"/>
                          </a:solidFill>
                        </a:rPr>
                        <a:t>기능</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경찰청 LOST112</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당근</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파인딩올</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서울교통공사</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FFFFFF"/>
                          </a:solidFill>
                        </a:rPr>
                        <a:t>ReFind</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분실 정보 등록</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신고·실명인증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게시글</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앱 등록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4단계 등록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유사 후보 자동 추천</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기준 비공개</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사람이 판단</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AI 이미지 분석</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TOP 5 순위화</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추천 이유 · 항목별 근거</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항목별 점수</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새 습득물 재탐색 · 알림</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문자·이메일</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수동</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미확인</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0.78점 이상</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r h="640080">
                <a:tc>
                  <a:txBody>
                    <a:bodyPr/>
                    <a:lstStyle/>
                    <a:p>
                      <a:pPr indent="0" marL="0">
                        <a:buNone/>
                      </a:pPr>
                      <a:r>
                        <a:rPr lang="en-US" sz="1400" b="1" dirty="0">
                          <a:solidFill>
                            <a:srgbClr val="000000"/>
                          </a:solidFill>
                        </a:rPr>
                        <a:t>전국 공식 습득물 대상</a:t>
                      </a:r>
                      <a:endParaRPr lang="en-US" sz="14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rPr>
                        <a:t>●</a:t>
                      </a:r>
                      <a:endParaRPr lang="en-US" sz="1200" dirty="0"/>
                    </a:p>
                    <a:p>
                      <a:pPr algn="ctr" indent="0" marL="0">
                        <a:buNone/>
                      </a:pPr>
                      <a:r>
                        <a:rPr lang="en-US" sz="1100" dirty="0">
                          <a:solidFill>
                            <a:srgbClr val="636366"/>
                          </a:solidFill>
                        </a:rPr>
                        <a:t>전국 통합</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이웃 게시글</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거점·QR 중심</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636366"/>
                          </a:solidFill>
                        </a:rPr>
                        <a:t>△</a:t>
                      </a:r>
                      <a:endParaRPr lang="en-US" sz="1200" dirty="0"/>
                    </a:p>
                    <a:p>
                      <a:pPr algn="ctr" indent="0" marL="0">
                        <a:buNone/>
                      </a:pPr>
                      <a:r>
                        <a:rPr lang="en-US" sz="1100" dirty="0">
                          <a:solidFill>
                            <a:srgbClr val="636366"/>
                          </a:solidFill>
                        </a:rPr>
                        <a:t>기관 보관분</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rPr>
                        <a:t>●</a:t>
                      </a:r>
                      <a:endParaRPr lang="en-US" sz="1200" dirty="0"/>
                    </a:p>
                    <a:p>
                      <a:pPr algn="ctr" indent="0" marL="0">
                        <a:buNone/>
                      </a:pPr>
                      <a:r>
                        <a:rPr lang="en-US" sz="1100" dirty="0">
                          <a:solidFill>
                            <a:srgbClr val="FFFFFF"/>
                          </a:solidFill>
                        </a:rPr>
                        <a:t>LOST112 전체</a:t>
                      </a:r>
                      <a:endParaRPr lang="en-US" sz="1200" dirty="0"/>
                    </a:p>
                  </a:txBody>
                  <a:tcPr marL="73152" marR="73152" marT="36576" marB="36576"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r>
            </a:tbl>
          </a:graphicData>
        </a:graphic>
      </p:graphicFrame>
      <p:sp>
        <p:nvSpPr>
          <p:cNvPr id="4" name="Differentiator"/>
          <p:cNvSpPr/>
          <p:nvPr/>
        </p:nvSpPr>
        <p:spPr>
          <a:xfrm>
            <a:off x="548640" y="5303520"/>
            <a:ext cx="11094415" cy="475488"/>
          </a:xfrm>
          <a:prstGeom prst="roundRect">
            <a:avLst>
              <a:gd name="adj" fmla="val 26923"/>
            </a:avLst>
          </a:prstGeom>
          <a:solidFill>
            <a:schemeClr val="tx1"/>
          </a:solidFill>
          <a:ln w="12700">
            <a:solidFill>
              <a:schemeClr val="tx1"/>
            </a:solidFill>
            <a:prstDash val="solid"/>
          </a:ln>
        </p:spPr>
      </p:sp>
      <p:sp>
        <p:nvSpPr>
          <p:cNvPr id="5" name="Text 2"/>
          <p:cNvSpPr txBox="1"/>
          <p:nvPr/>
        </p:nvSpPr>
        <p:spPr>
          <a:xfrm>
            <a:off x="868680" y="5303520"/>
            <a:ext cx="10454335" cy="475488"/>
          </a:xfrm>
          <a:prstGeom prst="rect">
            <a:avLst/>
          </a:prstGeom>
          <a:noFill/>
          <a:ln/>
        </p:spPr>
        <p:txBody>
          <a:bodyPr wrap="square" lIns="0" tIns="0" rIns="0" bIns="0" rtlCol="0" anchor="ctr"/>
          <a:lstStyle/>
          <a:p>
            <a:pPr indent="0" marL="0">
              <a:buNone/>
            </a:pPr>
            <a:r>
              <a:rPr lang="en-US" sz="1500" b="1" dirty="0">
                <a:solidFill>
                  <a:schemeClr val="accent6"/>
                </a:solidFill>
              </a:rPr>
              <a:t>ReFind의 차별점  </a:t>
            </a:r>
            <a:pPr indent="0" marL="0">
              <a:buNone/>
            </a:pPr>
            <a:r>
              <a:rPr lang="en-US" sz="1500" b="1" dirty="0">
                <a:solidFill>
                  <a:schemeClr val="bg1"/>
                </a:solidFill>
              </a:rPr>
              <a:t>결과를 나열하지 않고, 왜 비슷한지 항목별 근거를 보여준다</a:t>
            </a:r>
            <a:endParaRPr lang="en-US" sz="1500" dirty="0"/>
          </a:p>
        </p:txBody>
      </p:sp>
      <p:sp>
        <p:nvSpPr>
          <p:cNvPr id="6" name="Text 3"/>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000" dirty="0">
                <a:solidFill>
                  <a:schemeClr val="tx2"/>
                </a:solidFill>
              </a:rPr>
              <a:t>●  확인됨    △  일부 · 기준 비공개    ✕  수동 · 미제공    ?  공개 자료로 확인하지 못함</a:t>
            </a:r>
            <a:endParaRPr lang="en-US" sz="1000" dirty="0"/>
          </a:p>
        </p:txBody>
      </p:sp>
      <p:sp>
        <p:nvSpPr>
          <p:cNvPr id="7" name="Text 4"/>
          <p:cNvSpPr txBox="1"/>
          <p:nvPr/>
        </p:nvSpPr>
        <p:spPr>
          <a:xfrm>
            <a:off x="548640" y="6126480"/>
            <a:ext cx="11094415" cy="274320"/>
          </a:xfrm>
          <a:prstGeom prst="rect">
            <a:avLst/>
          </a:prstGeom>
          <a:noFill/>
          <a:ln/>
        </p:spPr>
        <p:txBody>
          <a:bodyPr wrap="square" lIns="0" tIns="0" rIns="0" bIns="0" rtlCol="0" anchor="t"/>
          <a:lstStyle/>
          <a:p>
            <a:pPr indent="0" marL="0">
              <a:buNone/>
            </a:pPr>
            <a:r>
              <a:rPr lang="en-US" sz="1000" dirty="0">
                <a:solidFill>
                  <a:schemeClr val="tx2"/>
                </a:solidFill>
              </a:rPr>
              <a:t>공개 자료 기준(2026.10) · 출처: LOST112 안내, 유니콘팩토리(2024.6), 전자신문(2025.2), 파이낸셜뉴스(2024.11), 서울시 뉴스(2026.7)</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등록 한 번이면, 나머지는 ReFind가 합니다</a:t>
            </a:r>
            <a:endParaRPr lang="en-US" sz="3400" dirty="0"/>
          </a:p>
        </p:txBody>
      </p:sp>
      <p:sp>
        <p:nvSpPr>
          <p:cNvPr id="3" name="Step card 1"/>
          <p:cNvSpPr/>
          <p:nvPr/>
        </p:nvSpPr>
        <p:spPr>
          <a:xfrm>
            <a:off x="548640" y="1463040"/>
            <a:ext cx="4937760" cy="1143000"/>
          </a:xfrm>
          <a:prstGeom prst="roundRect">
            <a:avLst>
              <a:gd name="adj" fmla="val 12800"/>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Step 1"/>
          <p:cNvSpPr/>
          <p:nvPr/>
        </p:nvSpPr>
        <p:spPr>
          <a:xfrm>
            <a:off x="822960" y="1737360"/>
            <a:ext cx="457200" cy="457200"/>
          </a:xfrm>
          <a:prstGeom prst="ellipse">
            <a:avLst/>
          </a:prstGeom>
          <a:solidFill>
            <a:schemeClr val="tx1"/>
          </a:solidFill>
          <a:ln w="12700">
            <a:solidFill>
              <a:schemeClr val="tx1"/>
            </a:solidFill>
            <a:prstDash val="solid"/>
          </a:ln>
        </p:spPr>
      </p:sp>
      <p:sp>
        <p:nvSpPr>
          <p:cNvPr id="5"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618488"/>
            <a:ext cx="3108960" cy="365760"/>
          </a:xfrm>
          <a:prstGeom prst="rect">
            <a:avLst/>
          </a:prstGeom>
          <a:noFill/>
          <a:ln/>
        </p:spPr>
        <p:txBody>
          <a:bodyPr wrap="square" lIns="0" tIns="0" rIns="0" bIns="0" rtlCol="0" anchor="t"/>
          <a:lstStyle/>
          <a:p>
            <a:pPr indent="0" marL="0">
              <a:buNone/>
            </a:pPr>
            <a:r>
              <a:rPr lang="en-US" sz="2000" b="1" dirty="0">
                <a:solidFill>
                  <a:schemeClr val="tx1"/>
                </a:solidFill>
              </a:rPr>
              <a:t>등록</a:t>
            </a:r>
            <a:endParaRPr lang="en-US" sz="2000" dirty="0"/>
          </a:p>
        </p:txBody>
      </p:sp>
      <p:sp>
        <p:nvSpPr>
          <p:cNvPr id="7" name="Text 5"/>
          <p:cNvSpPr txBox="1"/>
          <p:nvPr/>
        </p:nvSpPr>
        <p:spPr>
          <a:xfrm>
            <a:off x="1463040" y="2011680"/>
            <a:ext cx="3840480" cy="502920"/>
          </a:xfrm>
          <a:prstGeom prst="rect">
            <a:avLst/>
          </a:prstGeom>
          <a:noFill/>
          <a:ln/>
        </p:spPr>
        <p:txBody>
          <a:bodyPr wrap="square" lIns="0" tIns="0" rIns="0" bIns="0" rtlCol="0" anchor="t"/>
          <a:lstStyle/>
          <a:p>
            <a:pPr indent="0" marL="0">
              <a:buNone/>
            </a:pPr>
            <a:r>
              <a:rPr lang="en-US" sz="1400" dirty="0">
                <a:solidFill>
                  <a:schemeClr val="tx2"/>
                </a:solidFill>
              </a:rPr>
              <a:t>물품·색상·장소·날짜·특징을</a:t>
            </a:r>
            <a:endParaRPr lang="en-US" sz="1400" dirty="0"/>
          </a:p>
          <a:p>
            <a:pPr indent="0" marL="0">
              <a:buNone/>
            </a:pPr>
            <a:r>
              <a:rPr lang="en-US" sz="1400" dirty="0">
                <a:solidFill>
                  <a:schemeClr val="tx2"/>
                </a:solidFill>
              </a:rPr>
              <a:t>4단계로 입력</a:t>
            </a:r>
            <a:endParaRPr lang="en-US" sz="1400" dirty="0"/>
          </a:p>
        </p:txBody>
      </p:sp>
      <p:sp>
        <p:nvSpPr>
          <p:cNvPr id="8" name="Step card 2"/>
          <p:cNvSpPr/>
          <p:nvPr/>
        </p:nvSpPr>
        <p:spPr>
          <a:xfrm>
            <a:off x="548640" y="2743200"/>
            <a:ext cx="4937760" cy="1143000"/>
          </a:xfrm>
          <a:prstGeom prst="roundRect">
            <a:avLst>
              <a:gd name="adj" fmla="val 12800"/>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9" name="Step 2"/>
          <p:cNvSpPr/>
          <p:nvPr/>
        </p:nvSpPr>
        <p:spPr>
          <a:xfrm>
            <a:off x="822960" y="3017520"/>
            <a:ext cx="457200" cy="457200"/>
          </a:xfrm>
          <a:prstGeom prst="ellipse">
            <a:avLst/>
          </a:prstGeom>
          <a:solidFill>
            <a:schemeClr val="tx1"/>
          </a:solidFill>
          <a:ln w="12700">
            <a:solidFill>
              <a:schemeClr val="tx1"/>
            </a:solidFill>
            <a:prstDash val="solid"/>
          </a:ln>
        </p:spPr>
      </p:sp>
      <p:sp>
        <p:nvSpPr>
          <p:cNvPr id="10" name="Text 8"/>
          <p:cNvSpPr txBox="1"/>
          <p:nvPr/>
        </p:nvSpPr>
        <p:spPr>
          <a:xfrm>
            <a:off x="822960" y="3017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463040" y="2898648"/>
            <a:ext cx="3108960" cy="365760"/>
          </a:xfrm>
          <a:prstGeom prst="rect">
            <a:avLst/>
          </a:prstGeom>
          <a:noFill/>
          <a:ln/>
        </p:spPr>
        <p:txBody>
          <a:bodyPr wrap="square" lIns="0" tIns="0" rIns="0" bIns="0" rtlCol="0" anchor="t"/>
          <a:lstStyle/>
          <a:p>
            <a:pPr indent="0" marL="0">
              <a:buNone/>
            </a:pPr>
            <a:r>
              <a:rPr lang="en-US" sz="2000" b="1" dirty="0">
                <a:solidFill>
                  <a:schemeClr val="tx1"/>
                </a:solidFill>
              </a:rPr>
              <a:t>자동 매칭</a:t>
            </a:r>
            <a:endParaRPr lang="en-US" sz="2000" dirty="0"/>
          </a:p>
        </p:txBody>
      </p:sp>
      <p:sp>
        <p:nvSpPr>
          <p:cNvPr id="12" name="Text 10"/>
          <p:cNvSpPr txBox="1"/>
          <p:nvPr/>
        </p:nvSpPr>
        <p:spPr>
          <a:xfrm>
            <a:off x="1463040" y="3291840"/>
            <a:ext cx="3840480" cy="502920"/>
          </a:xfrm>
          <a:prstGeom prst="rect">
            <a:avLst/>
          </a:prstGeom>
          <a:noFill/>
          <a:ln/>
        </p:spPr>
        <p:txBody>
          <a:bodyPr wrap="square" lIns="0" tIns="0" rIns="0" bIns="0" rtlCol="0" anchor="t"/>
          <a:lstStyle/>
          <a:p>
            <a:pPr indent="0" marL="0">
              <a:buNone/>
            </a:pPr>
            <a:r>
              <a:rPr lang="en-US" sz="1400" dirty="0">
                <a:solidFill>
                  <a:schemeClr val="tx2"/>
                </a:solidFill>
              </a:rPr>
              <a:t>경찰청 LOST112 습득물과 비교해</a:t>
            </a:r>
            <a:endParaRPr lang="en-US" sz="1400" dirty="0"/>
          </a:p>
          <a:p>
            <a:pPr indent="0" marL="0">
              <a:buNone/>
            </a:pPr>
            <a:r>
              <a:rPr lang="en-US" sz="1400" dirty="0">
                <a:solidFill>
                  <a:schemeClr val="tx2"/>
                </a:solidFill>
              </a:rPr>
              <a:t>TOP 5와 근거 제시</a:t>
            </a:r>
            <a:endParaRPr lang="en-US" sz="1400" dirty="0"/>
          </a:p>
        </p:txBody>
      </p:sp>
      <p:sp>
        <p:nvSpPr>
          <p:cNvPr id="13" name="Step card 3"/>
          <p:cNvSpPr/>
          <p:nvPr/>
        </p:nvSpPr>
        <p:spPr>
          <a:xfrm>
            <a:off x="548640" y="4023360"/>
            <a:ext cx="4937760" cy="1143000"/>
          </a:xfrm>
          <a:prstGeom prst="roundRect">
            <a:avLst>
              <a:gd name="adj" fmla="val 12800"/>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4" name="Step 3"/>
          <p:cNvSpPr/>
          <p:nvPr/>
        </p:nvSpPr>
        <p:spPr>
          <a:xfrm>
            <a:off x="822960" y="4297680"/>
            <a:ext cx="457200" cy="457200"/>
          </a:xfrm>
          <a:prstGeom prst="ellipse">
            <a:avLst/>
          </a:prstGeom>
          <a:solidFill>
            <a:schemeClr val="tx1"/>
          </a:solidFill>
          <a:ln w="12700">
            <a:solidFill>
              <a:schemeClr val="tx1"/>
            </a:solidFill>
            <a:prstDash val="solid"/>
          </a:ln>
        </p:spPr>
      </p:sp>
      <p:sp>
        <p:nvSpPr>
          <p:cNvPr id="15" name="Text 13"/>
          <p:cNvSpPr txBox="1"/>
          <p:nvPr/>
        </p:nvSpPr>
        <p:spPr>
          <a:xfrm>
            <a:off x="822960" y="4297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463040" y="4178808"/>
            <a:ext cx="3108960" cy="365760"/>
          </a:xfrm>
          <a:prstGeom prst="rect">
            <a:avLst/>
          </a:prstGeom>
          <a:noFill/>
          <a:ln/>
        </p:spPr>
        <p:txBody>
          <a:bodyPr wrap="square" lIns="0" tIns="0" rIns="0" bIns="0" rtlCol="0" anchor="t"/>
          <a:lstStyle/>
          <a:p>
            <a:pPr indent="0" marL="0">
              <a:buNone/>
            </a:pPr>
            <a:r>
              <a:rPr lang="en-US" sz="2000" b="1" dirty="0">
                <a:solidFill>
                  <a:schemeClr val="tx1"/>
                </a:solidFill>
              </a:rPr>
              <a:t>알림</a:t>
            </a:r>
            <a:endParaRPr lang="en-US" sz="2000" dirty="0"/>
          </a:p>
        </p:txBody>
      </p:sp>
      <p:sp>
        <p:nvSpPr>
          <p:cNvPr id="17" name="Text 15"/>
          <p:cNvSpPr txBox="1"/>
          <p:nvPr/>
        </p:nvSpPr>
        <p:spPr>
          <a:xfrm>
            <a:off x="1463040" y="4572000"/>
            <a:ext cx="3840480" cy="502920"/>
          </a:xfrm>
          <a:prstGeom prst="rect">
            <a:avLst/>
          </a:prstGeom>
          <a:noFill/>
          <a:ln/>
        </p:spPr>
        <p:txBody>
          <a:bodyPr wrap="square" lIns="0" tIns="0" rIns="0" bIns="0" rtlCol="0" anchor="t"/>
          <a:lstStyle/>
          <a:p>
            <a:pPr indent="0" marL="0">
              <a:buNone/>
            </a:pPr>
            <a:r>
              <a:rPr lang="en-US" sz="1400" dirty="0">
                <a:solidFill>
                  <a:schemeClr val="tx2"/>
                </a:solidFill>
              </a:rPr>
              <a:t>새 습득물이 들어오면 다시 비교해</a:t>
            </a:r>
            <a:endParaRPr lang="en-US" sz="1400" dirty="0"/>
          </a:p>
          <a:p>
            <a:pPr indent="0" marL="0">
              <a:buNone/>
            </a:pPr>
            <a:r>
              <a:rPr lang="en-US" sz="1400" dirty="0">
                <a:solidFill>
                  <a:schemeClr val="tx2"/>
                </a:solidFill>
              </a:rPr>
              <a:t>먼저 알려줌</a:t>
            </a:r>
            <a:endParaRPr lang="en-US" sz="1400" dirty="0"/>
          </a:p>
        </p:txBody>
      </p:sp>
      <p:sp>
        <p:nvSpPr>
          <p:cNvPr id="18" name="Role boundary"/>
          <p:cNvSpPr/>
          <p:nvPr/>
        </p:nvSpPr>
        <p:spPr>
          <a:xfrm>
            <a:off x="548640" y="5349240"/>
            <a:ext cx="4937760" cy="777240"/>
          </a:xfrm>
          <a:prstGeom prst="roundRect">
            <a:avLst>
              <a:gd name="adj" fmla="val 16471"/>
            </a:avLst>
          </a:prstGeom>
          <a:solidFill>
            <a:schemeClr val="tx1"/>
          </a:solidFill>
          <a:ln w="12700">
            <a:solidFill>
              <a:schemeClr val="tx1"/>
            </a:solidFill>
            <a:prstDash val="solid"/>
          </a:ln>
        </p:spPr>
      </p:sp>
      <p:sp>
        <p:nvSpPr>
          <p:cNvPr id="19" name="Text 17"/>
          <p:cNvSpPr txBox="1"/>
          <p:nvPr/>
        </p:nvSpPr>
        <p:spPr>
          <a:xfrm>
            <a:off x="822960" y="53492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ReFind는 탐색·연결 서비스입니다</a:t>
            </a:r>
            <a:endParaRPr lang="en-US" sz="1500" dirty="0"/>
          </a:p>
          <a:p>
            <a:pPr indent="0" marL="0">
              <a:buNone/>
            </a:pPr>
            <a:r>
              <a:rPr lang="en-US" sz="1200" dirty="0">
                <a:solidFill>
                  <a:schemeClr val="accent6"/>
                </a:solidFill>
              </a:rPr>
              <a:t>신고·소유권 확인·반환은 보관 기관의 절차로 이어집니다</a:t>
            </a:r>
            <a:endParaRPr lang="en-US" sz="1500" dirty="0"/>
          </a:p>
        </p:txBody>
      </p:sp>
      <p:pic>
        <p:nvPicPr>
          <p:cNvPr id="20" name="Screenshot TOP5 real" descr="ReFind 서비스 화면: 추천 후보 TOP 5 1위, 매칭 점수 88과 근거">    </p:cNvPr>
          <p:cNvPicPr>
            <a:picLocks noChangeAspect="1"/>
          </p:cNvPicPr>
          <p:nvPr/>
        </p:nvPicPr>
        <p:blipFill>
          <a:blip r:embed="rId1"/>
          <a:stretch>
            <a:fillRect/>
          </a:stretch>
        </p:blipFill>
        <p:spPr>
          <a:xfrm>
            <a:off x="6062472" y="1554480"/>
            <a:ext cx="5577840" cy="3803073"/>
          </a:xfrm>
          <a:prstGeom prst="rect">
            <a:avLst/>
          </a:prstGeom>
        </p:spPr>
      </p:pic>
      <p:sp>
        <p:nvSpPr>
          <p:cNvPr id="21" name="Text 18"/>
          <p:cNvSpPr txBox="1"/>
          <p:nvPr/>
        </p:nvSpPr>
        <p:spPr>
          <a:xfrm>
            <a:off x="6062472" y="5486400"/>
            <a:ext cx="5577840" cy="274320"/>
          </a:xfrm>
          <a:prstGeom prst="rect">
            <a:avLst/>
          </a:prstGeom>
          <a:noFill/>
          <a:ln/>
        </p:spPr>
        <p:txBody>
          <a:bodyPr wrap="square" lIns="0" tIns="0" rIns="0" bIns="0" rtlCol="0" anchor="t"/>
          <a:lstStyle/>
          <a:p>
            <a:pPr indent="0" marL="0">
              <a:buNone/>
            </a:pPr>
            <a:r>
              <a:rPr lang="en-US" sz="1100" dirty="0">
                <a:solidFill>
                  <a:schemeClr val="tx2"/>
                </a:solidFill>
              </a:rPr>
              <a:t>실제 서비스 화면 · 운영 환경에서 시연 계정으로 캡처</a:t>
            </a:r>
            <a:endParaRPr lang="en-US" sz="11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bg1"/>
                </a:solidFill>
              </a:rPr>
              <a:t>시연: 등록부터 알림까지</a:t>
            </a:r>
            <a:endParaRPr lang="en-US" sz="3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17320"/>
            <a:ext cx="7680960" cy="4320540"/>
          </a:xfrm>
          <a:prstGeom prst="rect">
            <a:avLst/>
          </a:prstGeom>
        </p:spPr>
      </p:pic>
      <p:sp>
        <p:nvSpPr>
          <p:cNvPr id="4" name="Flow 1"/>
          <p:cNvSpPr/>
          <p:nvPr/>
        </p:nvSpPr>
        <p:spPr>
          <a:xfrm>
            <a:off x="8503920" y="1417320"/>
            <a:ext cx="3139135" cy="868680"/>
          </a:xfrm>
          <a:prstGeom prst="roundRect">
            <a:avLst>
              <a:gd name="adj" fmla="val 14737"/>
            </a:avLst>
          </a:prstGeom>
          <a:solidFill>
            <a:schemeClr val="accent1"/>
          </a:solidFill>
          <a:ln w="12700">
            <a:solidFill>
              <a:schemeClr val="accent1"/>
            </a:solidFill>
            <a:prstDash val="solid"/>
          </a:ln>
        </p:spPr>
      </p:sp>
      <p:sp>
        <p:nvSpPr>
          <p:cNvPr id="5" name="Text 2"/>
          <p:cNvSpPr txBox="1"/>
          <p:nvPr/>
        </p:nvSpPr>
        <p:spPr>
          <a:xfrm>
            <a:off x="8686800" y="1417320"/>
            <a:ext cx="365760" cy="868680"/>
          </a:xfrm>
          <a:prstGeom prst="rect">
            <a:avLst/>
          </a:prstGeom>
          <a:noFill/>
          <a:ln/>
        </p:spPr>
        <p:txBody>
          <a:bodyPr wrap="square" lIns="0" tIns="0" rIns="0" bIns="0" rtlCol="0" anchor="ctr"/>
          <a:lstStyle/>
          <a:p>
            <a:pPr indent="0" marL="0">
              <a:buNone/>
            </a:pPr>
            <a:r>
              <a:rPr lang="en-US" sz="2400" b="1" dirty="0">
                <a:solidFill>
                  <a:schemeClr val="accent6"/>
                </a:solidFill>
              </a:rPr>
              <a:t>1</a:t>
            </a:r>
            <a:endParaRPr lang="en-US" sz="2400" dirty="0"/>
          </a:p>
        </p:txBody>
      </p:sp>
      <p:sp>
        <p:nvSpPr>
          <p:cNvPr id="6" name="Text 3"/>
          <p:cNvSpPr txBox="1"/>
          <p:nvPr/>
        </p:nvSpPr>
        <p:spPr>
          <a:xfrm>
            <a:off x="9144000" y="1600200"/>
            <a:ext cx="1828800" cy="274320"/>
          </a:xfrm>
          <a:prstGeom prst="rect">
            <a:avLst/>
          </a:prstGeom>
          <a:noFill/>
          <a:ln/>
        </p:spPr>
        <p:txBody>
          <a:bodyPr wrap="square" lIns="0" tIns="0" rIns="0" bIns="0" rtlCol="0" anchor="t"/>
          <a:lstStyle/>
          <a:p>
            <a:pPr indent="0" marL="0">
              <a:buNone/>
            </a:pPr>
            <a:r>
              <a:rPr lang="en-US" sz="1600" b="1" dirty="0">
                <a:solidFill>
                  <a:schemeClr val="bg1"/>
                </a:solidFill>
              </a:rPr>
              <a:t>분실물 등록</a:t>
            </a:r>
            <a:endParaRPr lang="en-US" sz="1600" dirty="0"/>
          </a:p>
        </p:txBody>
      </p:sp>
      <p:sp>
        <p:nvSpPr>
          <p:cNvPr id="7" name="Text 4"/>
          <p:cNvSpPr txBox="1"/>
          <p:nvPr/>
        </p:nvSpPr>
        <p:spPr>
          <a:xfrm>
            <a:off x="9144000" y="1947672"/>
            <a:ext cx="1874520" cy="274320"/>
          </a:xfrm>
          <a:prstGeom prst="rect">
            <a:avLst/>
          </a:prstGeom>
          <a:noFill/>
          <a:ln/>
        </p:spPr>
        <p:txBody>
          <a:bodyPr wrap="square" lIns="0" tIns="0" rIns="0" bIns="0" rtlCol="0" anchor="t"/>
          <a:lstStyle/>
          <a:p>
            <a:pPr indent="0" marL="0">
              <a:buNone/>
            </a:pPr>
            <a:r>
              <a:rPr lang="en-US" sz="1200" dirty="0">
                <a:solidFill>
                  <a:schemeClr val="accent6"/>
                </a:solidFill>
              </a:rPr>
              <a:t>4단계 위저드</a:t>
            </a:r>
            <a:endParaRPr lang="en-US" sz="1200" dirty="0"/>
          </a:p>
        </p:txBody>
      </p:sp>
      <p:sp>
        <p:nvSpPr>
          <p:cNvPr id="8" name="Flow 2"/>
          <p:cNvSpPr/>
          <p:nvPr/>
        </p:nvSpPr>
        <p:spPr>
          <a:xfrm>
            <a:off x="8503920" y="2423160"/>
            <a:ext cx="3139135" cy="868680"/>
          </a:xfrm>
          <a:prstGeom prst="roundRect">
            <a:avLst>
              <a:gd name="adj" fmla="val 14737"/>
            </a:avLst>
          </a:prstGeom>
          <a:solidFill>
            <a:schemeClr val="accent1"/>
          </a:solidFill>
          <a:ln w="12700">
            <a:solidFill>
              <a:schemeClr val="accent1"/>
            </a:solidFill>
            <a:prstDash val="solid"/>
          </a:ln>
        </p:spPr>
      </p:sp>
      <p:sp>
        <p:nvSpPr>
          <p:cNvPr id="9" name="Text 6"/>
          <p:cNvSpPr txBox="1"/>
          <p:nvPr/>
        </p:nvSpPr>
        <p:spPr>
          <a:xfrm>
            <a:off x="8686800" y="2423160"/>
            <a:ext cx="365760" cy="868680"/>
          </a:xfrm>
          <a:prstGeom prst="rect">
            <a:avLst/>
          </a:prstGeom>
          <a:noFill/>
          <a:ln/>
        </p:spPr>
        <p:txBody>
          <a:bodyPr wrap="square" lIns="0" tIns="0" rIns="0" bIns="0" rtlCol="0" anchor="ctr"/>
          <a:lstStyle/>
          <a:p>
            <a:pPr indent="0" marL="0">
              <a:buNone/>
            </a:pPr>
            <a:r>
              <a:rPr lang="en-US" sz="2400" b="1" dirty="0">
                <a:solidFill>
                  <a:schemeClr val="accent6"/>
                </a:solidFill>
              </a:rPr>
              <a:t>2</a:t>
            </a:r>
            <a:endParaRPr lang="en-US" sz="2400" dirty="0"/>
          </a:p>
        </p:txBody>
      </p:sp>
      <p:sp>
        <p:nvSpPr>
          <p:cNvPr id="10" name="Text 7"/>
          <p:cNvSpPr txBox="1"/>
          <p:nvPr/>
        </p:nvSpPr>
        <p:spPr>
          <a:xfrm>
            <a:off x="9144000" y="2606040"/>
            <a:ext cx="1828800" cy="274320"/>
          </a:xfrm>
          <a:prstGeom prst="rect">
            <a:avLst/>
          </a:prstGeom>
          <a:noFill/>
          <a:ln/>
        </p:spPr>
        <p:txBody>
          <a:bodyPr wrap="square" lIns="0" tIns="0" rIns="0" bIns="0" rtlCol="0" anchor="t"/>
          <a:lstStyle/>
          <a:p>
            <a:pPr indent="0" marL="0">
              <a:buNone/>
            </a:pPr>
            <a:r>
              <a:rPr lang="en-US" sz="1600" b="1" dirty="0">
                <a:solidFill>
                  <a:schemeClr val="bg1"/>
                </a:solidFill>
              </a:rPr>
              <a:t>후보 확인</a:t>
            </a:r>
            <a:endParaRPr lang="en-US" sz="1600" dirty="0"/>
          </a:p>
        </p:txBody>
      </p:sp>
      <p:sp>
        <p:nvSpPr>
          <p:cNvPr id="11" name="Text 8"/>
          <p:cNvSpPr txBox="1"/>
          <p:nvPr/>
        </p:nvSpPr>
        <p:spPr>
          <a:xfrm>
            <a:off x="9144000" y="2953512"/>
            <a:ext cx="1874520" cy="274320"/>
          </a:xfrm>
          <a:prstGeom prst="rect">
            <a:avLst/>
          </a:prstGeom>
          <a:noFill/>
          <a:ln/>
        </p:spPr>
        <p:txBody>
          <a:bodyPr wrap="square" lIns="0" tIns="0" rIns="0" bIns="0" rtlCol="0" anchor="t"/>
          <a:lstStyle/>
          <a:p>
            <a:pPr indent="0" marL="0">
              <a:buNone/>
            </a:pPr>
            <a:r>
              <a:rPr lang="en-US" sz="1200" dirty="0">
                <a:solidFill>
                  <a:schemeClr val="accent6"/>
                </a:solidFill>
              </a:rPr>
              <a:t>TOP 5 + 점수 근거</a:t>
            </a:r>
            <a:endParaRPr lang="en-US" sz="1200" dirty="0"/>
          </a:p>
        </p:txBody>
      </p:sp>
      <p:sp>
        <p:nvSpPr>
          <p:cNvPr id="12" name="Flow 3"/>
          <p:cNvSpPr/>
          <p:nvPr/>
        </p:nvSpPr>
        <p:spPr>
          <a:xfrm>
            <a:off x="8503920" y="3429000"/>
            <a:ext cx="3139135" cy="868680"/>
          </a:xfrm>
          <a:prstGeom prst="roundRect">
            <a:avLst>
              <a:gd name="adj" fmla="val 14737"/>
            </a:avLst>
          </a:prstGeom>
          <a:solidFill>
            <a:schemeClr val="accent1"/>
          </a:solidFill>
          <a:ln w="12700">
            <a:solidFill>
              <a:schemeClr val="accent1"/>
            </a:solidFill>
            <a:prstDash val="solid"/>
          </a:ln>
        </p:spPr>
      </p:sp>
      <p:sp>
        <p:nvSpPr>
          <p:cNvPr id="13" name="Text 10"/>
          <p:cNvSpPr txBox="1"/>
          <p:nvPr/>
        </p:nvSpPr>
        <p:spPr>
          <a:xfrm>
            <a:off x="8686800" y="3429000"/>
            <a:ext cx="365760" cy="868680"/>
          </a:xfrm>
          <a:prstGeom prst="rect">
            <a:avLst/>
          </a:prstGeom>
          <a:noFill/>
          <a:ln/>
        </p:spPr>
        <p:txBody>
          <a:bodyPr wrap="square" lIns="0" tIns="0" rIns="0" bIns="0" rtlCol="0" anchor="ctr"/>
          <a:lstStyle/>
          <a:p>
            <a:pPr indent="0" marL="0">
              <a:buNone/>
            </a:pPr>
            <a:r>
              <a:rPr lang="en-US" sz="2400" b="1" dirty="0">
                <a:solidFill>
                  <a:schemeClr val="accent6"/>
                </a:solidFill>
              </a:rPr>
              <a:t>3</a:t>
            </a:r>
            <a:endParaRPr lang="en-US" sz="2400" dirty="0"/>
          </a:p>
        </p:txBody>
      </p:sp>
      <p:sp>
        <p:nvSpPr>
          <p:cNvPr id="14" name="Text 11"/>
          <p:cNvSpPr txBox="1"/>
          <p:nvPr/>
        </p:nvSpPr>
        <p:spPr>
          <a:xfrm>
            <a:off x="9144000" y="3611880"/>
            <a:ext cx="1828800" cy="274320"/>
          </a:xfrm>
          <a:prstGeom prst="rect">
            <a:avLst/>
          </a:prstGeom>
          <a:noFill/>
          <a:ln/>
        </p:spPr>
        <p:txBody>
          <a:bodyPr wrap="square" lIns="0" tIns="0" rIns="0" bIns="0" rtlCol="0" anchor="t"/>
          <a:lstStyle/>
          <a:p>
            <a:pPr indent="0" marL="0">
              <a:buNone/>
            </a:pPr>
            <a:r>
              <a:rPr lang="en-US" sz="1600" b="1" dirty="0">
                <a:solidFill>
                  <a:schemeClr val="bg1"/>
                </a:solidFill>
              </a:rPr>
              <a:t>알림</a:t>
            </a:r>
            <a:endParaRPr lang="en-US" sz="1600" dirty="0"/>
          </a:p>
        </p:txBody>
      </p:sp>
      <p:sp>
        <p:nvSpPr>
          <p:cNvPr id="15" name="Text 12"/>
          <p:cNvSpPr txBox="1"/>
          <p:nvPr/>
        </p:nvSpPr>
        <p:spPr>
          <a:xfrm>
            <a:off x="9144000" y="3959352"/>
            <a:ext cx="1874520" cy="274320"/>
          </a:xfrm>
          <a:prstGeom prst="rect">
            <a:avLst/>
          </a:prstGeom>
          <a:noFill/>
          <a:ln/>
        </p:spPr>
        <p:txBody>
          <a:bodyPr wrap="square" lIns="0" tIns="0" rIns="0" bIns="0" rtlCol="0" anchor="t"/>
          <a:lstStyle/>
          <a:p>
            <a:pPr indent="0" marL="0">
              <a:buNone/>
            </a:pPr>
            <a:r>
              <a:rPr lang="en-US" sz="1200" dirty="0">
                <a:solidFill>
                  <a:schemeClr val="accent6"/>
                </a:solidFill>
              </a:rPr>
              <a:t>새 습득물 0.78점 이상</a:t>
            </a:r>
            <a:endParaRPr lang="en-US" sz="1200" dirty="0"/>
          </a:p>
        </p:txBody>
      </p:sp>
      <p:sp>
        <p:nvSpPr>
          <p:cNvPr id="16" name="Try it"/>
          <p:cNvSpPr/>
          <p:nvPr/>
        </p:nvSpPr>
        <p:spPr>
          <a:xfrm>
            <a:off x="8503920" y="4480560"/>
            <a:ext cx="3139135" cy="1257300"/>
          </a:xfrm>
          <a:prstGeom prst="roundRect">
            <a:avLst>
              <a:gd name="adj" fmla="val 10182"/>
            </a:avLst>
          </a:prstGeom>
          <a:solidFill>
            <a:schemeClr val="bg1"/>
          </a:solidFill>
          <a:ln w="12700">
            <a:solidFill>
              <a:schemeClr val="bg1"/>
            </a:solidFill>
            <a:prstDash val="solid"/>
          </a:ln>
        </p:spPr>
      </p:sp>
      <p:sp>
        <p:nvSpPr>
          <p:cNvPr id="17" name="Text 14"/>
          <p:cNvSpPr txBox="1"/>
          <p:nvPr/>
        </p:nvSpPr>
        <p:spPr>
          <a:xfrm>
            <a:off x="8732520" y="4645152"/>
            <a:ext cx="2681935" cy="274320"/>
          </a:xfrm>
          <a:prstGeom prst="rect">
            <a:avLst/>
          </a:prstGeom>
          <a:noFill/>
          <a:ln/>
        </p:spPr>
        <p:txBody>
          <a:bodyPr wrap="square" lIns="0" tIns="0" rIns="0" bIns="0" rtlCol="0" anchor="t"/>
          <a:lstStyle/>
          <a:p>
            <a:pPr indent="0" marL="0">
              <a:buNone/>
            </a:pPr>
            <a:r>
              <a:rPr lang="en-US" sz="1200" b="1" dirty="0">
                <a:solidFill>
                  <a:schemeClr val="tx2"/>
                </a:solidFill>
              </a:rPr>
              <a:t>직접 체험</a:t>
            </a:r>
            <a:endParaRPr lang="en-US" sz="1200" dirty="0"/>
          </a:p>
        </p:txBody>
      </p:sp>
      <p:sp>
        <p:nvSpPr>
          <p:cNvPr id="18" name="Text 15">
            <a:hlinkClick r:id="rId4" tooltip=""/>
          </p:cNvPr>
          <p:cNvSpPr txBox="1"/>
          <p:nvPr/>
        </p:nvSpPr>
        <p:spPr>
          <a:xfrm>
            <a:off x="8732520" y="4983480"/>
            <a:ext cx="2681935" cy="548640"/>
          </a:xfrm>
          <a:prstGeom prst="rect">
            <a:avLst/>
          </a:prstGeom>
          <a:noFill/>
          <a:ln/>
        </p:spPr>
        <p:txBody>
          <a:bodyPr wrap="square" lIns="0" tIns="0" rIns="0" bIns="0" rtlCol="0" anchor="t"/>
          <a:lstStyle/>
          <a:p>
            <a:pPr indent="0" marL="0">
              <a:buNone/>
            </a:pPr>
            <a:r>
              <a:rPr lang="en-US" sz="1200" b="1"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d29d7xry7tkopu.cloudfront.net</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이름이 달라도 같은 물건을 알아봅니다</a:t>
            </a:r>
            <a:endParaRPr lang="en-US" sz="3400" dirty="0"/>
          </a:p>
        </p:txBody>
      </p:sp>
      <p:sp>
        <p:nvSpPr>
          <p:cNvPr id="3" name="Lost item"/>
          <p:cNvSpPr/>
          <p:nvPr/>
        </p:nvSpPr>
        <p:spPr>
          <a:xfrm>
            <a:off x="548640" y="1463040"/>
            <a:ext cx="7040880" cy="1051560"/>
          </a:xfrm>
          <a:prstGeom prst="roundRect">
            <a:avLst>
              <a:gd name="adj" fmla="val 13913"/>
            </a:avLst>
          </a:prstGeom>
          <a:solidFill>
            <a:schemeClr val="tx1"/>
          </a:solidFill>
          <a:ln w="12700">
            <a:solidFill>
              <a:schemeClr val="tx1"/>
            </a:solidFill>
            <a:prstDash val="solid"/>
          </a:ln>
        </p:spPr>
      </p:sp>
      <p:sp>
        <p:nvSpPr>
          <p:cNvPr id="4" name="Text 2"/>
          <p:cNvSpPr txBox="1"/>
          <p:nvPr/>
        </p:nvSpPr>
        <p:spPr>
          <a:xfrm>
            <a:off x="868680" y="1627632"/>
            <a:ext cx="3657600" cy="274320"/>
          </a:xfrm>
          <a:prstGeom prst="rect">
            <a:avLst/>
          </a:prstGeom>
          <a:noFill/>
          <a:ln/>
        </p:spPr>
        <p:txBody>
          <a:bodyPr wrap="square" lIns="0" tIns="0" rIns="0" bIns="0" rtlCol="0" anchor="t"/>
          <a:lstStyle/>
          <a:p>
            <a:pPr indent="0" marL="0">
              <a:buNone/>
            </a:pPr>
            <a:r>
              <a:rPr lang="en-US" sz="1200" dirty="0">
                <a:solidFill>
                  <a:schemeClr val="accent6"/>
                </a:solidFill>
              </a:rPr>
              <a:t>내가 등록한 분실물</a:t>
            </a:r>
            <a:endParaRPr lang="en-US" sz="1200" dirty="0"/>
          </a:p>
        </p:txBody>
      </p:sp>
      <p:sp>
        <p:nvSpPr>
          <p:cNvPr id="5" name="Text 3"/>
          <p:cNvSpPr txBox="1"/>
          <p:nvPr/>
        </p:nvSpPr>
        <p:spPr>
          <a:xfrm>
            <a:off x="868680" y="1965960"/>
            <a:ext cx="6400800" cy="411480"/>
          </a:xfrm>
          <a:prstGeom prst="rect">
            <a:avLst/>
          </a:prstGeom>
          <a:noFill/>
          <a:ln/>
        </p:spPr>
        <p:txBody>
          <a:bodyPr wrap="square" lIns="0" tIns="0" rIns="0" bIns="0" rtlCol="0" anchor="t"/>
          <a:lstStyle/>
          <a:p>
            <a:pPr indent="0" marL="0">
              <a:buNone/>
            </a:pPr>
            <a:r>
              <a:rPr lang="en-US" sz="2000" b="1" dirty="0">
                <a:solidFill>
                  <a:schemeClr val="bg1"/>
                </a:solidFill>
              </a:rPr>
              <a:t>카드지갑 · 갈색 가죽, 카드 5장, 금색 로고</a:t>
            </a:r>
            <a:endParaRPr lang="en-US" sz="2000" dirty="0"/>
          </a:p>
        </p:txBody>
      </p:sp>
      <p:sp>
        <p:nvSpPr>
          <p:cNvPr id="6" name="Candidate 0.92"/>
          <p:cNvSpPr/>
          <p:nvPr/>
        </p:nvSpPr>
        <p:spPr>
          <a:xfrm>
            <a:off x="548640" y="2697480"/>
            <a:ext cx="3429000" cy="3108960"/>
          </a:xfrm>
          <a:prstGeom prst="roundRect">
            <a:avLst>
              <a:gd name="adj" fmla="val 470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7" name="Highlight outline"/>
          <p:cNvSpPr/>
          <p:nvPr/>
        </p:nvSpPr>
        <p:spPr>
          <a:xfrm>
            <a:off x="548640" y="2697480"/>
            <a:ext cx="3429000" cy="3108960"/>
          </a:xfrm>
          <a:prstGeom prst="roundRect">
            <a:avLst>
              <a:gd name="adj" fmla="val 4706"/>
            </a:avLst>
          </a:prstGeom>
          <a:solidFill>
            <a:srgbClr val="FFFFFF">
              <a:alpha val="0"/>
            </a:srgbClr>
          </a:solidFill>
          <a:ln w="31750">
            <a:solidFill>
              <a:srgbClr val="000000"/>
            </a:solidFill>
            <a:prstDash val="solid"/>
          </a:ln>
        </p:spPr>
      </p:sp>
      <p:sp>
        <p:nvSpPr>
          <p:cNvPr id="8" name="Text 6"/>
          <p:cNvSpPr txBox="1"/>
          <p:nvPr/>
        </p:nvSpPr>
        <p:spPr>
          <a:xfrm>
            <a:off x="822960" y="2880360"/>
            <a:ext cx="2880360" cy="457200"/>
          </a:xfrm>
          <a:prstGeom prst="rect">
            <a:avLst/>
          </a:prstGeom>
          <a:noFill/>
          <a:ln/>
        </p:spPr>
        <p:txBody>
          <a:bodyPr wrap="square" lIns="0" tIns="0" rIns="0" bIns="0" rtlCol="0" anchor="t"/>
          <a:lstStyle/>
          <a:p>
            <a:pPr indent="0" marL="0">
              <a:buNone/>
            </a:pPr>
            <a:r>
              <a:rPr lang="en-US" sz="1200" dirty="0">
                <a:solidFill>
                  <a:schemeClr val="tx2"/>
                </a:solidFill>
              </a:rPr>
              <a:t>습득물 A · 이름이 다름</a:t>
            </a:r>
            <a:endParaRPr lang="en-US" sz="1200" dirty="0"/>
          </a:p>
        </p:txBody>
      </p:sp>
      <p:sp>
        <p:nvSpPr>
          <p:cNvPr id="9" name="Text 7"/>
          <p:cNvSpPr txBox="1"/>
          <p:nvPr/>
        </p:nvSpPr>
        <p:spPr>
          <a:xfrm>
            <a:off x="822960" y="3383280"/>
            <a:ext cx="2880360" cy="822960"/>
          </a:xfrm>
          <a:prstGeom prst="rect">
            <a:avLst/>
          </a:prstGeom>
          <a:noFill/>
          <a:ln/>
        </p:spPr>
        <p:txBody>
          <a:bodyPr wrap="square" lIns="0" tIns="0" rIns="0" bIns="0" rtlCol="0" anchor="t"/>
          <a:lstStyle/>
          <a:p>
            <a:pPr indent="0" marL="0">
              <a:buNone/>
            </a:pPr>
            <a:r>
              <a:rPr lang="en-US" sz="1400" b="1" dirty="0">
                <a:solidFill>
                  <a:schemeClr val="tx1"/>
                </a:solidFill>
              </a:rPr>
              <a:t>명함 케이스 · 갈색 가죽 명함지갑, 신용카드 여러 장</a:t>
            </a:r>
            <a:endParaRPr lang="en-US" sz="1400" dirty="0"/>
          </a:p>
        </p:txBody>
      </p:sp>
      <p:sp>
        <p:nvSpPr>
          <p:cNvPr id="10" name="Text 8"/>
          <p:cNvSpPr txBox="1"/>
          <p:nvPr/>
        </p:nvSpPr>
        <p:spPr>
          <a:xfrm>
            <a:off x="822960" y="4206240"/>
            <a:ext cx="2880360" cy="914400"/>
          </a:xfrm>
          <a:prstGeom prst="rect">
            <a:avLst/>
          </a:prstGeom>
          <a:noFill/>
          <a:ln/>
        </p:spPr>
        <p:txBody>
          <a:bodyPr wrap="square" lIns="0" tIns="0" rIns="0" bIns="0" rtlCol="0" anchor="ctr"/>
          <a:lstStyle/>
          <a:p>
            <a:pPr indent="0" marL="0">
              <a:buNone/>
            </a:pPr>
            <a:r>
              <a:rPr lang="en-US" sz="5400" b="1" dirty="0">
                <a:solidFill>
                  <a:schemeClr val="tx1"/>
                </a:solidFill>
              </a:rPr>
              <a:t>0.92</a:t>
            </a:r>
            <a:endParaRPr lang="en-US" sz="5400" dirty="0"/>
          </a:p>
        </p:txBody>
      </p:sp>
      <p:sp>
        <p:nvSpPr>
          <p:cNvPr id="11" name="Text 9"/>
          <p:cNvSpPr txBox="1"/>
          <p:nvPr/>
        </p:nvSpPr>
        <p:spPr>
          <a:xfrm>
            <a:off x="822960" y="5212080"/>
            <a:ext cx="2880360" cy="365760"/>
          </a:xfrm>
          <a:prstGeom prst="rect">
            <a:avLst/>
          </a:prstGeom>
          <a:noFill/>
          <a:ln/>
        </p:spPr>
        <p:txBody>
          <a:bodyPr wrap="square" lIns="0" tIns="0" rIns="0" bIns="0" rtlCol="0" anchor="t"/>
          <a:lstStyle/>
          <a:p>
            <a:pPr indent="0" marL="0">
              <a:buNone/>
            </a:pPr>
            <a:r>
              <a:rPr lang="en-US" sz="1400" b="1" dirty="0">
                <a:solidFill>
                  <a:schemeClr val="tx1"/>
                </a:solidFill>
              </a:rPr>
              <a:t>의미 유사도 높음 → 상위 후보</a:t>
            </a:r>
            <a:endParaRPr lang="en-US" sz="1400" dirty="0"/>
          </a:p>
        </p:txBody>
      </p:sp>
      <p:sp>
        <p:nvSpPr>
          <p:cNvPr id="12" name="Candidate 0.76"/>
          <p:cNvSpPr/>
          <p:nvPr/>
        </p:nvSpPr>
        <p:spPr>
          <a:xfrm>
            <a:off x="4160520" y="2697480"/>
            <a:ext cx="3429000" cy="3108960"/>
          </a:xfrm>
          <a:prstGeom prst="roundRect">
            <a:avLst>
              <a:gd name="adj" fmla="val 470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3" name="Text 11"/>
          <p:cNvSpPr txBox="1"/>
          <p:nvPr/>
        </p:nvSpPr>
        <p:spPr>
          <a:xfrm>
            <a:off x="4434840" y="2880360"/>
            <a:ext cx="2880360" cy="457200"/>
          </a:xfrm>
          <a:prstGeom prst="rect">
            <a:avLst/>
          </a:prstGeom>
          <a:noFill/>
          <a:ln/>
        </p:spPr>
        <p:txBody>
          <a:bodyPr wrap="square" lIns="0" tIns="0" rIns="0" bIns="0" rtlCol="0" anchor="t"/>
          <a:lstStyle/>
          <a:p>
            <a:pPr indent="0" marL="0">
              <a:buNone/>
            </a:pPr>
            <a:r>
              <a:rPr lang="en-US" sz="1200" dirty="0">
                <a:solidFill>
                  <a:schemeClr val="tx2"/>
                </a:solidFill>
              </a:rPr>
              <a:t>습득물 B · 이름은 같지만 색·재질·내용이 다름</a:t>
            </a:r>
            <a:endParaRPr lang="en-US" sz="1200" dirty="0"/>
          </a:p>
        </p:txBody>
      </p:sp>
      <p:sp>
        <p:nvSpPr>
          <p:cNvPr id="14" name="Text 12"/>
          <p:cNvSpPr txBox="1"/>
          <p:nvPr/>
        </p:nvSpPr>
        <p:spPr>
          <a:xfrm>
            <a:off x="4434840" y="3383280"/>
            <a:ext cx="2880360" cy="822960"/>
          </a:xfrm>
          <a:prstGeom prst="rect">
            <a:avLst/>
          </a:prstGeom>
          <a:noFill/>
          <a:ln/>
        </p:spPr>
        <p:txBody>
          <a:bodyPr wrap="square" lIns="0" tIns="0" rIns="0" bIns="0" rtlCol="0" anchor="t"/>
          <a:lstStyle/>
          <a:p>
            <a:pPr indent="0" marL="0">
              <a:buNone/>
            </a:pPr>
            <a:r>
              <a:rPr lang="en-US" sz="1400" b="1" dirty="0">
                <a:solidFill>
                  <a:schemeClr val="tx1"/>
                </a:solidFill>
              </a:rPr>
              <a:t>카드지갑 · 검정 합성피혁, 학생증 한 장</a:t>
            </a:r>
            <a:endParaRPr lang="en-US" sz="1400" dirty="0"/>
          </a:p>
        </p:txBody>
      </p:sp>
      <p:sp>
        <p:nvSpPr>
          <p:cNvPr id="15" name="Text 13"/>
          <p:cNvSpPr txBox="1"/>
          <p:nvPr/>
        </p:nvSpPr>
        <p:spPr>
          <a:xfrm>
            <a:off x="4434840" y="4206240"/>
            <a:ext cx="2880360" cy="914400"/>
          </a:xfrm>
          <a:prstGeom prst="rect">
            <a:avLst/>
          </a:prstGeom>
          <a:noFill/>
          <a:ln/>
        </p:spPr>
        <p:txBody>
          <a:bodyPr wrap="square" lIns="0" tIns="0" rIns="0" bIns="0" rtlCol="0" anchor="ctr"/>
          <a:lstStyle/>
          <a:p>
            <a:pPr indent="0" marL="0">
              <a:buNone/>
            </a:pPr>
            <a:r>
              <a:rPr lang="en-US" sz="5400" b="1" dirty="0">
                <a:solidFill>
                  <a:schemeClr val="tx2"/>
                </a:solidFill>
              </a:rPr>
              <a:t>0.76</a:t>
            </a:r>
            <a:endParaRPr lang="en-US" sz="5400" dirty="0"/>
          </a:p>
        </p:txBody>
      </p:sp>
      <p:sp>
        <p:nvSpPr>
          <p:cNvPr id="16" name="Text 14"/>
          <p:cNvSpPr txBox="1"/>
          <p:nvPr/>
        </p:nvSpPr>
        <p:spPr>
          <a:xfrm>
            <a:off x="4434840" y="5212080"/>
            <a:ext cx="2880360" cy="365760"/>
          </a:xfrm>
          <a:prstGeom prst="rect">
            <a:avLst/>
          </a:prstGeom>
          <a:noFill/>
          <a:ln/>
        </p:spPr>
        <p:txBody>
          <a:bodyPr wrap="square" lIns="0" tIns="0" rIns="0" bIns="0" rtlCol="0" anchor="t"/>
          <a:lstStyle/>
          <a:p>
            <a:pPr indent="0" marL="0">
              <a:buNone/>
            </a:pPr>
            <a:r>
              <a:rPr lang="en-US" sz="1400" dirty="0">
                <a:solidFill>
                  <a:schemeClr val="tx2"/>
                </a:solidFill>
              </a:rPr>
              <a:t>상대적으로 낮음 → 하위 후보</a:t>
            </a:r>
            <a:endParaRPr lang="en-US" sz="1400" dirty="0"/>
          </a:p>
        </p:txBody>
      </p:sp>
      <p:sp>
        <p:nvSpPr>
          <p:cNvPr id="17" name="Reasons panel"/>
          <p:cNvSpPr/>
          <p:nvPr/>
        </p:nvSpPr>
        <p:spPr>
          <a:xfrm>
            <a:off x="7863840" y="1463040"/>
            <a:ext cx="3779215" cy="4343400"/>
          </a:xfrm>
          <a:prstGeom prst="roundRect">
            <a:avLst>
              <a:gd name="adj" fmla="val 387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8" name="Text 16"/>
          <p:cNvSpPr txBox="1"/>
          <p:nvPr/>
        </p:nvSpPr>
        <p:spPr>
          <a:xfrm>
            <a:off x="8138160" y="1691640"/>
            <a:ext cx="3230575" cy="320040"/>
          </a:xfrm>
          <a:prstGeom prst="rect">
            <a:avLst/>
          </a:prstGeom>
          <a:noFill/>
          <a:ln/>
        </p:spPr>
        <p:txBody>
          <a:bodyPr wrap="square" lIns="0" tIns="0" rIns="0" bIns="0" rtlCol="0" anchor="t"/>
          <a:lstStyle/>
          <a:p>
            <a:pPr indent="0" marL="0">
              <a:buNone/>
            </a:pPr>
            <a:r>
              <a:rPr lang="en-US" sz="1600" b="1" dirty="0">
                <a:solidFill>
                  <a:schemeClr val="tx1"/>
                </a:solidFill>
              </a:rPr>
              <a:t>후보 카드에 표시되는 근거</a:t>
            </a:r>
            <a:endParaRPr lang="en-US" sz="1600" dirty="0"/>
          </a:p>
        </p:txBody>
      </p:sp>
      <p:sp>
        <p:nvSpPr>
          <p:cNvPr id="19" name="Check badge"/>
          <p:cNvSpPr/>
          <p:nvPr/>
        </p:nvSpPr>
        <p:spPr>
          <a:xfrm>
            <a:off x="8138160" y="2286000"/>
            <a:ext cx="384048" cy="384048"/>
          </a:xfrm>
          <a:prstGeom prst="ellipse">
            <a:avLst/>
          </a:prstGeom>
          <a:solidFill>
            <a:srgbClr val="E1F4E6"/>
          </a:solidFill>
          <a:ln w="12700">
            <a:solidFill>
              <a:srgbClr val="E1F4E6"/>
            </a:solidFill>
            <a:prstDash val="solid"/>
          </a:ln>
        </p:spPr>
      </p:sp>
      <p:pic>
        <p:nvPicPr>
          <p:cNvPr id="20" name="Image 0" descr="check icon">    </p:cNvPr>
          <p:cNvPicPr>
            <a:picLocks noChangeAspect="1"/>
          </p:cNvPicPr>
          <p:nvPr/>
        </p:nvPicPr>
        <p:blipFill>
          <a:blip r:embed="rId1"/>
          <a:stretch>
            <a:fillRect/>
          </a:stretch>
        </p:blipFill>
        <p:spPr>
          <a:xfrm>
            <a:off x="8211312" y="2359152"/>
            <a:ext cx="237744" cy="237744"/>
          </a:xfrm>
          <a:prstGeom prst="rect">
            <a:avLst/>
          </a:prstGeom>
        </p:spPr>
      </p:pic>
      <p:sp>
        <p:nvSpPr>
          <p:cNvPr id="21" name="Text 18"/>
          <p:cNvSpPr txBox="1"/>
          <p:nvPr/>
        </p:nvSpPr>
        <p:spPr>
          <a:xfrm>
            <a:off x="8686800" y="2240280"/>
            <a:ext cx="2681935" cy="640080"/>
          </a:xfrm>
          <a:prstGeom prst="rect">
            <a:avLst/>
          </a:prstGeom>
          <a:noFill/>
          <a:ln/>
        </p:spPr>
        <p:txBody>
          <a:bodyPr wrap="square" lIns="0" tIns="0" rIns="0" bIns="0" rtlCol="0" anchor="t"/>
          <a:lstStyle/>
          <a:p>
            <a:pPr indent="0" marL="0">
              <a:buNone/>
            </a:pPr>
            <a:r>
              <a:rPr lang="en-US" sz="1400" dirty="0">
                <a:solidFill>
                  <a:schemeClr val="tx1"/>
                </a:solidFill>
              </a:rPr>
              <a:t>물품명과 상세 특징이 유사합니다</a:t>
            </a:r>
            <a:endParaRPr lang="en-US" sz="1400" dirty="0"/>
          </a:p>
        </p:txBody>
      </p:sp>
      <p:sp>
        <p:nvSpPr>
          <p:cNvPr id="22" name="Check badge"/>
          <p:cNvSpPr/>
          <p:nvPr/>
        </p:nvSpPr>
        <p:spPr>
          <a:xfrm>
            <a:off x="8138160" y="3154680"/>
            <a:ext cx="384048" cy="384048"/>
          </a:xfrm>
          <a:prstGeom prst="ellipse">
            <a:avLst/>
          </a:prstGeom>
          <a:solidFill>
            <a:srgbClr val="E1F4E6"/>
          </a:solidFill>
          <a:ln w="12700">
            <a:solidFill>
              <a:srgbClr val="E1F4E6"/>
            </a:solidFill>
            <a:prstDash val="solid"/>
          </a:ln>
        </p:spPr>
      </p:sp>
      <p:pic>
        <p:nvPicPr>
          <p:cNvPr id="23" name="Image 1" descr="check icon">    </p:cNvPr>
          <p:cNvPicPr>
            <a:picLocks noChangeAspect="1"/>
          </p:cNvPicPr>
          <p:nvPr/>
        </p:nvPicPr>
        <p:blipFill>
          <a:blip r:embed="rId2"/>
          <a:stretch>
            <a:fillRect/>
          </a:stretch>
        </p:blipFill>
        <p:spPr>
          <a:xfrm>
            <a:off x="8211312" y="3227832"/>
            <a:ext cx="237744" cy="237744"/>
          </a:xfrm>
          <a:prstGeom prst="rect">
            <a:avLst/>
          </a:prstGeom>
        </p:spPr>
      </p:pic>
      <p:sp>
        <p:nvSpPr>
          <p:cNvPr id="24" name="Text 20"/>
          <p:cNvSpPr txBox="1"/>
          <p:nvPr/>
        </p:nvSpPr>
        <p:spPr>
          <a:xfrm>
            <a:off x="8686800" y="3108960"/>
            <a:ext cx="2681935" cy="640080"/>
          </a:xfrm>
          <a:prstGeom prst="rect">
            <a:avLst/>
          </a:prstGeom>
          <a:noFill/>
          <a:ln/>
        </p:spPr>
        <p:txBody>
          <a:bodyPr wrap="square" lIns="0" tIns="0" rIns="0" bIns="0" rtlCol="0" anchor="t"/>
          <a:lstStyle/>
          <a:p>
            <a:pPr indent="0" marL="0">
              <a:buNone/>
            </a:pPr>
            <a:r>
              <a:rPr lang="en-US" sz="1400" dirty="0">
                <a:solidFill>
                  <a:schemeClr val="tx1"/>
                </a:solidFill>
              </a:rPr>
              <a:t>물품 종류가 일치합니다</a:t>
            </a:r>
            <a:endParaRPr lang="en-US" sz="1400" dirty="0"/>
          </a:p>
        </p:txBody>
      </p:sp>
      <p:sp>
        <p:nvSpPr>
          <p:cNvPr id="25" name="Check badge"/>
          <p:cNvSpPr/>
          <p:nvPr/>
        </p:nvSpPr>
        <p:spPr>
          <a:xfrm>
            <a:off x="8138160" y="4023360"/>
            <a:ext cx="384048" cy="384048"/>
          </a:xfrm>
          <a:prstGeom prst="ellipse">
            <a:avLst/>
          </a:prstGeom>
          <a:solidFill>
            <a:srgbClr val="E1F4E6"/>
          </a:solidFill>
          <a:ln w="12700">
            <a:solidFill>
              <a:srgbClr val="E1F4E6"/>
            </a:solidFill>
            <a:prstDash val="solid"/>
          </a:ln>
        </p:spPr>
      </p:sp>
      <p:pic>
        <p:nvPicPr>
          <p:cNvPr id="26" name="Image 2" descr="check icon">    </p:cNvPr>
          <p:cNvPicPr>
            <a:picLocks noChangeAspect="1"/>
          </p:cNvPicPr>
          <p:nvPr/>
        </p:nvPicPr>
        <p:blipFill>
          <a:blip r:embed="rId3"/>
          <a:stretch>
            <a:fillRect/>
          </a:stretch>
        </p:blipFill>
        <p:spPr>
          <a:xfrm>
            <a:off x="8211312" y="4096512"/>
            <a:ext cx="237744" cy="237744"/>
          </a:xfrm>
          <a:prstGeom prst="rect">
            <a:avLst/>
          </a:prstGeom>
        </p:spPr>
      </p:pic>
      <p:sp>
        <p:nvSpPr>
          <p:cNvPr id="27" name="Text 22"/>
          <p:cNvSpPr txBox="1"/>
          <p:nvPr/>
        </p:nvSpPr>
        <p:spPr>
          <a:xfrm>
            <a:off x="8686800" y="3977640"/>
            <a:ext cx="2681935" cy="640080"/>
          </a:xfrm>
          <a:prstGeom prst="rect">
            <a:avLst/>
          </a:prstGeom>
          <a:noFill/>
          <a:ln/>
        </p:spPr>
        <p:txBody>
          <a:bodyPr wrap="square" lIns="0" tIns="0" rIns="0" bIns="0" rtlCol="0" anchor="t"/>
          <a:lstStyle/>
          <a:p>
            <a:pPr indent="0" marL="0">
              <a:buNone/>
            </a:pPr>
            <a:r>
              <a:rPr lang="en-US" sz="1400" dirty="0">
                <a:solidFill>
                  <a:schemeClr val="tx1"/>
                </a:solidFill>
              </a:rPr>
              <a:t>분실 장소와 가까운 지역에서 습득되었습니다</a:t>
            </a:r>
            <a:endParaRPr lang="en-US" sz="1400" dirty="0"/>
          </a:p>
        </p:txBody>
      </p:sp>
      <p:sp>
        <p:nvSpPr>
          <p:cNvPr id="28" name="Text 23"/>
          <p:cNvSpPr txBox="1"/>
          <p:nvPr/>
        </p:nvSpPr>
        <p:spPr>
          <a:xfrm>
            <a:off x="8138160" y="4983480"/>
            <a:ext cx="3230575" cy="640080"/>
          </a:xfrm>
          <a:prstGeom prst="rect">
            <a:avLst/>
          </a:prstGeom>
          <a:noFill/>
          <a:ln/>
        </p:spPr>
        <p:txBody>
          <a:bodyPr wrap="square" lIns="0" tIns="0" rIns="0" bIns="0" rtlCol="0" anchor="t"/>
          <a:lstStyle/>
          <a:p>
            <a:pPr indent="0" marL="0">
              <a:buNone/>
            </a:pPr>
            <a:r>
              <a:rPr lang="en-US" sz="1300" dirty="0">
                <a:solidFill>
                  <a:schemeClr val="tx2"/>
                </a:solidFill>
              </a:rPr>
              <a:t>점수는 확정 확률이 아니라</a:t>
            </a:r>
            <a:endParaRPr lang="en-US" sz="1300" dirty="0"/>
          </a:p>
          <a:p>
            <a:pPr indent="0" marL="0">
              <a:buNone/>
            </a:pPr>
            <a:r>
              <a:rPr lang="en-US" sz="1300" dirty="0">
                <a:solidFill>
                  <a:schemeClr val="tx2"/>
                </a:solidFill>
              </a:rPr>
              <a:t>유사도 합산 점수입니다</a:t>
            </a:r>
            <a:endParaRPr lang="en-US" sz="1300" dirty="0"/>
          </a:p>
        </p:txBody>
      </p:sp>
      <p:sp>
        <p:nvSpPr>
          <p:cNvPr id="29" name="Text 24"/>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000" dirty="0">
                <a:solidFill>
                  <a:schemeClr val="tx2"/>
                </a:solidFill>
              </a:rPr>
              <a:t>텍스트 유사도 = 다국어 문장 임베딩(MiniLM) 코사인 유사도 · 실제 서비스 모델로 측정한 예시 1건</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왜 추천했는지, 점수로 보여줍니다</a:t>
            </a:r>
            <a:endParaRPr lang="en-US" sz="3400" dirty="0"/>
          </a:p>
        </p:txBody>
      </p:sp>
      <p:sp>
        <p:nvSpPr>
          <p:cNvPr id="3" name="Weights card"/>
          <p:cNvSpPr/>
          <p:nvPr/>
        </p:nvSpPr>
        <p:spPr>
          <a:xfrm>
            <a:off x="548640" y="1463040"/>
            <a:ext cx="5394960" cy="3931920"/>
          </a:xfrm>
          <a:prstGeom prst="roundRect">
            <a:avLst>
              <a:gd name="adj" fmla="val 372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868680" y="1664208"/>
            <a:ext cx="3657600" cy="274320"/>
          </a:xfrm>
          <a:prstGeom prst="rect">
            <a:avLst/>
          </a:prstGeom>
          <a:noFill/>
          <a:ln/>
        </p:spPr>
        <p:txBody>
          <a:bodyPr wrap="square" lIns="0" tIns="0" rIns="0" bIns="0" rtlCol="0" anchor="t"/>
          <a:lstStyle/>
          <a:p>
            <a:pPr indent="0" marL="0">
              <a:buNone/>
            </a:pPr>
            <a:r>
              <a:rPr lang="en-US" sz="1400" b="1" dirty="0">
                <a:solidFill>
                  <a:schemeClr val="tx1"/>
                </a:solidFill>
              </a:rPr>
              <a:t>점수 가중치 (합 100%)</a:t>
            </a:r>
            <a:endParaRPr lang="en-US" sz="1400" dirty="0"/>
          </a:p>
        </p:txBody>
      </p:sp>
      <p:graphicFrame>
        <p:nvGraphicFramePr>
          <p:cNvPr id="5" name="Chart 0" descr=""/>
          <p:cNvGraphicFramePr/>
          <p:nvPr/>
        </p:nvGraphicFramePr>
        <p:xfrm>
          <a:off x="685800" y="201168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6" name="Scorer code"/>
          <p:cNvSpPr/>
          <p:nvPr/>
        </p:nvSpPr>
        <p:spPr>
          <a:xfrm>
            <a:off x="6172200" y="1463040"/>
            <a:ext cx="5470855" cy="3931920"/>
          </a:xfrm>
          <a:prstGeom prst="roundRect">
            <a:avLst>
              <a:gd name="adj" fmla="val 3721"/>
            </a:avLst>
          </a:prstGeom>
          <a:solidFill>
            <a:schemeClr val="accent1"/>
          </a:solidFill>
          <a:ln w="12700">
            <a:solidFill>
              <a:schemeClr val="accent1"/>
            </a:solidFill>
            <a:prstDash val="solid"/>
          </a:ln>
        </p:spPr>
      </p:sp>
      <p:sp>
        <p:nvSpPr>
          <p:cNvPr id="7" name="Text 4"/>
          <p:cNvSpPr txBox="1"/>
          <p:nvPr/>
        </p:nvSpPr>
        <p:spPr>
          <a:xfrm>
            <a:off x="6446520" y="1645920"/>
            <a:ext cx="4922215" cy="274320"/>
          </a:xfrm>
          <a:prstGeom prst="rect">
            <a:avLst/>
          </a:prstGeom>
          <a:noFill/>
          <a:ln/>
        </p:spPr>
        <p:txBody>
          <a:bodyPr wrap="square" lIns="0" tIns="0" rIns="0" bIns="0" rtlCol="0" anchor="t"/>
          <a:lstStyle/>
          <a:p>
            <a:pPr indent="0" marL="0">
              <a:buNone/>
            </a:pPr>
            <a:r>
              <a:rPr lang="en-US" sz="1100" dirty="0">
                <a:solidFill>
                  <a:schemeClr val="accent6"/>
                </a:solidFill>
                <a:latin typeface="Menlo" pitchFamily="34" charset="0"/>
                <a:ea typeface="Menlo" pitchFamily="34" charset="-122"/>
                <a:cs typeface="Menlo" pitchFamily="34" charset="-120"/>
              </a:rPr>
              <a:t>backend/app/ai/scorer.py · 발췌</a:t>
            </a:r>
            <a:endParaRPr lang="en-US" sz="1100" dirty="0"/>
          </a:p>
        </p:txBody>
      </p:sp>
      <p:sp>
        <p:nvSpPr>
          <p:cNvPr id="8" name="Scorer code code"/>
          <p:cNvSpPr txBox="1"/>
          <p:nvPr/>
        </p:nvSpPr>
        <p:spPr>
          <a:xfrm>
            <a:off x="6446520" y="2011680"/>
            <a:ext cx="4922215" cy="3200400"/>
          </a:xfrm>
          <a:prstGeom prst="rect">
            <a:avLst/>
          </a:prstGeom>
          <a:noFill/>
          <a:ln/>
        </p:spPr>
        <p:txBody>
          <a:bodyPr wrap="square" lIns="0" tIns="0" rIns="0" bIns="0" rtlCol="0" anchor="t"/>
          <a:lstStyle/>
          <a:p>
            <a:pPr indent="0" marL="0">
              <a:spcAft>
                <a:spcPts val="100"/>
              </a:spcAft>
              <a:buNone/>
            </a:pPr>
            <a:r>
              <a:rPr lang="en-US" sz="1300" dirty="0">
                <a:solidFill>
                  <a:srgbClr val="D1D1D6"/>
                </a:solidFill>
                <a:latin typeface="Menlo" pitchFamily="34" charset="0"/>
                <a:ea typeface="Menlo" pitchFamily="34" charset="-122"/>
                <a:cs typeface="Menlo" pitchFamily="34" charset="-120"/>
              </a:rPr>
              <a:t>WEIGHTS</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"text"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0.35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"image"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0.25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"category"</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0.15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"color"</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0.10</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"location"</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0.10</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30D158"/>
                </a:solidFill>
                <a:latin typeface="Menlo" pitchFamily="34" charset="0"/>
                <a:ea typeface="Menlo" pitchFamily="34" charset="-122"/>
                <a:cs typeface="Menlo" pitchFamily="34" charset="-120"/>
              </a:rPr>
              <a:t>"date"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0.05</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endParaRPr lang="en-US" sz="1300" dirty="0"/>
          </a:p>
          <a:p>
            <a:pPr indent="0" marL="0">
              <a:spcAft>
                <a:spcPts val="100"/>
              </a:spcAft>
              <a:buNone/>
            </a:pPr>
            <a:r>
              <a:rPr lang="en-US" sz="1300" b="1" dirty="0">
                <a:solidFill>
                  <a:schemeClr val="bg1"/>
                </a:solidFill>
                <a:latin typeface="Menlo" pitchFamily="34" charset="0"/>
                <a:ea typeface="Menlo" pitchFamily="34" charset="-122"/>
                <a:cs typeface="Menlo" pitchFamily="34" charset="-120"/>
              </a:rPr>
              <a:t>def</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compute_final_score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scores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accent6"/>
                </a:solidFill>
                <a:latin typeface="Menlo" pitchFamily="34" charset="0"/>
                <a:ea typeface="Menlo" pitchFamily="34" charset="-122"/>
                <a:cs typeface="Menlo" pitchFamily="34" charset="-120"/>
              </a:rPr>
              <a:t># 값이 없는 항목은 빼고 재정규화</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ok</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for</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scores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items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is</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not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None</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total</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sum</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WEIGHTS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for</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ok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got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sum</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WEIGHTS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for</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v</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in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ok</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items</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a:p>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round</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rgbClr val="D1D1D6"/>
                </a:solidFill>
                <a:latin typeface="Menlo" pitchFamily="34" charset="0"/>
                <a:ea typeface="Menlo" pitchFamily="34" charset="-122"/>
                <a:cs typeface="Menlo" pitchFamily="34" charset="-120"/>
              </a:rPr>
              <a:t>got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D1D1D6"/>
                </a:solidFill>
                <a:latin typeface="Menlo" pitchFamily="34" charset="0"/>
                <a:ea typeface="Menlo" pitchFamily="34" charset="-122"/>
                <a:cs typeface="Menlo" pitchFamily="34" charset="-120"/>
              </a:rPr>
              <a:t>total</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pPr indent="0" marL="0">
              <a:spcAft>
                <a:spcPts val="100"/>
              </a:spcAft>
              <a:buNone/>
            </a:pPr>
            <a:r>
              <a:rPr lang="en-US" sz="1300" dirty="0">
                <a:solidFill>
                  <a:schemeClr val="bg1"/>
                </a:solidFill>
                <a:latin typeface="Menlo" pitchFamily="34" charset="0"/>
                <a:ea typeface="Menlo" pitchFamily="34" charset="-122"/>
                <a:cs typeface="Menlo" pitchFamily="34" charset="-120"/>
              </a:rPr>
              <a:t> </a:t>
            </a:r>
            <a:pPr indent="0" marL="0">
              <a:spcAft>
                <a:spcPts val="100"/>
              </a:spcAft>
              <a:buNone/>
            </a:pPr>
            <a:r>
              <a:rPr lang="en-US" sz="1300" dirty="0">
                <a:solidFill>
                  <a:srgbClr val="FFB340"/>
                </a:solidFill>
                <a:latin typeface="Menlo" pitchFamily="34" charset="0"/>
                <a:ea typeface="Menlo" pitchFamily="34" charset="-122"/>
                <a:cs typeface="Menlo" pitchFamily="34" charset="-120"/>
              </a:rPr>
              <a:t>4</a:t>
            </a:r>
            <a:pPr indent="0" marL="0">
              <a:spcAft>
                <a:spcPts val="100"/>
              </a:spcAft>
              <a:buNone/>
            </a:pPr>
            <a:r>
              <a:rPr lang="en-US" sz="1300" dirty="0">
                <a:solidFill>
                  <a:schemeClr val="bg1"/>
                </a:solidFill>
                <a:latin typeface="Menlo" pitchFamily="34" charset="0"/>
                <a:ea typeface="Menlo" pitchFamily="34" charset="-122"/>
                <a:cs typeface="Menlo" pitchFamily="34" charset="-120"/>
              </a:rPr>
              <a:t>)</a:t>
            </a:r>
            <a:endParaRPr lang="en-US" sz="1300" dirty="0"/>
          </a:p>
        </p:txBody>
      </p:sp>
      <p:sp>
        <p:nvSpPr>
          <p:cNvPr id="9" name="Missing input policy"/>
          <p:cNvSpPr/>
          <p:nvPr/>
        </p:nvSpPr>
        <p:spPr>
          <a:xfrm>
            <a:off x="548640" y="5504688"/>
            <a:ext cx="11094415" cy="475488"/>
          </a:xfrm>
          <a:prstGeom prst="roundRect">
            <a:avLst>
              <a:gd name="adj" fmla="val 26923"/>
            </a:avLst>
          </a:prstGeom>
          <a:solidFill>
            <a:schemeClr val="tx1"/>
          </a:solidFill>
          <a:ln w="12700">
            <a:solidFill>
              <a:schemeClr val="tx1"/>
            </a:solidFill>
            <a:prstDash val="solid"/>
          </a:ln>
        </p:spPr>
      </p:sp>
      <p:sp>
        <p:nvSpPr>
          <p:cNvPr id="10" name="Text 7"/>
          <p:cNvSpPr txBox="1"/>
          <p:nvPr/>
        </p:nvSpPr>
        <p:spPr>
          <a:xfrm>
            <a:off x="868680" y="5504688"/>
            <a:ext cx="10454335" cy="475488"/>
          </a:xfrm>
          <a:prstGeom prst="rect">
            <a:avLst/>
          </a:prstGeom>
          <a:noFill/>
          <a:ln/>
        </p:spPr>
        <p:txBody>
          <a:bodyPr wrap="square" lIns="0" tIns="0" rIns="0" bIns="0" rtlCol="0" anchor="ctr"/>
          <a:lstStyle/>
          <a:p>
            <a:pPr indent="0" marL="0">
              <a:buNone/>
            </a:pPr>
            <a:r>
              <a:rPr lang="en-US" sz="1500" b="1" dirty="0">
                <a:solidFill>
                  <a:schemeClr val="bg1"/>
                </a:solidFill>
              </a:rPr>
              <a:t>미입력 ≠ 불일치  </a:t>
            </a:r>
            <a:pPr indent="0" marL="0">
              <a:buNone/>
            </a:pPr>
            <a:r>
              <a:rPr lang="en-US" sz="1500" b="1" dirty="0">
                <a:solidFill>
                  <a:schemeClr val="accent6"/>
                </a:solidFill>
              </a:rPr>
              <a:t>비교 불가 항목은 빼고 재정규화 · 점수는 확률이 아닌 유사도 합산</a:t>
            </a:r>
            <a:endParaRPr lang="en-US" sz="1500" dirty="0"/>
          </a:p>
        </p:txBody>
      </p:sp>
      <p:sp>
        <p:nvSpPr>
          <p:cNvPr id="11" name="Text 8"/>
          <p:cNvSpPr txBox="1"/>
          <p:nvPr/>
        </p:nvSpPr>
        <p:spPr>
          <a:xfrm>
            <a:off x="548640" y="6071616"/>
            <a:ext cx="11094415" cy="274320"/>
          </a:xfrm>
          <a:prstGeom prst="rect">
            <a:avLst/>
          </a:prstGeom>
          <a:noFill/>
          <a:ln/>
        </p:spPr>
        <p:txBody>
          <a:bodyPr wrap="square" lIns="0" tIns="0" rIns="0" bIns="0" rtlCol="0" anchor="t"/>
          <a:lstStyle/>
          <a:p>
            <a:pPr indent="0" marL="0">
              <a:buNone/>
            </a:pPr>
            <a:r>
              <a:rPr lang="en-US" sz="1000" dirty="0">
                <a:solidFill>
                  <a:schemeClr val="tx2"/>
                </a:solidFill>
              </a:rPr>
              <a:t>사진 유사도(25%)는 로드맵 항목 · 막대 길이는 가중치 상대 비교</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가중치와 누락 입력, 실제로 돌려봤습니다</a:t>
            </a:r>
            <a:endParaRPr lang="en-US" sz="3400" dirty="0"/>
          </a:p>
        </p:txBody>
      </p:sp>
      <p:sp>
        <p:nvSpPr>
          <p:cNvPr id="3" name="Weights table card"/>
          <p:cNvSpPr/>
          <p:nvPr/>
        </p:nvSpPr>
        <p:spPr>
          <a:xfrm>
            <a:off x="548640" y="1463040"/>
            <a:ext cx="5394960" cy="3931920"/>
          </a:xfrm>
          <a:prstGeom prst="roundRect">
            <a:avLst>
              <a:gd name="adj" fmla="val 372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822960" y="1645920"/>
            <a:ext cx="4846320" cy="274320"/>
          </a:xfrm>
          <a:prstGeom prst="rect">
            <a:avLst/>
          </a:prstGeom>
          <a:noFill/>
          <a:ln/>
        </p:spPr>
        <p:txBody>
          <a:bodyPr wrap="square" lIns="0" tIns="0" rIns="0" bIns="0" rtlCol="0" anchor="t"/>
          <a:lstStyle/>
          <a:p>
            <a:pPr indent="0" marL="0">
              <a:buNone/>
            </a:pPr>
            <a:r>
              <a:rPr lang="en-US" sz="1400" b="1" dirty="0">
                <a:solidFill>
                  <a:schemeClr val="tx1"/>
                </a:solidFill>
              </a:rPr>
              <a:t>가중치를 바꿔 보면 (%)</a:t>
            </a:r>
            <a:endParaRPr lang="en-US" sz="1400" dirty="0"/>
          </a:p>
        </p:txBody>
      </p:sp>
      <p:graphicFrame>
        <p:nvGraphicFramePr>
          <p:cNvPr id="9" name="Weight sensitivity"/>
          <p:cNvGraphicFramePr>
            <a:graphicFrameLocks noGrp="1"/>
          </p:cNvGraphicFramePr>
          <p:nvPr>
            <p:extLst>
              <p:ext uri="{D42A27DB-BD31-4B8C-83A1-F6EECF244321}">
                <p14:modId xmlns:p14="http://schemas.microsoft.com/office/powerpoint/2010/main" val="1579011935"/>
              </p:ext>
            </p:extLst>
          </p:nvPr>
        </p:nvGraphicFramePr>
        <p:xfrm>
          <a:off x="822960" y="2057400"/>
          <a:ext cx="4846320" cy="914400"/>
        </p:xfrm>
        <a:graphic>
          <a:graphicData uri="http://schemas.openxmlformats.org/drawingml/2006/table">
            <a:tbl>
              <a:tblPr/>
              <a:tblGrid>
                <a:gridCol w="2286000"/>
                <a:gridCol w="1280160"/>
                <a:gridCol w="1280160"/>
              </a:tblGrid>
              <a:tr h="384048">
                <a:tc>
                  <a:txBody>
                    <a:bodyPr/>
                    <a:lstStyle/>
                    <a:p>
                      <a:pPr algn="l" indent="0" marL="0">
                        <a:buNone/>
                      </a:pPr>
                      <a:r>
                        <a:rPr lang="en-US" sz="1300" b="1" dirty="0">
                          <a:solidFill>
                            <a:srgbClr val="636366"/>
                          </a:solidFill>
                        </a:rPr>
                        <a:t>변경</a:t>
                      </a:r>
                      <a:endParaRPr lang="en-US" sz="13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36366"/>
                          </a:solidFill>
                        </a:rPr>
                        <a:t>1위 적중</a:t>
                      </a:r>
                      <a:endParaRPr lang="en-US" sz="13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36366"/>
                          </a:solidFill>
                        </a:rPr>
                        <a:t>TOP 5 적중</a:t>
                      </a:r>
                      <a:endParaRPr lang="en-US" sz="13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00000"/>
                          </a:solidFill>
                        </a:rPr>
                        <a:t>현재 가중치</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76.7</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1400" b="1" dirty="0">
                          <a:solidFill>
                            <a:srgbClr val="000000"/>
                          </a:solidFill>
                        </a:rPr>
                        <a:t>97.2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r>
              <a:tr h="457200">
                <a:tc>
                  <a:txBody>
                    <a:bodyPr/>
                    <a:lstStyle/>
                    <a:p>
                      <a:pPr algn="l" indent="0" marL="0">
                        <a:buNone/>
                      </a:pPr>
                      <a:r>
                        <a:rPr lang="en-US" sz="1400" dirty="0">
                          <a:solidFill>
                            <a:srgbClr val="000000"/>
                          </a:solidFill>
                        </a:rPr>
                        <a:t>텍스트 ×1.5</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80.0</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98.9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텍스트 ×0.5</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67.2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94.4</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장소 ×2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68.9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93.9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날짜 ×2</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68.9</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96.1</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rPr>
                        <a:t>5개 항목 동일 비중</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41.1</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rPr>
                        <a:t>91.7</a:t>
                      </a:r>
                      <a:endParaRPr lang="en-US" sz="1400" dirty="0"/>
                    </a:p>
                  </a:txBody>
                  <a:tcPr marL="91440" marR="91440"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r>
            </a:tbl>
          </a:graphicData>
        </a:graphic>
      </p:graphicFrame>
      <p:sp>
        <p:nvSpPr>
          <p:cNvPr id="6" name="Missing input card"/>
          <p:cNvSpPr/>
          <p:nvPr/>
        </p:nvSpPr>
        <p:spPr>
          <a:xfrm>
            <a:off x="6217920" y="1463040"/>
            <a:ext cx="5425135" cy="3931920"/>
          </a:xfrm>
          <a:prstGeom prst="roundRect">
            <a:avLst>
              <a:gd name="adj" fmla="val 3721"/>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7" name="Text 4"/>
          <p:cNvSpPr txBox="1"/>
          <p:nvPr/>
        </p:nvSpPr>
        <p:spPr>
          <a:xfrm>
            <a:off x="6492240" y="1645920"/>
            <a:ext cx="4846320" cy="274320"/>
          </a:xfrm>
          <a:prstGeom prst="rect">
            <a:avLst/>
          </a:prstGeom>
          <a:noFill/>
          <a:ln/>
        </p:spPr>
        <p:txBody>
          <a:bodyPr wrap="square" lIns="0" tIns="0" rIns="0" bIns="0" rtlCol="0" anchor="t"/>
          <a:lstStyle/>
          <a:p>
            <a:pPr indent="0" marL="0">
              <a:buNone/>
            </a:pPr>
            <a:r>
              <a:rPr lang="en-US" sz="1400" b="1" dirty="0">
                <a:solidFill>
                  <a:schemeClr val="tx1"/>
                </a:solidFill>
              </a:rPr>
              <a:t>입력을 비우면 · TOP 5 적중 (%)</a:t>
            </a:r>
            <a:endParaRPr lang="en-US" sz="1400" dirty="0"/>
          </a:p>
        </p:txBody>
      </p:sp>
      <p:graphicFrame>
        <p:nvGraphicFramePr>
          <p:cNvPr id="8" name="Chart 0" descr=""/>
          <p:cNvGraphicFramePr/>
          <p:nvPr/>
        </p:nvGraphicFramePr>
        <p:xfrm>
          <a:off x="6355080" y="1965960"/>
          <a:ext cx="5166360" cy="3337560"/>
        </p:xfrm>
        <a:graphic xmlns:a="http://schemas.openxmlformats.org/drawingml/2006/main">
          <a:graphicData uri="http://schemas.openxmlformats.org/drawingml/2006/chart">
            <c:chart xmlns:c="http://schemas.openxmlformats.org/drawingml/2006/chart" r:id="rId1"/>
          </a:graphicData>
        </a:graphic>
      </p:graphicFrame>
      <p:sp>
        <p:nvSpPr>
          <p:cNvPr id="9" name="Validation takeaway"/>
          <p:cNvSpPr/>
          <p:nvPr/>
        </p:nvSpPr>
        <p:spPr>
          <a:xfrm>
            <a:off x="548640" y="5504688"/>
            <a:ext cx="11094415" cy="475488"/>
          </a:xfrm>
          <a:prstGeom prst="roundRect">
            <a:avLst>
              <a:gd name="adj" fmla="val 26923"/>
            </a:avLst>
          </a:prstGeom>
          <a:solidFill>
            <a:schemeClr val="tx1"/>
          </a:solidFill>
          <a:ln w="12700">
            <a:solidFill>
              <a:schemeClr val="tx1"/>
            </a:solidFill>
            <a:prstDash val="solid"/>
          </a:ln>
        </p:spPr>
      </p:sp>
      <p:sp>
        <p:nvSpPr>
          <p:cNvPr id="10" name="Text 6"/>
          <p:cNvSpPr txBox="1"/>
          <p:nvPr/>
        </p:nvSpPr>
        <p:spPr>
          <a:xfrm>
            <a:off x="868680" y="5504688"/>
            <a:ext cx="10454335" cy="475488"/>
          </a:xfrm>
          <a:prstGeom prst="rect">
            <a:avLst/>
          </a:prstGeom>
          <a:noFill/>
          <a:ln/>
        </p:spPr>
        <p:txBody>
          <a:bodyPr wrap="square" lIns="0" tIns="0" rIns="0" bIns="0" rtlCol="0" anchor="ctr"/>
          <a:lstStyle/>
          <a:p>
            <a:pPr indent="0" marL="0">
              <a:buNone/>
            </a:pPr>
            <a:r>
              <a:rPr lang="en-US" sz="1500" b="1" dirty="0">
                <a:solidFill>
                  <a:schemeClr val="bg1"/>
                </a:solidFill>
              </a:rPr>
              <a:t>가중치는 합리적인 범위  </a:t>
            </a:r>
            <a:pPr indent="0" marL="0">
              <a:buNone/>
            </a:pPr>
            <a:r>
              <a:rPr lang="en-US" sz="1500" b="1" dirty="0">
                <a:solidFill>
                  <a:schemeClr val="accent6"/>
                </a:solidFill>
              </a:rPr>
              <a:t>색상을 비우면 71.7%로 하락 → 정보 충족도 보강 필요</a:t>
            </a:r>
            <a:endParaRPr lang="en-US" sz="1500" dirty="0"/>
          </a:p>
        </p:txBody>
      </p:sp>
      <p:sp>
        <p:nvSpPr>
          <p:cNvPr id="11" name="Text 7"/>
          <p:cNvSpPr txBox="1"/>
          <p:nvPr/>
        </p:nvSpPr>
        <p:spPr>
          <a:xfrm>
            <a:off x="548640" y="6071616"/>
            <a:ext cx="11094415" cy="274320"/>
          </a:xfrm>
          <a:prstGeom prst="rect">
            <a:avLst/>
          </a:prstGeom>
          <a:noFill/>
          <a:ln/>
        </p:spPr>
        <p:txBody>
          <a:bodyPr wrap="square" lIns="0" tIns="0" rIns="0" bIns="0" rtlCol="0" anchor="t"/>
          <a:lstStyle/>
          <a:p>
            <a:pPr indent="0" marL="0">
              <a:buNone/>
            </a:pPr>
            <a:r>
              <a:rPr lang="en-US" sz="1000" dirty="0">
                <a:solidFill>
                  <a:schemeClr val="tx2"/>
                </a:solidFill>
              </a:rPr>
              <a:t>자체 검증셋(정답쌍 60 + 방해 600) 3회 평균 · 날짜·장소를 일부러 변별력 없게 둔 엄격 조건 · 가중치 조정은 과적합 위험, 실데이터 검증 필요</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엉뚱한 지역은 걸러내고, 0.78점 이상만 알립니다</a:t>
            </a:r>
            <a:endParaRPr lang="en-US" sz="3400" dirty="0"/>
          </a:p>
        </p:txBody>
      </p:sp>
      <p:sp>
        <p:nvSpPr>
          <p:cNvPr id="3" name="Before card"/>
          <p:cNvSpPr/>
          <p:nvPr/>
        </p:nvSpPr>
        <p:spPr>
          <a:xfrm>
            <a:off x="548640" y="1463040"/>
            <a:ext cx="4480560" cy="1874520"/>
          </a:xfrm>
          <a:prstGeom prst="roundRect">
            <a:avLst>
              <a:gd name="adj" fmla="val 7805"/>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822960" y="1645920"/>
            <a:ext cx="2743200" cy="320040"/>
          </a:xfrm>
          <a:prstGeom prst="rect">
            <a:avLst/>
          </a:prstGeom>
          <a:noFill/>
          <a:ln/>
        </p:spPr>
        <p:txBody>
          <a:bodyPr wrap="square" lIns="0" tIns="0" rIns="0" bIns="0" rtlCol="0" anchor="t"/>
          <a:lstStyle/>
          <a:p>
            <a:pPr indent="0" marL="0">
              <a:buNone/>
            </a:pPr>
            <a:r>
              <a:rPr lang="en-US" sz="1600" b="1" dirty="0">
                <a:solidFill>
                  <a:schemeClr val="accent4"/>
                </a:solidFill>
              </a:rPr>
              <a:t>개선 전</a:t>
            </a:r>
            <a:endParaRPr lang="en-US" sz="1600" dirty="0"/>
          </a:p>
        </p:txBody>
      </p:sp>
      <p:sp>
        <p:nvSpPr>
          <p:cNvPr id="5" name="Text 3"/>
          <p:cNvSpPr txBox="1"/>
          <p:nvPr/>
        </p:nvSpPr>
        <p:spPr>
          <a:xfrm>
            <a:off x="822960" y="2011680"/>
            <a:ext cx="4023360" cy="685800"/>
          </a:xfrm>
          <a:prstGeom prst="rect">
            <a:avLst/>
          </a:prstGeom>
          <a:noFill/>
          <a:ln/>
        </p:spPr>
        <p:txBody>
          <a:bodyPr wrap="square" lIns="0" tIns="0" rIns="0" bIns="0" rtlCol="0" anchor="t"/>
          <a:lstStyle/>
          <a:p>
            <a:pPr indent="0" marL="0">
              <a:buNone/>
            </a:pPr>
            <a:r>
              <a:rPr lang="en-US" sz="1400" dirty="0">
                <a:solidFill>
                  <a:schemeClr val="tx1"/>
                </a:solidFill>
              </a:rPr>
              <a:t>조선대에서 잃어버린 카드지갑에</a:t>
            </a:r>
            <a:endParaRPr lang="en-US" sz="1400" dirty="0"/>
          </a:p>
          <a:p>
            <a:pPr indent="0" marL="0">
              <a:buNone/>
            </a:pPr>
            <a:r>
              <a:rPr lang="en-US" sz="1400" dirty="0">
                <a:solidFill>
                  <a:schemeClr val="tx1"/>
                </a:solidFill>
              </a:rPr>
              <a:t>대전·제주·부산 경찰서 습득물이 후보로 노출</a:t>
            </a:r>
            <a:endParaRPr lang="en-US" sz="1400" dirty="0"/>
          </a:p>
        </p:txBody>
      </p:sp>
      <p:sp>
        <p:nvSpPr>
          <p:cNvPr id="6" name="Text 4"/>
          <p:cNvSpPr txBox="1"/>
          <p:nvPr/>
        </p:nvSpPr>
        <p:spPr>
          <a:xfrm>
            <a:off x="822960" y="2743200"/>
            <a:ext cx="4023360" cy="502920"/>
          </a:xfrm>
          <a:prstGeom prst="rect">
            <a:avLst/>
          </a:prstGeom>
          <a:noFill/>
          <a:ln/>
        </p:spPr>
        <p:txBody>
          <a:bodyPr wrap="square" lIns="0" tIns="0" rIns="0" bIns="0" rtlCol="0" anchor="t"/>
          <a:lstStyle/>
          <a:p>
            <a:pPr indent="0" marL="0">
              <a:buNone/>
            </a:pPr>
            <a:r>
              <a:rPr lang="en-US" sz="1200" dirty="0">
                <a:solidFill>
                  <a:schemeClr val="tx2"/>
                </a:solidFill>
              </a:rPr>
              <a:t>원인: 경찰서 이름에서 지역을 잘못 추출</a:t>
            </a:r>
            <a:endParaRPr lang="en-US" sz="1200" dirty="0"/>
          </a:p>
          <a:p>
            <a:pPr indent="0" marL="0">
              <a:buNone/>
            </a:pPr>
            <a:r>
              <a:rPr lang="en-US" sz="1200" dirty="0">
                <a:solidFill>
                  <a:schemeClr val="tx2"/>
                </a:solidFill>
              </a:rPr>
              <a:t>("제주동부경찰서" → 광주로 판정)</a:t>
            </a:r>
            <a:endParaRPr lang="en-US" sz="1200" dirty="0"/>
          </a:p>
        </p:txBody>
      </p:sp>
      <p:sp>
        <p:nvSpPr>
          <p:cNvPr id="7" name="After card"/>
          <p:cNvSpPr/>
          <p:nvPr/>
        </p:nvSpPr>
        <p:spPr>
          <a:xfrm>
            <a:off x="548640" y="3520440"/>
            <a:ext cx="4480560" cy="2011680"/>
          </a:xfrm>
          <a:prstGeom prst="roundRect">
            <a:avLst>
              <a:gd name="adj" fmla="val 7273"/>
            </a:avLst>
          </a:prstGeom>
          <a:solidFill>
            <a:schemeClr val="tx1"/>
          </a:solidFill>
          <a:ln w="12700">
            <a:solidFill>
              <a:schemeClr val="tx1"/>
            </a:solidFill>
            <a:prstDash val="solid"/>
          </a:ln>
        </p:spPr>
      </p:sp>
      <p:sp>
        <p:nvSpPr>
          <p:cNvPr id="8" name="Text 6"/>
          <p:cNvSpPr txBox="1"/>
          <p:nvPr/>
        </p:nvSpPr>
        <p:spPr>
          <a:xfrm>
            <a:off x="822960" y="3703320"/>
            <a:ext cx="2743200" cy="320040"/>
          </a:xfrm>
          <a:prstGeom prst="rect">
            <a:avLst/>
          </a:prstGeom>
          <a:noFill/>
          <a:ln/>
        </p:spPr>
        <p:txBody>
          <a:bodyPr wrap="square" lIns="0" tIns="0" rIns="0" bIns="0" rtlCol="0" anchor="t"/>
          <a:lstStyle/>
          <a:p>
            <a:pPr indent="0" marL="0">
              <a:buNone/>
            </a:pPr>
            <a:r>
              <a:rPr lang="en-US" sz="1600" b="1" dirty="0">
                <a:solidFill>
                  <a:schemeClr val="bg1"/>
                </a:solidFill>
              </a:rPr>
              <a:t>개선 후</a:t>
            </a:r>
            <a:endParaRPr lang="en-US" sz="1600" dirty="0"/>
          </a:p>
        </p:txBody>
      </p:sp>
      <p:sp>
        <p:nvSpPr>
          <p:cNvPr id="9" name="Chip 같은 시·도"/>
          <p:cNvSpPr/>
          <p:nvPr/>
        </p:nvSpPr>
        <p:spPr>
          <a:xfrm>
            <a:off x="822960" y="4160520"/>
            <a:ext cx="1783080" cy="347472"/>
          </a:xfrm>
          <a:prstGeom prst="roundRect">
            <a:avLst>
              <a:gd name="adj" fmla="val 50000"/>
            </a:avLst>
          </a:prstGeom>
          <a:solidFill>
            <a:schemeClr val="accent2"/>
          </a:solidFill>
          <a:ln w="12700">
            <a:solidFill>
              <a:schemeClr val="accent2"/>
            </a:solidFill>
            <a:prstDash val="solid"/>
          </a:ln>
        </p:spPr>
      </p:sp>
      <p:sp>
        <p:nvSpPr>
          <p:cNvPr id="10" name="Text 8"/>
          <p:cNvSpPr txBox="1"/>
          <p:nvPr/>
        </p:nvSpPr>
        <p:spPr>
          <a:xfrm>
            <a:off x="822960" y="4160520"/>
            <a:ext cx="1783080" cy="347472"/>
          </a:xfrm>
          <a:prstGeom prst="rect">
            <a:avLst/>
          </a:prstGeom>
          <a:noFill/>
          <a:ln/>
        </p:spPr>
        <p:txBody>
          <a:bodyPr wrap="square" lIns="0" tIns="0" rIns="0" bIns="0" rtlCol="0" anchor="ctr"/>
          <a:lstStyle/>
          <a:p>
            <a:pPr algn="ctr" indent="0" marL="0">
              <a:buNone/>
            </a:pPr>
            <a:r>
              <a:rPr lang="en-US" sz="1200" b="1" dirty="0">
                <a:solidFill>
                  <a:schemeClr val="bg1"/>
                </a:solidFill>
              </a:rPr>
              <a:t>같은 시·도</a:t>
            </a:r>
            <a:endParaRPr lang="en-US" sz="1200" dirty="0"/>
          </a:p>
        </p:txBody>
      </p:sp>
      <p:sp>
        <p:nvSpPr>
          <p:cNvPr id="11" name="Chip 반경 5km"/>
          <p:cNvSpPr/>
          <p:nvPr/>
        </p:nvSpPr>
        <p:spPr>
          <a:xfrm>
            <a:off x="2788920" y="4160520"/>
            <a:ext cx="1783080" cy="347472"/>
          </a:xfrm>
          <a:prstGeom prst="roundRect">
            <a:avLst>
              <a:gd name="adj" fmla="val 50000"/>
            </a:avLst>
          </a:prstGeom>
          <a:solidFill>
            <a:schemeClr val="accent2"/>
          </a:solidFill>
          <a:ln w="12700">
            <a:solidFill>
              <a:schemeClr val="accent2"/>
            </a:solidFill>
            <a:prstDash val="solid"/>
          </a:ln>
        </p:spPr>
      </p:sp>
      <p:sp>
        <p:nvSpPr>
          <p:cNvPr id="12" name="Text 10"/>
          <p:cNvSpPr txBox="1"/>
          <p:nvPr/>
        </p:nvSpPr>
        <p:spPr>
          <a:xfrm>
            <a:off x="2788920" y="4160520"/>
            <a:ext cx="1783080" cy="347472"/>
          </a:xfrm>
          <a:prstGeom prst="rect">
            <a:avLst/>
          </a:prstGeom>
          <a:noFill/>
          <a:ln/>
        </p:spPr>
        <p:txBody>
          <a:bodyPr wrap="square" lIns="0" tIns="0" rIns="0" bIns="0" rtlCol="0" anchor="ctr"/>
          <a:lstStyle/>
          <a:p>
            <a:pPr algn="ctr" indent="0" marL="0">
              <a:buNone/>
            </a:pPr>
            <a:r>
              <a:rPr lang="en-US" sz="1200" b="1" dirty="0">
                <a:solidFill>
                  <a:schemeClr val="bg1"/>
                </a:solidFill>
              </a:rPr>
              <a:t>반경 5km</a:t>
            </a:r>
            <a:endParaRPr lang="en-US" sz="1200" dirty="0"/>
          </a:p>
        </p:txBody>
      </p:sp>
      <p:sp>
        <p:nvSpPr>
          <p:cNvPr id="13" name="Chip 분실일 -2 ~ +180일"/>
          <p:cNvSpPr/>
          <p:nvPr/>
        </p:nvSpPr>
        <p:spPr>
          <a:xfrm>
            <a:off x="822960" y="4617720"/>
            <a:ext cx="1874520" cy="347472"/>
          </a:xfrm>
          <a:prstGeom prst="roundRect">
            <a:avLst>
              <a:gd name="adj" fmla="val 50000"/>
            </a:avLst>
          </a:prstGeom>
          <a:solidFill>
            <a:schemeClr val="accent2"/>
          </a:solidFill>
          <a:ln w="12700">
            <a:solidFill>
              <a:schemeClr val="accent2"/>
            </a:solidFill>
            <a:prstDash val="solid"/>
          </a:ln>
        </p:spPr>
      </p:sp>
      <p:sp>
        <p:nvSpPr>
          <p:cNvPr id="14" name="Text 12"/>
          <p:cNvSpPr txBox="1"/>
          <p:nvPr/>
        </p:nvSpPr>
        <p:spPr>
          <a:xfrm>
            <a:off x="822960" y="4617720"/>
            <a:ext cx="1874520" cy="347472"/>
          </a:xfrm>
          <a:prstGeom prst="rect">
            <a:avLst/>
          </a:prstGeom>
          <a:noFill/>
          <a:ln/>
        </p:spPr>
        <p:txBody>
          <a:bodyPr wrap="square" lIns="0" tIns="0" rIns="0" bIns="0" rtlCol="0" anchor="ctr"/>
          <a:lstStyle/>
          <a:p>
            <a:pPr algn="ctr" indent="0" marL="0">
              <a:buNone/>
            </a:pPr>
            <a:r>
              <a:rPr lang="en-US" sz="1200" b="1" dirty="0">
                <a:solidFill>
                  <a:schemeClr val="bg1"/>
                </a:solidFill>
              </a:rPr>
              <a:t>분실일 -2 ~ +180일</a:t>
            </a:r>
            <a:endParaRPr lang="en-US" sz="1200" dirty="0"/>
          </a:p>
        </p:txBody>
      </p:sp>
      <p:sp>
        <p:nvSpPr>
          <p:cNvPr id="15" name="Chip 같은 종류"/>
          <p:cNvSpPr/>
          <p:nvPr/>
        </p:nvSpPr>
        <p:spPr>
          <a:xfrm>
            <a:off x="2788920" y="4617720"/>
            <a:ext cx="1783080" cy="347472"/>
          </a:xfrm>
          <a:prstGeom prst="roundRect">
            <a:avLst>
              <a:gd name="adj" fmla="val 50000"/>
            </a:avLst>
          </a:prstGeom>
          <a:solidFill>
            <a:schemeClr val="accent2"/>
          </a:solidFill>
          <a:ln w="12700">
            <a:solidFill>
              <a:schemeClr val="accent2"/>
            </a:solidFill>
            <a:prstDash val="solid"/>
          </a:ln>
        </p:spPr>
      </p:sp>
      <p:sp>
        <p:nvSpPr>
          <p:cNvPr id="16" name="Text 14"/>
          <p:cNvSpPr txBox="1"/>
          <p:nvPr/>
        </p:nvSpPr>
        <p:spPr>
          <a:xfrm>
            <a:off x="2788920" y="4617720"/>
            <a:ext cx="1783080" cy="347472"/>
          </a:xfrm>
          <a:prstGeom prst="rect">
            <a:avLst/>
          </a:prstGeom>
          <a:noFill/>
          <a:ln/>
        </p:spPr>
        <p:txBody>
          <a:bodyPr wrap="square" lIns="0" tIns="0" rIns="0" bIns="0" rtlCol="0" anchor="ctr"/>
          <a:lstStyle/>
          <a:p>
            <a:pPr algn="ctr" indent="0" marL="0">
              <a:buNone/>
            </a:pPr>
            <a:r>
              <a:rPr lang="en-US" sz="1200" b="1" dirty="0">
                <a:solidFill>
                  <a:schemeClr val="bg1"/>
                </a:solidFill>
              </a:rPr>
              <a:t>같은 종류</a:t>
            </a:r>
            <a:endParaRPr lang="en-US" sz="1200" dirty="0"/>
          </a:p>
        </p:txBody>
      </p:sp>
      <p:sp>
        <p:nvSpPr>
          <p:cNvPr id="17" name="Text 15"/>
          <p:cNvSpPr txBox="1"/>
          <p:nvPr/>
        </p:nvSpPr>
        <p:spPr>
          <a:xfrm>
            <a:off x="822960" y="5120640"/>
            <a:ext cx="4023360" cy="274320"/>
          </a:xfrm>
          <a:prstGeom prst="rect">
            <a:avLst/>
          </a:prstGeom>
          <a:noFill/>
          <a:ln/>
        </p:spPr>
        <p:txBody>
          <a:bodyPr wrap="square" lIns="0" tIns="0" rIns="0" bIns="0" rtlCol="0" anchor="t"/>
          <a:lstStyle/>
          <a:p>
            <a:pPr indent="0" marL="0">
              <a:buNone/>
            </a:pPr>
            <a:r>
              <a:rPr lang="en-US" sz="1300" dirty="0">
                <a:solidFill>
                  <a:schemeClr val="accent6"/>
                </a:solidFill>
              </a:rPr>
              <a:t>조건을 모두 통과한 습득물만 점수 계산</a:t>
            </a:r>
            <a:endParaRPr lang="en-US" sz="1300" dirty="0"/>
          </a:p>
        </p:txBody>
      </p:sp>
      <p:sp>
        <p:nvSpPr>
          <p:cNvPr id="18" name="Filter code"/>
          <p:cNvSpPr/>
          <p:nvPr/>
        </p:nvSpPr>
        <p:spPr>
          <a:xfrm>
            <a:off x="5303520" y="1463040"/>
            <a:ext cx="6339535" cy="4069080"/>
          </a:xfrm>
          <a:prstGeom prst="roundRect">
            <a:avLst>
              <a:gd name="adj" fmla="val 3596"/>
            </a:avLst>
          </a:prstGeom>
          <a:solidFill>
            <a:schemeClr val="accent1"/>
          </a:solidFill>
          <a:ln w="12700">
            <a:solidFill>
              <a:schemeClr val="accent1"/>
            </a:solidFill>
            <a:prstDash val="solid"/>
          </a:ln>
        </p:spPr>
      </p:sp>
      <p:sp>
        <p:nvSpPr>
          <p:cNvPr id="19" name="Text 17"/>
          <p:cNvSpPr txBox="1"/>
          <p:nvPr/>
        </p:nvSpPr>
        <p:spPr>
          <a:xfrm>
            <a:off x="5577840" y="1645920"/>
            <a:ext cx="5790895" cy="274320"/>
          </a:xfrm>
          <a:prstGeom prst="rect">
            <a:avLst/>
          </a:prstGeom>
          <a:noFill/>
          <a:ln/>
        </p:spPr>
        <p:txBody>
          <a:bodyPr wrap="square" lIns="0" tIns="0" rIns="0" bIns="0" rtlCol="0" anchor="t"/>
          <a:lstStyle/>
          <a:p>
            <a:pPr indent="0" marL="0">
              <a:buNone/>
            </a:pPr>
            <a:r>
              <a:rPr lang="en-US" sz="1100" dirty="0">
                <a:solidFill>
                  <a:schemeClr val="accent6"/>
                </a:solidFill>
                <a:latin typeface="Menlo" pitchFamily="34" charset="0"/>
                <a:ea typeface="Menlo" pitchFamily="34" charset="-122"/>
                <a:cs typeface="Menlo" pitchFamily="34" charset="-120"/>
              </a:rPr>
              <a:t>backend/app/services/matching_service.py · 요약 발췌</a:t>
            </a:r>
            <a:endParaRPr lang="en-US" sz="1100" dirty="0"/>
          </a:p>
        </p:txBody>
      </p:sp>
      <p:sp>
        <p:nvSpPr>
          <p:cNvPr id="20" name="Filter code code"/>
          <p:cNvSpPr txBox="1"/>
          <p:nvPr/>
        </p:nvSpPr>
        <p:spPr>
          <a:xfrm>
            <a:off x="5577840" y="2011680"/>
            <a:ext cx="5790895" cy="3337560"/>
          </a:xfrm>
          <a:prstGeom prst="rect">
            <a:avLst/>
          </a:prstGeom>
          <a:noFill/>
          <a:ln/>
        </p:spPr>
        <p:txBody>
          <a:bodyPr wrap="square" lIns="0" tIns="0" rIns="0" bIns="0" rtlCol="0" anchor="t"/>
          <a:lstStyle/>
          <a:p>
            <a:pPr indent="0" marL="0">
              <a:spcAft>
                <a:spcPts val="100"/>
              </a:spcAft>
              <a:buNone/>
            </a:pPr>
            <a:r>
              <a:rPr lang="en-US" sz="1200" b="1" dirty="0">
                <a:solidFill>
                  <a:schemeClr val="bg1"/>
                </a:solidFill>
                <a:latin typeface="Menlo" pitchFamily="34" charset="0"/>
                <a:ea typeface="Menlo" pitchFamily="34" charset="-122"/>
                <a:cs typeface="Menlo" pitchFamily="34" charset="-120"/>
              </a:rPr>
              <a:t>def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_is_plausible</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&gt;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bool</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accent6"/>
                </a:solidFill>
                <a:latin typeface="Menlo" pitchFamily="34" charset="0"/>
                <a:ea typeface="Menlo" pitchFamily="34" charset="-122"/>
                <a:cs typeface="Menlo" pitchFamily="34" charset="-120"/>
              </a:rPr>
              <a:t># 1) 종류가 다르면 제외</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category_code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category_code</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False</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accent6"/>
                </a:solidFill>
                <a:latin typeface="Menlo" pitchFamily="34" charset="0"/>
                <a:ea typeface="Menlo" pitchFamily="34" charset="-122"/>
                <a:cs typeface="Menlo" pitchFamily="34" charset="-120"/>
              </a:rPr>
              <a:t># 2) 분실일 -2일 ~ +180일</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earliest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lost_date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timedelta</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days</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FFB340"/>
                </a:solidFill>
                <a:latin typeface="Menlo" pitchFamily="34" charset="0"/>
                <a:ea typeface="Menlo" pitchFamily="34" charset="-122"/>
                <a:cs typeface="Menlo" pitchFamily="34" charset="-120"/>
              </a:rPr>
              <a:t>2</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latest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lost_date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timedelta</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days</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FFB340"/>
                </a:solidFill>
                <a:latin typeface="Menlo" pitchFamily="34" charset="0"/>
                <a:ea typeface="Menlo" pitchFamily="34" charset="-122"/>
                <a:cs typeface="Menlo" pitchFamily="34" charset="-120"/>
              </a:rPr>
              <a:t>180</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not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earliest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&lt;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found_date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&lt;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latest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False</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accent6"/>
                </a:solidFill>
                <a:latin typeface="Menlo" pitchFamily="34" charset="0"/>
                <a:ea typeface="Menlo" pitchFamily="34" charset="-122"/>
                <a:cs typeface="Menlo" pitchFamily="34" charset="-120"/>
              </a:rPr>
              <a:t># 3) 같은 시·도, 4) 좌표가 있으면 반경 이내</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if</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_lost_region</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_found_region</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False</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_distance_km</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rgbClr val="D1D1D6"/>
                </a:solidFill>
                <a:latin typeface="Menlo" pitchFamily="34" charset="0"/>
                <a:ea typeface="Menlo" pitchFamily="34" charset="-122"/>
                <a:cs typeface="Menlo" pitchFamily="34" charset="-120"/>
              </a:rPr>
              <a:t>lost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found</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endParaRPr lang="en-US" sz="1200" dirty="0"/>
          </a:p>
          <a:p>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return</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is</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None</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b="1" dirty="0">
                <a:solidFill>
                  <a:schemeClr val="bg1"/>
                </a:solidFill>
                <a:latin typeface="Menlo" pitchFamily="34" charset="0"/>
                <a:ea typeface="Menlo" pitchFamily="34" charset="-122"/>
                <a:cs typeface="Menlo" pitchFamily="34" charset="-120"/>
              </a:rPr>
              <a:t>or</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d</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chemeClr val="bg1"/>
                </a:solidFill>
                <a:latin typeface="Menlo" pitchFamily="34" charset="0"/>
                <a:ea typeface="Menlo" pitchFamily="34" charset="-122"/>
                <a:cs typeface="Menlo" pitchFamily="34" charset="-120"/>
              </a:rPr>
              <a:t>&lt;</a:t>
            </a:r>
            <a:pPr indent="0" marL="0">
              <a:spcAft>
                <a:spcPts val="100"/>
              </a:spcAft>
              <a:buNone/>
            </a:pPr>
            <a:r>
              <a:rPr lang="en-US" sz="1200" dirty="0">
                <a:solidFill>
                  <a:schemeClr val="bg1"/>
                </a:solidFill>
                <a:latin typeface="Menlo" pitchFamily="34" charset="0"/>
                <a:ea typeface="Menlo" pitchFamily="34" charset="-122"/>
                <a:cs typeface="Menlo" pitchFamily="34" charset="-120"/>
              </a:rPr>
              <a:t>=</a:t>
            </a:r>
            <a:pPr indent="0" marL="0">
              <a:spcAft>
                <a:spcPts val="100"/>
              </a:spcAft>
              <a:buNone/>
            </a:pPr>
            <a:r>
              <a:rPr lang="en-US" sz="1200" dirty="0">
                <a:solidFill>
                  <a:schemeClr val="bg1"/>
                </a:solidFill>
                <a:latin typeface="Menlo" pitchFamily="34" charset="0"/>
                <a:ea typeface="Menlo" pitchFamily="34" charset="-122"/>
                <a:cs typeface="Menlo" pitchFamily="34" charset="-120"/>
              </a:rPr>
              <a:t> </a:t>
            </a:r>
            <a:pPr indent="0" marL="0">
              <a:spcAft>
                <a:spcPts val="100"/>
              </a:spcAft>
              <a:buNone/>
            </a:pPr>
            <a:r>
              <a:rPr lang="en-US" sz="1200" dirty="0">
                <a:solidFill>
                  <a:srgbClr val="D1D1D6"/>
                </a:solidFill>
                <a:latin typeface="Menlo" pitchFamily="34" charset="0"/>
                <a:ea typeface="Menlo" pitchFamily="34" charset="-122"/>
                <a:cs typeface="Menlo" pitchFamily="34" charset="-120"/>
              </a:rPr>
              <a:t>MAX_CANDIDATE_DISTANCE_KM</a:t>
            </a:r>
            <a:endParaRPr lang="en-US" sz="1200" dirty="0"/>
          </a:p>
        </p:txBody>
      </p:sp>
      <p:sp>
        <p:nvSpPr>
          <p:cNvPr id="21" name="Chip 매일 새벽 4시 수집 후 자동 재매칭"/>
          <p:cNvSpPr/>
          <p:nvPr/>
        </p:nvSpPr>
        <p:spPr>
          <a:xfrm>
            <a:off x="548640" y="5760720"/>
            <a:ext cx="3291840" cy="365760"/>
          </a:xfrm>
          <a:prstGeom prst="roundRect">
            <a:avLst>
              <a:gd name="adj" fmla="val 50000"/>
            </a:avLst>
          </a:prstGeom>
          <a:solidFill>
            <a:schemeClr val="bg1"/>
          </a:solidFill>
          <a:ln w="12700">
            <a:solidFill>
              <a:schemeClr val="bg1"/>
            </a:solidFill>
            <a:prstDash val="solid"/>
          </a:ln>
        </p:spPr>
      </p:sp>
      <p:sp>
        <p:nvSpPr>
          <p:cNvPr id="22" name="Text 20"/>
          <p:cNvSpPr txBox="1"/>
          <p:nvPr/>
        </p:nvSpPr>
        <p:spPr>
          <a:xfrm>
            <a:off x="548640" y="5760720"/>
            <a:ext cx="3291840" cy="365760"/>
          </a:xfrm>
          <a:prstGeom prst="rect">
            <a:avLst/>
          </a:prstGeom>
          <a:noFill/>
          <a:ln/>
        </p:spPr>
        <p:txBody>
          <a:bodyPr wrap="square" lIns="0" tIns="0" rIns="0" bIns="0" rtlCol="0" anchor="ctr"/>
          <a:lstStyle/>
          <a:p>
            <a:pPr algn="ctr" indent="0" marL="0">
              <a:buNone/>
            </a:pPr>
            <a:r>
              <a:rPr lang="en-US" sz="1200" b="1" dirty="0">
                <a:solidFill>
                  <a:schemeClr val="tx1"/>
                </a:solidFill>
              </a:rPr>
              <a:t>매일 새벽 4시 수집 후 자동 재매칭</a:t>
            </a:r>
            <a:endParaRPr lang="en-US" sz="1200" dirty="0"/>
          </a:p>
        </p:txBody>
      </p:sp>
      <p:sp>
        <p:nvSpPr>
          <p:cNvPr id="23" name="Chip 같은 매칭은 한 번만 발송"/>
          <p:cNvSpPr/>
          <p:nvPr/>
        </p:nvSpPr>
        <p:spPr>
          <a:xfrm>
            <a:off x="3977640" y="5760720"/>
            <a:ext cx="2468880" cy="365760"/>
          </a:xfrm>
          <a:prstGeom prst="roundRect">
            <a:avLst>
              <a:gd name="adj" fmla="val 50000"/>
            </a:avLst>
          </a:prstGeom>
          <a:solidFill>
            <a:schemeClr val="bg1"/>
          </a:solidFill>
          <a:ln w="12700">
            <a:solidFill>
              <a:schemeClr val="bg1"/>
            </a:solidFill>
            <a:prstDash val="solid"/>
          </a:ln>
        </p:spPr>
      </p:sp>
      <p:sp>
        <p:nvSpPr>
          <p:cNvPr id="24" name="Text 22"/>
          <p:cNvSpPr txBox="1"/>
          <p:nvPr/>
        </p:nvSpPr>
        <p:spPr>
          <a:xfrm>
            <a:off x="3977640" y="5760720"/>
            <a:ext cx="2468880" cy="365760"/>
          </a:xfrm>
          <a:prstGeom prst="rect">
            <a:avLst/>
          </a:prstGeom>
          <a:noFill/>
          <a:ln/>
        </p:spPr>
        <p:txBody>
          <a:bodyPr wrap="square" lIns="0" tIns="0" rIns="0" bIns="0" rtlCol="0" anchor="ctr"/>
          <a:lstStyle/>
          <a:p>
            <a:pPr algn="ctr" indent="0" marL="0">
              <a:buNone/>
            </a:pPr>
            <a:r>
              <a:rPr lang="en-US" sz="1200" b="1" dirty="0">
                <a:solidFill>
                  <a:schemeClr val="tx1"/>
                </a:solidFill>
              </a:rPr>
              <a:t>같은 매칭은 한 번만 발송</a:t>
            </a:r>
            <a:endParaRPr lang="en-US" sz="1200" dirty="0"/>
          </a:p>
        </p:txBody>
      </p:sp>
      <p:sp>
        <p:nvSpPr>
          <p:cNvPr id="25" name="Chip 서비스 내 알림 (이메일은 SMTP 연동 시)"/>
          <p:cNvSpPr/>
          <p:nvPr/>
        </p:nvSpPr>
        <p:spPr>
          <a:xfrm>
            <a:off x="6583680" y="5760720"/>
            <a:ext cx="3566160" cy="365760"/>
          </a:xfrm>
          <a:prstGeom prst="roundRect">
            <a:avLst>
              <a:gd name="adj" fmla="val 50000"/>
            </a:avLst>
          </a:prstGeom>
          <a:solidFill>
            <a:schemeClr val="bg1"/>
          </a:solidFill>
          <a:ln w="12700">
            <a:solidFill>
              <a:schemeClr val="bg1"/>
            </a:solidFill>
            <a:prstDash val="solid"/>
          </a:ln>
        </p:spPr>
      </p:sp>
      <p:sp>
        <p:nvSpPr>
          <p:cNvPr id="26" name="Text 24"/>
          <p:cNvSpPr txBox="1"/>
          <p:nvPr/>
        </p:nvSpPr>
        <p:spPr>
          <a:xfrm>
            <a:off x="6583680" y="5760720"/>
            <a:ext cx="3566160" cy="365760"/>
          </a:xfrm>
          <a:prstGeom prst="rect">
            <a:avLst/>
          </a:prstGeom>
          <a:noFill/>
          <a:ln/>
        </p:spPr>
        <p:txBody>
          <a:bodyPr wrap="square" lIns="0" tIns="0" rIns="0" bIns="0" rtlCol="0" anchor="ctr"/>
          <a:lstStyle/>
          <a:p>
            <a:pPr algn="ctr" indent="0" marL="0">
              <a:buNone/>
            </a:pPr>
            <a:r>
              <a:rPr lang="en-US" sz="1200" b="1" dirty="0">
                <a:solidFill>
                  <a:schemeClr val="tx1"/>
                </a:solidFill>
              </a:rPr>
              <a:t>서비스 내 알림 (이메일은 SMTP 연동 시)</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TOP 5 적중률 96.7%</a:t>
            </a:r>
            <a:endParaRPr lang="en-US" sz="3400" dirty="0"/>
          </a:p>
        </p:txBody>
      </p:sp>
      <p:sp>
        <p:nvSpPr>
          <p:cNvPr id="3" name="Text 1"/>
          <p:cNvSpPr txBox="1"/>
          <p:nvPr/>
        </p:nvSpPr>
        <p:spPr>
          <a:xfrm>
            <a:off x="548640" y="1188720"/>
            <a:ext cx="11094415" cy="320040"/>
          </a:xfrm>
          <a:prstGeom prst="rect">
            <a:avLst/>
          </a:prstGeom>
          <a:noFill/>
          <a:ln/>
        </p:spPr>
        <p:txBody>
          <a:bodyPr wrap="square" lIns="0" tIns="0" rIns="0" bIns="0" rtlCol="0" anchor="t"/>
          <a:lstStyle/>
          <a:p>
            <a:pPr indent="0" marL="0">
              <a:buNone/>
            </a:pPr>
            <a:r>
              <a:rPr lang="en-US" sz="1600" dirty="0">
                <a:solidFill>
                  <a:schemeClr val="tx2"/>
                </a:solidFill>
              </a:rPr>
              <a:t>필터를 쓴 키워드 검색(85.0%)보다 11.7%p 높음</a:t>
            </a:r>
            <a:endParaRPr lang="en-US" sz="1600" dirty="0"/>
          </a:p>
        </p:txBody>
      </p:sp>
      <p:sp>
        <p:nvSpPr>
          <p:cNvPr id="4" name="Perf chart card"/>
          <p:cNvSpPr/>
          <p:nvPr/>
        </p:nvSpPr>
        <p:spPr>
          <a:xfrm>
            <a:off x="548640" y="1783080"/>
            <a:ext cx="6858000" cy="4023360"/>
          </a:xfrm>
          <a:prstGeom prst="roundRect">
            <a:avLst>
              <a:gd name="adj" fmla="val 3636"/>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graphicFrame>
        <p:nvGraphicFramePr>
          <p:cNvPr id="5" name="Chart 0" descr=""/>
          <p:cNvGraphicFramePr/>
          <p:nvPr/>
        </p:nvGraphicFramePr>
        <p:xfrm>
          <a:off x="731520" y="1920240"/>
          <a:ext cx="6492240" cy="3749040"/>
        </p:xfrm>
        <a:graphic xmlns:a="http://schemas.openxmlformats.org/drawingml/2006/main">
          <a:graphicData uri="http://schemas.openxmlformats.org/drawingml/2006/chart">
            <c:chart xmlns:c="http://schemas.openxmlformats.org/drawingml/2006/chart" r:id="rId1"/>
          </a:graphicData>
        </a:graphic>
      </p:graphicFrame>
      <p:sp>
        <p:nvSpPr>
          <p:cNvPr id="6" name="KPI Recall@5"/>
          <p:cNvSpPr/>
          <p:nvPr/>
        </p:nvSpPr>
        <p:spPr>
          <a:xfrm>
            <a:off x="7680960" y="1783080"/>
            <a:ext cx="3962095" cy="1234440"/>
          </a:xfrm>
          <a:prstGeom prst="roundRect">
            <a:avLst>
              <a:gd name="adj" fmla="val 11852"/>
            </a:avLst>
          </a:prstGeom>
          <a:solidFill>
            <a:schemeClr val="tx1"/>
          </a:solidFill>
          <a:ln w="12700">
            <a:solidFill>
              <a:schemeClr val="tx1"/>
            </a:solidFill>
            <a:prstDash val="solid"/>
          </a:ln>
        </p:spPr>
      </p:sp>
      <p:sp>
        <p:nvSpPr>
          <p:cNvPr id="7" name="Text 4"/>
          <p:cNvSpPr txBox="1"/>
          <p:nvPr/>
        </p:nvSpPr>
        <p:spPr>
          <a:xfrm>
            <a:off x="7955280" y="1783080"/>
            <a:ext cx="1828800" cy="1234440"/>
          </a:xfrm>
          <a:prstGeom prst="rect">
            <a:avLst/>
          </a:prstGeom>
          <a:noFill/>
          <a:ln/>
        </p:spPr>
        <p:txBody>
          <a:bodyPr wrap="square" lIns="0" tIns="0" rIns="0" bIns="0" rtlCol="0" anchor="ctr"/>
          <a:lstStyle/>
          <a:p>
            <a:pPr indent="0" marL="0">
              <a:buNone/>
            </a:pPr>
            <a:r>
              <a:rPr lang="en-US" sz="3400" b="1" dirty="0">
                <a:solidFill>
                  <a:schemeClr val="bg1"/>
                </a:solidFill>
              </a:rPr>
              <a:t>96.7%</a:t>
            </a:r>
            <a:endParaRPr lang="en-US" sz="3400" dirty="0"/>
          </a:p>
        </p:txBody>
      </p:sp>
      <p:sp>
        <p:nvSpPr>
          <p:cNvPr id="8" name="Text 5"/>
          <p:cNvSpPr txBox="1"/>
          <p:nvPr/>
        </p:nvSpPr>
        <p:spPr>
          <a:xfrm>
            <a:off x="9738360" y="2057400"/>
            <a:ext cx="1721815" cy="320040"/>
          </a:xfrm>
          <a:prstGeom prst="rect">
            <a:avLst/>
          </a:prstGeom>
          <a:noFill/>
          <a:ln/>
        </p:spPr>
        <p:txBody>
          <a:bodyPr wrap="square" lIns="0" tIns="0" rIns="0" bIns="0" rtlCol="0" anchor="t"/>
          <a:lstStyle/>
          <a:p>
            <a:pPr indent="0" marL="0">
              <a:buNone/>
            </a:pPr>
            <a:r>
              <a:rPr lang="en-US" sz="1500" b="1" dirty="0">
                <a:solidFill>
                  <a:schemeClr val="bg1"/>
                </a:solidFill>
              </a:rPr>
              <a:t>Recall@5</a:t>
            </a:r>
            <a:endParaRPr lang="en-US" sz="1500" dirty="0"/>
          </a:p>
        </p:txBody>
      </p:sp>
      <p:sp>
        <p:nvSpPr>
          <p:cNvPr id="9" name="Text 6"/>
          <p:cNvSpPr txBox="1"/>
          <p:nvPr/>
        </p:nvSpPr>
        <p:spPr>
          <a:xfrm>
            <a:off x="9738360" y="2441448"/>
            <a:ext cx="1721815" cy="457200"/>
          </a:xfrm>
          <a:prstGeom prst="rect">
            <a:avLst/>
          </a:prstGeom>
          <a:noFill/>
          <a:ln/>
        </p:spPr>
        <p:txBody>
          <a:bodyPr wrap="square" lIns="0" tIns="0" rIns="0" bIns="0" rtlCol="0" anchor="t"/>
          <a:lstStyle/>
          <a:p>
            <a:pPr indent="0" marL="0">
              <a:buNone/>
            </a:pPr>
            <a:r>
              <a:rPr lang="en-US" sz="1200" dirty="0">
                <a:solidFill>
                  <a:schemeClr val="accent6"/>
                </a:solidFill>
              </a:rPr>
              <a:t>계획서 목표 70% 이상</a:t>
            </a:r>
            <a:endParaRPr lang="en-US" sz="1200" dirty="0"/>
          </a:p>
        </p:txBody>
      </p:sp>
      <p:sp>
        <p:nvSpPr>
          <p:cNvPr id="10" name="KPI MRR"/>
          <p:cNvSpPr/>
          <p:nvPr/>
        </p:nvSpPr>
        <p:spPr>
          <a:xfrm>
            <a:off x="7680960" y="3154680"/>
            <a:ext cx="3962095" cy="1234440"/>
          </a:xfrm>
          <a:prstGeom prst="roundRect">
            <a:avLst>
              <a:gd name="adj" fmla="val 1185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1" name="Text 8"/>
          <p:cNvSpPr txBox="1"/>
          <p:nvPr/>
        </p:nvSpPr>
        <p:spPr>
          <a:xfrm>
            <a:off x="7955280" y="3154680"/>
            <a:ext cx="1828800" cy="1234440"/>
          </a:xfrm>
          <a:prstGeom prst="rect">
            <a:avLst/>
          </a:prstGeom>
          <a:noFill/>
          <a:ln/>
        </p:spPr>
        <p:txBody>
          <a:bodyPr wrap="square" lIns="0" tIns="0" rIns="0" bIns="0" rtlCol="0" anchor="ctr"/>
          <a:lstStyle/>
          <a:p>
            <a:pPr indent="0" marL="0">
              <a:buNone/>
            </a:pPr>
            <a:r>
              <a:rPr lang="en-US" sz="3400" b="1" dirty="0">
                <a:solidFill>
                  <a:schemeClr val="tx1"/>
                </a:solidFill>
              </a:rPr>
              <a:t>0.855</a:t>
            </a:r>
            <a:endParaRPr lang="en-US" sz="3400" dirty="0"/>
          </a:p>
        </p:txBody>
      </p:sp>
      <p:sp>
        <p:nvSpPr>
          <p:cNvPr id="12" name="Text 9"/>
          <p:cNvSpPr txBox="1"/>
          <p:nvPr/>
        </p:nvSpPr>
        <p:spPr>
          <a:xfrm>
            <a:off x="9738360" y="3429000"/>
            <a:ext cx="1721815" cy="320040"/>
          </a:xfrm>
          <a:prstGeom prst="rect">
            <a:avLst/>
          </a:prstGeom>
          <a:noFill/>
          <a:ln/>
        </p:spPr>
        <p:txBody>
          <a:bodyPr wrap="square" lIns="0" tIns="0" rIns="0" bIns="0" rtlCol="0" anchor="t"/>
          <a:lstStyle/>
          <a:p>
            <a:pPr indent="0" marL="0">
              <a:buNone/>
            </a:pPr>
            <a:r>
              <a:rPr lang="en-US" sz="1500" b="1" dirty="0">
                <a:solidFill>
                  <a:schemeClr val="tx1"/>
                </a:solidFill>
              </a:rPr>
              <a:t>MRR</a:t>
            </a:r>
            <a:endParaRPr lang="en-US" sz="1500" dirty="0"/>
          </a:p>
        </p:txBody>
      </p:sp>
      <p:sp>
        <p:nvSpPr>
          <p:cNvPr id="13" name="Text 10"/>
          <p:cNvSpPr txBox="1"/>
          <p:nvPr/>
        </p:nvSpPr>
        <p:spPr>
          <a:xfrm>
            <a:off x="9738360" y="3813048"/>
            <a:ext cx="1721815" cy="457200"/>
          </a:xfrm>
          <a:prstGeom prst="rect">
            <a:avLst/>
          </a:prstGeom>
          <a:noFill/>
          <a:ln/>
        </p:spPr>
        <p:txBody>
          <a:bodyPr wrap="square" lIns="0" tIns="0" rIns="0" bIns="0" rtlCol="0" anchor="t"/>
          <a:lstStyle/>
          <a:p>
            <a:pPr indent="0" marL="0">
              <a:buNone/>
            </a:pPr>
            <a:r>
              <a:rPr lang="en-US" sz="1200" dirty="0">
                <a:solidFill>
                  <a:schemeClr val="tx2"/>
                </a:solidFill>
              </a:rPr>
              <a:t>계획서 목표 0.55 이상</a:t>
            </a:r>
            <a:endParaRPr lang="en-US" sz="1200" dirty="0"/>
          </a:p>
        </p:txBody>
      </p:sp>
      <p:sp>
        <p:nvSpPr>
          <p:cNvPr id="14" name="KPI 1위 적중"/>
          <p:cNvSpPr/>
          <p:nvPr/>
        </p:nvSpPr>
        <p:spPr>
          <a:xfrm>
            <a:off x="7680960" y="4526280"/>
            <a:ext cx="3962095" cy="1234440"/>
          </a:xfrm>
          <a:prstGeom prst="roundRect">
            <a:avLst>
              <a:gd name="adj" fmla="val 11852"/>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5" name="Text 12"/>
          <p:cNvSpPr txBox="1"/>
          <p:nvPr/>
        </p:nvSpPr>
        <p:spPr>
          <a:xfrm>
            <a:off x="7955280" y="4526280"/>
            <a:ext cx="1828800" cy="1234440"/>
          </a:xfrm>
          <a:prstGeom prst="rect">
            <a:avLst/>
          </a:prstGeom>
          <a:noFill/>
          <a:ln/>
        </p:spPr>
        <p:txBody>
          <a:bodyPr wrap="square" lIns="0" tIns="0" rIns="0" bIns="0" rtlCol="0" anchor="ctr"/>
          <a:lstStyle/>
          <a:p>
            <a:pPr indent="0" marL="0">
              <a:buNone/>
            </a:pPr>
            <a:r>
              <a:rPr lang="en-US" sz="3400" b="1" dirty="0">
                <a:solidFill>
                  <a:schemeClr val="tx1"/>
                </a:solidFill>
              </a:rPr>
              <a:t>76.0%</a:t>
            </a:r>
            <a:endParaRPr lang="en-US" sz="3400" dirty="0"/>
          </a:p>
        </p:txBody>
      </p:sp>
      <p:sp>
        <p:nvSpPr>
          <p:cNvPr id="16" name="Text 13"/>
          <p:cNvSpPr txBox="1"/>
          <p:nvPr/>
        </p:nvSpPr>
        <p:spPr>
          <a:xfrm>
            <a:off x="9738360" y="4800600"/>
            <a:ext cx="1721815" cy="320040"/>
          </a:xfrm>
          <a:prstGeom prst="rect">
            <a:avLst/>
          </a:prstGeom>
          <a:noFill/>
          <a:ln/>
        </p:spPr>
        <p:txBody>
          <a:bodyPr wrap="square" lIns="0" tIns="0" rIns="0" bIns="0" rtlCol="0" anchor="t"/>
          <a:lstStyle/>
          <a:p>
            <a:pPr indent="0" marL="0">
              <a:buNone/>
            </a:pPr>
            <a:r>
              <a:rPr lang="en-US" sz="1500" b="1" dirty="0">
                <a:solidFill>
                  <a:schemeClr val="tx1"/>
                </a:solidFill>
              </a:rPr>
              <a:t>1위 적중</a:t>
            </a:r>
            <a:endParaRPr lang="en-US" sz="1500" dirty="0"/>
          </a:p>
        </p:txBody>
      </p:sp>
      <p:sp>
        <p:nvSpPr>
          <p:cNvPr id="17" name="Text 14"/>
          <p:cNvSpPr txBox="1"/>
          <p:nvPr/>
        </p:nvSpPr>
        <p:spPr>
          <a:xfrm>
            <a:off x="9738360" y="5184648"/>
            <a:ext cx="1721815" cy="457200"/>
          </a:xfrm>
          <a:prstGeom prst="rect">
            <a:avLst/>
          </a:prstGeom>
          <a:noFill/>
          <a:ln/>
        </p:spPr>
        <p:txBody>
          <a:bodyPr wrap="square" lIns="0" tIns="0" rIns="0" bIns="0" rtlCol="0" anchor="t"/>
          <a:lstStyle/>
          <a:p>
            <a:pPr indent="0" marL="0">
              <a:buNone/>
            </a:pPr>
            <a:r>
              <a:rPr lang="en-US" sz="1200" dirty="0">
                <a:solidFill>
                  <a:schemeClr val="tx2"/>
                </a:solidFill>
              </a:rPr>
              <a:t>필터 쓴 키워드 66.0%</a:t>
            </a:r>
            <a:endParaRPr lang="en-US" sz="1200" dirty="0"/>
          </a:p>
        </p:txBody>
      </p:sp>
      <p:sp>
        <p:nvSpPr>
          <p:cNvPr id="18" name="Text 15"/>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dirty="0">
                <a:solidFill>
                  <a:schemeClr val="tx2"/>
                </a:solidFill>
              </a:rPr>
              <a:t>자체 구축 검증셋 (정답쌍 60건 + 방해 습득물 600건, 5회 반복 평균) · 계획서 권장 100쌍 중 60쌍 · 실데이터 평가는 향후 과제</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구조는 단순하게, 구현 범위는 분명하게</a:t>
            </a:r>
            <a:endParaRPr lang="en-US" sz="3400" dirty="0"/>
          </a:p>
        </p:txBody>
      </p:sp>
      <p:sp>
        <p:nvSpPr>
          <p:cNvPr id="3" name="Arch 사용자"/>
          <p:cNvSpPr/>
          <p:nvPr/>
        </p:nvSpPr>
        <p:spPr>
          <a:xfrm>
            <a:off x="548640" y="1417320"/>
            <a:ext cx="2011680" cy="1005840"/>
          </a:xfrm>
          <a:prstGeom prst="roundRect">
            <a:avLst>
              <a:gd name="adj" fmla="val 14545"/>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Text 2"/>
          <p:cNvSpPr txBox="1"/>
          <p:nvPr/>
        </p:nvSpPr>
        <p:spPr>
          <a:xfrm>
            <a:off x="548640" y="1536192"/>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사용자</a:t>
            </a:r>
            <a:endParaRPr lang="en-US" sz="1600" dirty="0"/>
          </a:p>
        </p:txBody>
      </p:sp>
      <p:sp>
        <p:nvSpPr>
          <p:cNvPr id="5" name="Text 3"/>
          <p:cNvSpPr txBox="1"/>
          <p:nvPr/>
        </p:nvSpPr>
        <p:spPr>
          <a:xfrm>
            <a:off x="640080" y="1901952"/>
            <a:ext cx="1828800" cy="457200"/>
          </a:xfrm>
          <a:prstGeom prst="rect">
            <a:avLst/>
          </a:prstGeom>
          <a:noFill/>
          <a:ln/>
        </p:spPr>
        <p:txBody>
          <a:bodyPr wrap="square" lIns="0" tIns="0" rIns="0" bIns="0" rtlCol="0" anchor="t"/>
          <a:lstStyle/>
          <a:p>
            <a:pPr algn="ctr" indent="0" marL="0">
              <a:buNone/>
            </a:pPr>
            <a:r>
              <a:rPr lang="en-US" sz="1100" dirty="0">
                <a:solidFill>
                  <a:schemeClr val="tx2"/>
                </a:solidFill>
              </a:rPr>
              <a:t>브라우저</a:t>
            </a:r>
            <a:endParaRPr lang="en-US" sz="1100" dirty="0"/>
          </a:p>
        </p:txBody>
      </p:sp>
      <p:sp>
        <p:nvSpPr>
          <p:cNvPr id="6" name="Text 4"/>
          <p:cNvSpPr txBox="1"/>
          <p:nvPr/>
        </p:nvSpPr>
        <p:spPr>
          <a:xfrm>
            <a:off x="2560320" y="1508760"/>
            <a:ext cx="406298" cy="7315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7" name="Arch CloudFront"/>
          <p:cNvSpPr/>
          <p:nvPr/>
        </p:nvSpPr>
        <p:spPr>
          <a:xfrm>
            <a:off x="2966618" y="1417320"/>
            <a:ext cx="2468880" cy="1005840"/>
          </a:xfrm>
          <a:prstGeom prst="roundRect">
            <a:avLst>
              <a:gd name="adj" fmla="val 14545"/>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8" name="Text 6"/>
          <p:cNvSpPr txBox="1"/>
          <p:nvPr/>
        </p:nvSpPr>
        <p:spPr>
          <a:xfrm>
            <a:off x="2966618" y="1536192"/>
            <a:ext cx="2468880" cy="320040"/>
          </a:xfrm>
          <a:prstGeom prst="rect">
            <a:avLst/>
          </a:prstGeom>
          <a:noFill/>
          <a:ln/>
        </p:spPr>
        <p:txBody>
          <a:bodyPr wrap="square" lIns="0" tIns="0" rIns="0" bIns="0" rtlCol="0" anchor="t"/>
          <a:lstStyle/>
          <a:p>
            <a:pPr algn="ctr" indent="0" marL="0">
              <a:buNone/>
            </a:pPr>
            <a:r>
              <a:rPr lang="en-US" sz="1600" b="1" dirty="0">
                <a:solidFill>
                  <a:schemeClr val="tx1"/>
                </a:solidFill>
              </a:rPr>
              <a:t>CloudFront</a:t>
            </a:r>
            <a:endParaRPr lang="en-US" sz="1600" dirty="0"/>
          </a:p>
        </p:txBody>
      </p:sp>
      <p:sp>
        <p:nvSpPr>
          <p:cNvPr id="9" name="Text 7"/>
          <p:cNvSpPr txBox="1"/>
          <p:nvPr/>
        </p:nvSpPr>
        <p:spPr>
          <a:xfrm>
            <a:off x="3058058" y="1901952"/>
            <a:ext cx="2286000" cy="457200"/>
          </a:xfrm>
          <a:prstGeom prst="rect">
            <a:avLst/>
          </a:prstGeom>
          <a:noFill/>
          <a:ln/>
        </p:spPr>
        <p:txBody>
          <a:bodyPr wrap="square" lIns="0" tIns="0" rIns="0" bIns="0" rtlCol="0" anchor="t"/>
          <a:lstStyle/>
          <a:p>
            <a:pPr algn="ctr" indent="0" marL="0">
              <a:buNone/>
            </a:pPr>
            <a:r>
              <a:rPr lang="en-US" sz="1100" dirty="0">
                <a:solidFill>
                  <a:schemeClr val="tx2"/>
                </a:solidFill>
              </a:rPr>
              <a:t>HTTPS · 이미지 S3</a:t>
            </a:r>
            <a:endParaRPr lang="en-US" sz="1100" dirty="0"/>
          </a:p>
        </p:txBody>
      </p:sp>
      <p:sp>
        <p:nvSpPr>
          <p:cNvPr id="10" name="Text 8"/>
          <p:cNvSpPr txBox="1"/>
          <p:nvPr/>
        </p:nvSpPr>
        <p:spPr>
          <a:xfrm>
            <a:off x="5435498" y="1508760"/>
            <a:ext cx="406298" cy="7315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1" name="Arch EC2 (Docker)"/>
          <p:cNvSpPr/>
          <p:nvPr/>
        </p:nvSpPr>
        <p:spPr>
          <a:xfrm>
            <a:off x="5841797" y="1417320"/>
            <a:ext cx="3383280" cy="1005840"/>
          </a:xfrm>
          <a:prstGeom prst="roundRect">
            <a:avLst>
              <a:gd name="adj" fmla="val 14545"/>
            </a:avLst>
          </a:prstGeom>
          <a:solidFill>
            <a:schemeClr val="tx1"/>
          </a:solidFill>
          <a:ln w="12700">
            <a:solidFill>
              <a:schemeClr val="tx1"/>
            </a:solidFill>
            <a:prstDash val="solid"/>
          </a:ln>
        </p:spPr>
      </p:sp>
      <p:sp>
        <p:nvSpPr>
          <p:cNvPr id="12" name="Text 10"/>
          <p:cNvSpPr txBox="1"/>
          <p:nvPr/>
        </p:nvSpPr>
        <p:spPr>
          <a:xfrm>
            <a:off x="5841797" y="1536192"/>
            <a:ext cx="3383280" cy="320040"/>
          </a:xfrm>
          <a:prstGeom prst="rect">
            <a:avLst/>
          </a:prstGeom>
          <a:noFill/>
          <a:ln/>
        </p:spPr>
        <p:txBody>
          <a:bodyPr wrap="square" lIns="0" tIns="0" rIns="0" bIns="0" rtlCol="0" anchor="t"/>
          <a:lstStyle/>
          <a:p>
            <a:pPr algn="ctr" indent="0" marL="0">
              <a:buNone/>
            </a:pPr>
            <a:r>
              <a:rPr lang="en-US" sz="1600" b="1" dirty="0">
                <a:solidFill>
                  <a:schemeClr val="bg1"/>
                </a:solidFill>
              </a:rPr>
              <a:t>EC2 (Docker)</a:t>
            </a:r>
            <a:endParaRPr lang="en-US" sz="1600" dirty="0"/>
          </a:p>
        </p:txBody>
      </p:sp>
      <p:sp>
        <p:nvSpPr>
          <p:cNvPr id="13" name="Text 11"/>
          <p:cNvSpPr txBox="1"/>
          <p:nvPr/>
        </p:nvSpPr>
        <p:spPr>
          <a:xfrm>
            <a:off x="5933237" y="1901952"/>
            <a:ext cx="3200400" cy="457200"/>
          </a:xfrm>
          <a:prstGeom prst="rect">
            <a:avLst/>
          </a:prstGeom>
          <a:noFill/>
          <a:ln/>
        </p:spPr>
        <p:txBody>
          <a:bodyPr wrap="square" lIns="0" tIns="0" rIns="0" bIns="0" rtlCol="0" anchor="t"/>
          <a:lstStyle/>
          <a:p>
            <a:pPr algn="ctr" indent="0" marL="0">
              <a:buNone/>
            </a:pPr>
            <a:r>
              <a:rPr lang="en-US" sz="1100" dirty="0">
                <a:solidFill>
                  <a:schemeClr val="accent6"/>
                </a:solidFill>
              </a:rPr>
              <a:t>Next.js · FastAPI · PostgreSQL</a:t>
            </a:r>
            <a:endParaRPr lang="en-US" sz="1100" dirty="0"/>
          </a:p>
          <a:p>
            <a:pPr algn="ctr" indent="0" marL="0">
              <a:buNone/>
            </a:pPr>
            <a:r>
              <a:rPr lang="en-US" sz="1100" dirty="0">
                <a:solidFill>
                  <a:schemeClr val="accent6"/>
                </a:solidFill>
              </a:rPr>
              <a:t>매일 04:00 수집 · 재매칭</a:t>
            </a:r>
            <a:endParaRPr lang="en-US" sz="1100" dirty="0"/>
          </a:p>
        </p:txBody>
      </p:sp>
      <p:sp>
        <p:nvSpPr>
          <p:cNvPr id="14" name="Text 12"/>
          <p:cNvSpPr txBox="1"/>
          <p:nvPr/>
        </p:nvSpPr>
        <p:spPr>
          <a:xfrm>
            <a:off x="9225077" y="1508760"/>
            <a:ext cx="406298" cy="73152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5" name="Arch LOST112"/>
          <p:cNvSpPr/>
          <p:nvPr/>
        </p:nvSpPr>
        <p:spPr>
          <a:xfrm>
            <a:off x="9631375" y="1417320"/>
            <a:ext cx="2011680" cy="1005840"/>
          </a:xfrm>
          <a:prstGeom prst="roundRect">
            <a:avLst>
              <a:gd name="adj" fmla="val 14545"/>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6" name="Text 14"/>
          <p:cNvSpPr txBox="1"/>
          <p:nvPr/>
        </p:nvSpPr>
        <p:spPr>
          <a:xfrm>
            <a:off x="9631375" y="1536192"/>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LOST112</a:t>
            </a:r>
            <a:endParaRPr lang="en-US" sz="1600" dirty="0"/>
          </a:p>
        </p:txBody>
      </p:sp>
      <p:sp>
        <p:nvSpPr>
          <p:cNvPr id="17" name="Text 15"/>
          <p:cNvSpPr txBox="1"/>
          <p:nvPr/>
        </p:nvSpPr>
        <p:spPr>
          <a:xfrm>
            <a:off x="9722815" y="1901952"/>
            <a:ext cx="1828800" cy="457200"/>
          </a:xfrm>
          <a:prstGeom prst="rect">
            <a:avLst/>
          </a:prstGeom>
          <a:noFill/>
          <a:ln/>
        </p:spPr>
        <p:txBody>
          <a:bodyPr wrap="square" lIns="0" tIns="0" rIns="0" bIns="0" rtlCol="0" anchor="t"/>
          <a:lstStyle/>
          <a:p>
            <a:pPr algn="ctr" indent="0" marL="0">
              <a:buNone/>
            </a:pPr>
            <a:r>
              <a:rPr lang="en-US" sz="1100" dirty="0">
                <a:solidFill>
                  <a:schemeClr val="tx2"/>
                </a:solidFill>
              </a:rPr>
              <a:t>경찰청 공공데이터</a:t>
            </a:r>
            <a:endParaRPr lang="en-US" sz="1100" dirty="0"/>
          </a:p>
        </p:txBody>
      </p:sp>
      <p:sp>
        <p:nvSpPr>
          <p:cNvPr id="18" name="Scope 구현 완료"/>
          <p:cNvSpPr/>
          <p:nvPr/>
        </p:nvSpPr>
        <p:spPr>
          <a:xfrm>
            <a:off x="548640" y="2697480"/>
            <a:ext cx="3515258" cy="3337560"/>
          </a:xfrm>
          <a:prstGeom prst="roundRect">
            <a:avLst>
              <a:gd name="adj" fmla="val 4384"/>
            </a:avLst>
          </a:prstGeom>
          <a:solidFill>
            <a:schemeClr val="tx1"/>
          </a:solidFill>
          <a:ln w="12700">
            <a:solidFill>
              <a:schemeClr val="tx1"/>
            </a:solidFill>
            <a:prstDash val="solid"/>
          </a:ln>
        </p:spPr>
      </p:sp>
      <p:sp>
        <p:nvSpPr>
          <p:cNvPr id="19" name="Text 17"/>
          <p:cNvSpPr txBox="1"/>
          <p:nvPr/>
        </p:nvSpPr>
        <p:spPr>
          <a:xfrm>
            <a:off x="822960" y="2898648"/>
            <a:ext cx="2966618" cy="365760"/>
          </a:xfrm>
          <a:prstGeom prst="rect">
            <a:avLst/>
          </a:prstGeom>
          <a:noFill/>
          <a:ln/>
        </p:spPr>
        <p:txBody>
          <a:bodyPr wrap="square" lIns="0" tIns="0" rIns="0" bIns="0" rtlCol="0" anchor="t"/>
          <a:lstStyle/>
          <a:p>
            <a:pPr indent="0" marL="0">
              <a:buNone/>
            </a:pPr>
            <a:r>
              <a:rPr lang="en-US" sz="1800" b="1" dirty="0">
                <a:solidFill>
                  <a:schemeClr val="bg1"/>
                </a:solidFill>
              </a:rPr>
              <a:t>구현 완료</a:t>
            </a:r>
            <a:endParaRPr lang="en-US" sz="1800" dirty="0"/>
          </a:p>
        </p:txBody>
      </p:sp>
      <p:sp>
        <p:nvSpPr>
          <p:cNvPr id="20" name="Text 18"/>
          <p:cNvSpPr txBox="1"/>
          <p:nvPr/>
        </p:nvSpPr>
        <p:spPr>
          <a:xfrm>
            <a:off x="822960" y="3282696"/>
            <a:ext cx="2966618" cy="274320"/>
          </a:xfrm>
          <a:prstGeom prst="rect">
            <a:avLst/>
          </a:prstGeom>
          <a:noFill/>
          <a:ln/>
        </p:spPr>
        <p:txBody>
          <a:bodyPr wrap="square" lIns="0" tIns="0" rIns="0" bIns="0" rtlCol="0" anchor="t"/>
          <a:lstStyle/>
          <a:p>
            <a:pPr indent="0" marL="0">
              <a:buNone/>
            </a:pPr>
            <a:r>
              <a:rPr lang="en-US" sz="1100" dirty="0">
                <a:solidFill>
                  <a:schemeClr val="accent6"/>
                </a:solidFill>
              </a:rPr>
              <a:t>팀 설명 기준</a:t>
            </a:r>
            <a:endParaRPr lang="en-US" sz="1100" dirty="0"/>
          </a:p>
        </p:txBody>
      </p:sp>
      <p:sp>
        <p:nvSpPr>
          <p:cNvPr id="21" name="Scope list 구현 완료"/>
          <p:cNvSpPr txBox="1"/>
          <p:nvPr/>
        </p:nvSpPr>
        <p:spPr>
          <a:xfrm>
            <a:off x="822960" y="3703320"/>
            <a:ext cx="2966618"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4단계 분실물 등록</a:t>
            </a:r>
            <a:endParaRPr lang="en-US" sz="1400" dirty="0"/>
          </a:p>
          <a:p>
            <a:pPr marL="342900" indent="-342900">
              <a:spcAft>
                <a:spcPts val="600"/>
              </a:spcAft>
              <a:buSzPct val="100000"/>
              <a:buChar char="•"/>
            </a:pPr>
            <a:r>
              <a:rPr lang="en-US" sz="1400" dirty="0">
                <a:solidFill>
                  <a:schemeClr val="bg1"/>
                </a:solidFill>
              </a:rPr>
              <a:t>TOP 5 후보와 항목별 근거</a:t>
            </a:r>
            <a:endParaRPr lang="en-US" sz="1400" dirty="0"/>
          </a:p>
          <a:p>
            <a:pPr marL="342900" indent="-342900">
              <a:spcAft>
                <a:spcPts val="600"/>
              </a:spcAft>
              <a:buSzPct val="100000"/>
              <a:buChar char="•"/>
            </a:pPr>
            <a:r>
              <a:rPr lang="en-US" sz="1400" dirty="0">
                <a:solidFill>
                  <a:schemeClr val="bg1"/>
                </a:solidFill>
              </a:rPr>
              <a:t>매일 04:00 수집 · 재매칭 · 알림</a:t>
            </a:r>
            <a:endParaRPr lang="en-US" sz="1400" dirty="0"/>
          </a:p>
          <a:p>
            <a:pPr marL="342900" indent="-342900">
              <a:spcAft>
                <a:spcPts val="600"/>
              </a:spcAft>
              <a:buSzPct val="100000"/>
              <a:buChar char="•"/>
            </a:pPr>
            <a:r>
              <a:rPr lang="en-US" sz="1400" dirty="0">
                <a:solidFill>
                  <a:schemeClr val="bg1"/>
                </a:solidFill>
              </a:rPr>
              <a:t>라이트/다크 · 모바일 화면</a:t>
            </a:r>
            <a:endParaRPr lang="en-US" sz="1400" dirty="0"/>
          </a:p>
          <a:p>
            <a:pPr marL="342900" indent="-342900">
              <a:spcAft>
                <a:spcPts val="600"/>
              </a:spcAft>
              <a:buSzPct val="100000"/>
              <a:buChar char="•"/>
            </a:pPr>
            <a:r>
              <a:rPr lang="en-US" sz="1400" dirty="0">
                <a:solidFill>
                  <a:schemeClr val="bg1"/>
                </a:solidFill>
              </a:rPr>
              <a:t>테스트 23개 · 자동 배포</a:t>
            </a:r>
            <a:endParaRPr lang="en-US" sz="1400" dirty="0"/>
          </a:p>
        </p:txBody>
      </p:sp>
      <p:sp>
        <p:nvSpPr>
          <p:cNvPr id="22" name="Scope 보강 과제"/>
          <p:cNvSpPr/>
          <p:nvPr/>
        </p:nvSpPr>
        <p:spPr>
          <a:xfrm>
            <a:off x="4338218" y="2697480"/>
            <a:ext cx="3515258" cy="3337560"/>
          </a:xfrm>
          <a:prstGeom prst="roundRect">
            <a:avLst>
              <a:gd name="adj" fmla="val 4384"/>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3" name="Text 21"/>
          <p:cNvSpPr txBox="1"/>
          <p:nvPr/>
        </p:nvSpPr>
        <p:spPr>
          <a:xfrm>
            <a:off x="4612538" y="2898648"/>
            <a:ext cx="2966618" cy="365760"/>
          </a:xfrm>
          <a:prstGeom prst="rect">
            <a:avLst/>
          </a:prstGeom>
          <a:noFill/>
          <a:ln/>
        </p:spPr>
        <p:txBody>
          <a:bodyPr wrap="square" lIns="0" tIns="0" rIns="0" bIns="0" rtlCol="0" anchor="t"/>
          <a:lstStyle/>
          <a:p>
            <a:pPr indent="0" marL="0">
              <a:buNone/>
            </a:pPr>
            <a:r>
              <a:rPr lang="en-US" sz="1800" b="1" dirty="0">
                <a:solidFill>
                  <a:schemeClr val="tx1"/>
                </a:solidFill>
              </a:rPr>
              <a:t>보강 과제</a:t>
            </a:r>
            <a:endParaRPr lang="en-US" sz="1800" dirty="0"/>
          </a:p>
        </p:txBody>
      </p:sp>
      <p:sp>
        <p:nvSpPr>
          <p:cNvPr id="24" name="Text 22"/>
          <p:cNvSpPr txBox="1"/>
          <p:nvPr/>
        </p:nvSpPr>
        <p:spPr>
          <a:xfrm>
            <a:off x="4612538" y="3282696"/>
            <a:ext cx="2966618" cy="274320"/>
          </a:xfrm>
          <a:prstGeom prst="rect">
            <a:avLst/>
          </a:prstGeom>
          <a:noFill/>
          <a:ln/>
        </p:spPr>
        <p:txBody>
          <a:bodyPr wrap="square" lIns="0" tIns="0" rIns="0" bIns="0" rtlCol="0" anchor="t"/>
          <a:lstStyle/>
          <a:p>
            <a:pPr indent="0" marL="0">
              <a:buNone/>
            </a:pPr>
            <a:r>
              <a:rPr lang="en-US" sz="1100" dirty="0">
                <a:solidFill>
                  <a:schemeClr val="tx2"/>
                </a:solidFill>
              </a:rPr>
              <a:t>검증으로 확인된 것</a:t>
            </a:r>
            <a:endParaRPr lang="en-US" sz="1100" dirty="0"/>
          </a:p>
        </p:txBody>
      </p:sp>
      <p:sp>
        <p:nvSpPr>
          <p:cNvPr id="25" name="Scope list 보강 과제"/>
          <p:cNvSpPr txBox="1"/>
          <p:nvPr/>
        </p:nvSpPr>
        <p:spPr>
          <a:xfrm>
            <a:off x="4612538" y="3703320"/>
            <a:ext cx="2966618"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가중치: 민감도 분석 완료, 실데이터 검증 필요</a:t>
            </a:r>
            <a:endParaRPr lang="en-US" sz="1400" dirty="0"/>
          </a:p>
          <a:p>
            <a:pPr marL="342900" indent="-342900">
              <a:spcAft>
                <a:spcPts val="600"/>
              </a:spcAft>
              <a:buSzPct val="100000"/>
              <a:buChar char="•"/>
            </a:pPr>
            <a:r>
              <a:rPr lang="en-US" sz="1400" dirty="0">
                <a:solidFill>
                  <a:schemeClr val="tx1"/>
                </a:solidFill>
              </a:rPr>
              <a:t>입력 누락 시 안정성 (색상 비움 71.7%)</a:t>
            </a:r>
            <a:endParaRPr lang="en-US" sz="1400" dirty="0"/>
          </a:p>
          <a:p>
            <a:pPr marL="342900" indent="-342900">
              <a:spcAft>
                <a:spcPts val="600"/>
              </a:spcAft>
              <a:buSzPct val="100000"/>
              <a:buChar char="•"/>
            </a:pPr>
            <a:r>
              <a:rPr lang="en-US" sz="1400" dirty="0">
                <a:solidFill>
                  <a:schemeClr val="tx1"/>
                </a:solidFill>
              </a:rPr>
              <a:t>흔한 물건의 알림 과다 방지</a:t>
            </a:r>
            <a:endParaRPr lang="en-US" sz="1400" dirty="0"/>
          </a:p>
          <a:p>
            <a:pPr marL="342900" indent="-342900">
              <a:spcAft>
                <a:spcPts val="600"/>
              </a:spcAft>
              <a:buSzPct val="100000"/>
              <a:buChar char="•"/>
            </a:pPr>
            <a:r>
              <a:rPr lang="en-US" sz="1400" dirty="0">
                <a:solidFill>
                  <a:schemeClr val="tx1"/>
                </a:solidFill>
              </a:rPr>
              <a:t>후보 카드에서 원본 게시처 링크 연결</a:t>
            </a:r>
            <a:endParaRPr lang="en-US" sz="1400" dirty="0"/>
          </a:p>
        </p:txBody>
      </p:sp>
      <p:sp>
        <p:nvSpPr>
          <p:cNvPr id="26" name="Scope 향후 확장"/>
          <p:cNvSpPr/>
          <p:nvPr/>
        </p:nvSpPr>
        <p:spPr>
          <a:xfrm>
            <a:off x="8127797" y="2697480"/>
            <a:ext cx="3515258" cy="3337560"/>
          </a:xfrm>
          <a:prstGeom prst="roundRect">
            <a:avLst>
              <a:gd name="adj" fmla="val 4384"/>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7" name="Text 25"/>
          <p:cNvSpPr txBox="1"/>
          <p:nvPr/>
        </p:nvSpPr>
        <p:spPr>
          <a:xfrm>
            <a:off x="8402117" y="2898648"/>
            <a:ext cx="2966618" cy="365760"/>
          </a:xfrm>
          <a:prstGeom prst="rect">
            <a:avLst/>
          </a:prstGeom>
          <a:noFill/>
          <a:ln/>
        </p:spPr>
        <p:txBody>
          <a:bodyPr wrap="square" lIns="0" tIns="0" rIns="0" bIns="0" rtlCol="0" anchor="t"/>
          <a:lstStyle/>
          <a:p>
            <a:pPr indent="0" marL="0">
              <a:buNone/>
            </a:pPr>
            <a:r>
              <a:rPr lang="en-US" sz="1800" b="1" dirty="0">
                <a:solidFill>
                  <a:schemeClr val="tx1"/>
                </a:solidFill>
              </a:rPr>
              <a:t>향후 확장</a:t>
            </a:r>
            <a:endParaRPr lang="en-US" sz="1800" dirty="0"/>
          </a:p>
        </p:txBody>
      </p:sp>
      <p:sp>
        <p:nvSpPr>
          <p:cNvPr id="28" name="Text 26"/>
          <p:cNvSpPr txBox="1"/>
          <p:nvPr/>
        </p:nvSpPr>
        <p:spPr>
          <a:xfrm>
            <a:off x="8402117" y="3282696"/>
            <a:ext cx="2966618" cy="274320"/>
          </a:xfrm>
          <a:prstGeom prst="rect">
            <a:avLst/>
          </a:prstGeom>
          <a:noFill/>
          <a:ln/>
        </p:spPr>
        <p:txBody>
          <a:bodyPr wrap="square" lIns="0" tIns="0" rIns="0" bIns="0" rtlCol="0" anchor="t"/>
          <a:lstStyle/>
          <a:p>
            <a:pPr indent="0" marL="0">
              <a:buNone/>
            </a:pPr>
            <a:r>
              <a:rPr lang="en-US" sz="1100" dirty="0">
                <a:solidFill>
                  <a:schemeClr val="tx2"/>
                </a:solidFill>
              </a:rPr>
              <a:t>현재 범위 밖</a:t>
            </a:r>
            <a:endParaRPr lang="en-US" sz="1100" dirty="0"/>
          </a:p>
        </p:txBody>
      </p:sp>
      <p:sp>
        <p:nvSpPr>
          <p:cNvPr id="29" name="Scope list 향후 확장"/>
          <p:cNvSpPr txBox="1"/>
          <p:nvPr/>
        </p:nvSpPr>
        <p:spPr>
          <a:xfrm>
            <a:off x="8402117" y="3703320"/>
            <a:ext cx="2966618"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사진 유사도 (CLIP)</a:t>
            </a:r>
            <a:endParaRPr lang="en-US" sz="1400" dirty="0"/>
          </a:p>
          <a:p>
            <a:pPr marL="342900" indent="-342900">
              <a:spcAft>
                <a:spcPts val="600"/>
              </a:spcAft>
              <a:buSzPct val="100000"/>
              <a:buChar char="•"/>
            </a:pPr>
            <a:r>
              <a:rPr lang="en-US" sz="1400" dirty="0">
                <a:solidFill>
                  <a:schemeClr val="tx1"/>
                </a:solidFill>
              </a:rPr>
              <a:t>이메일 알림 운영 연동</a:t>
            </a:r>
            <a:endParaRPr lang="en-US" sz="1400" dirty="0"/>
          </a:p>
          <a:p>
            <a:pPr marL="342900" indent="-342900">
              <a:spcAft>
                <a:spcPts val="600"/>
              </a:spcAft>
              <a:buSzPct val="100000"/>
              <a:buChar char="•"/>
            </a:pPr>
            <a:r>
              <a:rPr lang="en-US" sz="1400" dirty="0">
                <a:solidFill>
                  <a:schemeClr val="tx1"/>
                </a:solidFill>
              </a:rPr>
              <a:t>기관 습득물 직접 등록</a:t>
            </a:r>
            <a:endParaRPr lang="en-US" sz="1400" dirty="0"/>
          </a:p>
          <a:p>
            <a:pPr marL="342900" indent="-342900">
              <a:spcAft>
                <a:spcPts val="600"/>
              </a:spcAft>
              <a:buSzPct val="100000"/>
              <a:buChar char="•"/>
            </a:pPr>
            <a:r>
              <a:rPr lang="en-US" sz="1400" dirty="0">
                <a:solidFill>
                  <a:schemeClr val="tx1"/>
                </a:solidFill>
              </a:rPr>
              <a:t>중고거래 플랫폼 연동: API 검토 중, 현재 범위 제외</a:t>
            </a:r>
            <a:endParaRPr lang="en-US" sz="14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팀과 기대효과</a:t>
            </a:r>
            <a:endParaRPr lang="en-US" sz="3400" dirty="0"/>
          </a:p>
        </p:txBody>
      </p:sp>
      <p:sp>
        <p:nvSpPr>
          <p:cNvPr id="3" name="Role 1"/>
          <p:cNvSpPr/>
          <p:nvPr/>
        </p:nvSpPr>
        <p:spPr>
          <a:xfrm>
            <a:off x="548640" y="1463040"/>
            <a:ext cx="2567864" cy="1600200"/>
          </a:xfrm>
          <a:prstGeom prst="roundRect">
            <a:avLst>
              <a:gd name="adj" fmla="val 914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4" name="Step 1"/>
          <p:cNvSpPr/>
          <p:nvPr/>
        </p:nvSpPr>
        <p:spPr>
          <a:xfrm>
            <a:off x="777240" y="1645920"/>
            <a:ext cx="411480" cy="411480"/>
          </a:xfrm>
          <a:prstGeom prst="ellipse">
            <a:avLst/>
          </a:prstGeom>
          <a:solidFill>
            <a:schemeClr val="tx1"/>
          </a:solidFill>
          <a:ln w="12700">
            <a:solidFill>
              <a:schemeClr val="tx1"/>
            </a:solidFill>
            <a:prstDash val="solid"/>
          </a:ln>
        </p:spPr>
      </p:sp>
      <p:sp>
        <p:nvSpPr>
          <p:cNvPr id="5" name="Text 3"/>
          <p:cNvSpPr txBox="1"/>
          <p:nvPr/>
        </p:nvSpPr>
        <p:spPr>
          <a:xfrm>
            <a:off x="777240"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664208"/>
            <a:ext cx="1607744" cy="365760"/>
          </a:xfrm>
          <a:prstGeom prst="rect">
            <a:avLst/>
          </a:prstGeom>
          <a:noFill/>
          <a:ln/>
        </p:spPr>
        <p:txBody>
          <a:bodyPr wrap="square" lIns="0" tIns="0" rIns="0" bIns="0" rtlCol="0" anchor="ctr"/>
          <a:lstStyle/>
          <a:p>
            <a:pPr indent="0" marL="0">
              <a:buNone/>
            </a:pPr>
            <a:r>
              <a:rPr lang="en-US" sz="1800" b="1" dirty="0">
                <a:solidFill>
                  <a:schemeClr val="tx1"/>
                </a:solidFill>
              </a:rPr>
              <a:t>[이름]</a:t>
            </a:r>
            <a:endParaRPr lang="en-US" sz="1800" dirty="0"/>
          </a:p>
        </p:txBody>
      </p:sp>
      <p:sp>
        <p:nvSpPr>
          <p:cNvPr id="7" name="Text 5"/>
          <p:cNvSpPr txBox="1"/>
          <p:nvPr/>
        </p:nvSpPr>
        <p:spPr>
          <a:xfrm>
            <a:off x="777240" y="2240280"/>
            <a:ext cx="2110664" cy="320040"/>
          </a:xfrm>
          <a:prstGeom prst="rect">
            <a:avLst/>
          </a:prstGeom>
          <a:noFill/>
          <a:ln/>
        </p:spPr>
        <p:txBody>
          <a:bodyPr wrap="square" lIns="0" tIns="0" rIns="0" bIns="0" rtlCol="0" anchor="t"/>
          <a:lstStyle/>
          <a:p>
            <a:pPr indent="0" marL="0">
              <a:buNone/>
            </a:pPr>
            <a:r>
              <a:rPr lang="en-US" sz="1400" b="1" dirty="0">
                <a:solidFill>
                  <a:schemeClr val="tx2"/>
                </a:solidFill>
              </a:rPr>
              <a:t>[담당 영역]</a:t>
            </a:r>
            <a:endParaRPr lang="en-US" sz="1400" dirty="0"/>
          </a:p>
        </p:txBody>
      </p:sp>
      <p:sp>
        <p:nvSpPr>
          <p:cNvPr id="8" name="Text 6"/>
          <p:cNvSpPr txBox="1"/>
          <p:nvPr/>
        </p:nvSpPr>
        <p:spPr>
          <a:xfrm>
            <a:off x="777240" y="2606040"/>
            <a:ext cx="2110664" cy="320040"/>
          </a:xfrm>
          <a:prstGeom prst="rect">
            <a:avLst/>
          </a:prstGeom>
          <a:noFill/>
          <a:ln/>
        </p:spPr>
        <p:txBody>
          <a:bodyPr wrap="square" lIns="0" tIns="0" rIns="0" bIns="0" rtlCol="0" anchor="t"/>
          <a:lstStyle/>
          <a:p>
            <a:pPr indent="0" marL="0">
              <a:buNone/>
            </a:pPr>
            <a:r>
              <a:rPr lang="en-US" sz="1200" dirty="0">
                <a:solidFill>
                  <a:schemeClr val="tx2"/>
                </a:solidFill>
              </a:rPr>
              <a:t>[주요 기여 한 줄]</a:t>
            </a:r>
            <a:endParaRPr lang="en-US" sz="1200" dirty="0"/>
          </a:p>
        </p:txBody>
      </p:sp>
      <p:sp>
        <p:nvSpPr>
          <p:cNvPr id="9" name="Role 2"/>
          <p:cNvSpPr/>
          <p:nvPr/>
        </p:nvSpPr>
        <p:spPr>
          <a:xfrm>
            <a:off x="3390824" y="1463040"/>
            <a:ext cx="2567864" cy="1600200"/>
          </a:xfrm>
          <a:prstGeom prst="roundRect">
            <a:avLst>
              <a:gd name="adj" fmla="val 914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0" name="Step 2"/>
          <p:cNvSpPr/>
          <p:nvPr/>
        </p:nvSpPr>
        <p:spPr>
          <a:xfrm>
            <a:off x="3619424" y="1645920"/>
            <a:ext cx="411480" cy="411480"/>
          </a:xfrm>
          <a:prstGeom prst="ellipse">
            <a:avLst/>
          </a:prstGeom>
          <a:solidFill>
            <a:schemeClr val="tx1"/>
          </a:solidFill>
          <a:ln w="12700">
            <a:solidFill>
              <a:schemeClr val="tx1"/>
            </a:solidFill>
            <a:prstDash val="solid"/>
          </a:ln>
        </p:spPr>
      </p:sp>
      <p:sp>
        <p:nvSpPr>
          <p:cNvPr id="11" name="Text 9"/>
          <p:cNvSpPr txBox="1"/>
          <p:nvPr/>
        </p:nvSpPr>
        <p:spPr>
          <a:xfrm>
            <a:off x="3619424"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4168064" y="1664208"/>
            <a:ext cx="1607744" cy="365760"/>
          </a:xfrm>
          <a:prstGeom prst="rect">
            <a:avLst/>
          </a:prstGeom>
          <a:noFill/>
          <a:ln/>
        </p:spPr>
        <p:txBody>
          <a:bodyPr wrap="square" lIns="0" tIns="0" rIns="0" bIns="0" rtlCol="0" anchor="ctr"/>
          <a:lstStyle/>
          <a:p>
            <a:pPr indent="0" marL="0">
              <a:buNone/>
            </a:pPr>
            <a:r>
              <a:rPr lang="en-US" sz="1800" b="1" dirty="0">
                <a:solidFill>
                  <a:schemeClr val="tx1"/>
                </a:solidFill>
              </a:rPr>
              <a:t>[이름]</a:t>
            </a:r>
            <a:endParaRPr lang="en-US" sz="1800" dirty="0"/>
          </a:p>
        </p:txBody>
      </p:sp>
      <p:sp>
        <p:nvSpPr>
          <p:cNvPr id="13" name="Text 11"/>
          <p:cNvSpPr txBox="1"/>
          <p:nvPr/>
        </p:nvSpPr>
        <p:spPr>
          <a:xfrm>
            <a:off x="3619424" y="2240280"/>
            <a:ext cx="2110664" cy="320040"/>
          </a:xfrm>
          <a:prstGeom prst="rect">
            <a:avLst/>
          </a:prstGeom>
          <a:noFill/>
          <a:ln/>
        </p:spPr>
        <p:txBody>
          <a:bodyPr wrap="square" lIns="0" tIns="0" rIns="0" bIns="0" rtlCol="0" anchor="t"/>
          <a:lstStyle/>
          <a:p>
            <a:pPr indent="0" marL="0">
              <a:buNone/>
            </a:pPr>
            <a:r>
              <a:rPr lang="en-US" sz="1400" b="1" dirty="0">
                <a:solidFill>
                  <a:schemeClr val="tx2"/>
                </a:solidFill>
              </a:rPr>
              <a:t>[담당 영역]</a:t>
            </a:r>
            <a:endParaRPr lang="en-US" sz="1400" dirty="0"/>
          </a:p>
        </p:txBody>
      </p:sp>
      <p:sp>
        <p:nvSpPr>
          <p:cNvPr id="14" name="Text 12"/>
          <p:cNvSpPr txBox="1"/>
          <p:nvPr/>
        </p:nvSpPr>
        <p:spPr>
          <a:xfrm>
            <a:off x="3619424" y="2606040"/>
            <a:ext cx="2110664" cy="320040"/>
          </a:xfrm>
          <a:prstGeom prst="rect">
            <a:avLst/>
          </a:prstGeom>
          <a:noFill/>
          <a:ln/>
        </p:spPr>
        <p:txBody>
          <a:bodyPr wrap="square" lIns="0" tIns="0" rIns="0" bIns="0" rtlCol="0" anchor="t"/>
          <a:lstStyle/>
          <a:p>
            <a:pPr indent="0" marL="0">
              <a:buNone/>
            </a:pPr>
            <a:r>
              <a:rPr lang="en-US" sz="1200" dirty="0">
                <a:solidFill>
                  <a:schemeClr val="tx2"/>
                </a:solidFill>
              </a:rPr>
              <a:t>[주요 기여 한 줄]</a:t>
            </a:r>
            <a:endParaRPr lang="en-US" sz="1200" dirty="0"/>
          </a:p>
        </p:txBody>
      </p:sp>
      <p:sp>
        <p:nvSpPr>
          <p:cNvPr id="15" name="Role 3"/>
          <p:cNvSpPr/>
          <p:nvPr/>
        </p:nvSpPr>
        <p:spPr>
          <a:xfrm>
            <a:off x="6233008" y="1463040"/>
            <a:ext cx="2567864" cy="1600200"/>
          </a:xfrm>
          <a:prstGeom prst="roundRect">
            <a:avLst>
              <a:gd name="adj" fmla="val 914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16" name="Step 3"/>
          <p:cNvSpPr/>
          <p:nvPr/>
        </p:nvSpPr>
        <p:spPr>
          <a:xfrm>
            <a:off x="6461608" y="1645920"/>
            <a:ext cx="411480" cy="411480"/>
          </a:xfrm>
          <a:prstGeom prst="ellipse">
            <a:avLst/>
          </a:prstGeom>
          <a:solidFill>
            <a:schemeClr val="tx1"/>
          </a:solidFill>
          <a:ln w="12700">
            <a:solidFill>
              <a:schemeClr val="tx1"/>
            </a:solidFill>
            <a:prstDash val="solid"/>
          </a:ln>
        </p:spPr>
      </p:sp>
      <p:sp>
        <p:nvSpPr>
          <p:cNvPr id="17" name="Text 15"/>
          <p:cNvSpPr txBox="1"/>
          <p:nvPr/>
        </p:nvSpPr>
        <p:spPr>
          <a:xfrm>
            <a:off x="6461608"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7010248" y="1664208"/>
            <a:ext cx="1607744" cy="365760"/>
          </a:xfrm>
          <a:prstGeom prst="rect">
            <a:avLst/>
          </a:prstGeom>
          <a:noFill/>
          <a:ln/>
        </p:spPr>
        <p:txBody>
          <a:bodyPr wrap="square" lIns="0" tIns="0" rIns="0" bIns="0" rtlCol="0" anchor="ctr"/>
          <a:lstStyle/>
          <a:p>
            <a:pPr indent="0" marL="0">
              <a:buNone/>
            </a:pPr>
            <a:r>
              <a:rPr lang="en-US" sz="1800" b="1" dirty="0">
                <a:solidFill>
                  <a:schemeClr val="tx1"/>
                </a:solidFill>
              </a:rPr>
              <a:t>[이름]</a:t>
            </a:r>
            <a:endParaRPr lang="en-US" sz="1800" dirty="0"/>
          </a:p>
        </p:txBody>
      </p:sp>
      <p:sp>
        <p:nvSpPr>
          <p:cNvPr id="19" name="Text 17"/>
          <p:cNvSpPr txBox="1"/>
          <p:nvPr/>
        </p:nvSpPr>
        <p:spPr>
          <a:xfrm>
            <a:off x="6461608" y="2240280"/>
            <a:ext cx="2110664" cy="320040"/>
          </a:xfrm>
          <a:prstGeom prst="rect">
            <a:avLst/>
          </a:prstGeom>
          <a:noFill/>
          <a:ln/>
        </p:spPr>
        <p:txBody>
          <a:bodyPr wrap="square" lIns="0" tIns="0" rIns="0" bIns="0" rtlCol="0" anchor="t"/>
          <a:lstStyle/>
          <a:p>
            <a:pPr indent="0" marL="0">
              <a:buNone/>
            </a:pPr>
            <a:r>
              <a:rPr lang="en-US" sz="1400" b="1" dirty="0">
                <a:solidFill>
                  <a:schemeClr val="tx2"/>
                </a:solidFill>
              </a:rPr>
              <a:t>[담당 영역]</a:t>
            </a:r>
            <a:endParaRPr lang="en-US" sz="1400" dirty="0"/>
          </a:p>
        </p:txBody>
      </p:sp>
      <p:sp>
        <p:nvSpPr>
          <p:cNvPr id="20" name="Text 18"/>
          <p:cNvSpPr txBox="1"/>
          <p:nvPr/>
        </p:nvSpPr>
        <p:spPr>
          <a:xfrm>
            <a:off x="6461608" y="2606040"/>
            <a:ext cx="2110664" cy="320040"/>
          </a:xfrm>
          <a:prstGeom prst="rect">
            <a:avLst/>
          </a:prstGeom>
          <a:noFill/>
          <a:ln/>
        </p:spPr>
        <p:txBody>
          <a:bodyPr wrap="square" lIns="0" tIns="0" rIns="0" bIns="0" rtlCol="0" anchor="t"/>
          <a:lstStyle/>
          <a:p>
            <a:pPr indent="0" marL="0">
              <a:buNone/>
            </a:pPr>
            <a:r>
              <a:rPr lang="en-US" sz="1200" dirty="0">
                <a:solidFill>
                  <a:schemeClr val="tx2"/>
                </a:solidFill>
              </a:rPr>
              <a:t>[주요 기여 한 줄]</a:t>
            </a:r>
            <a:endParaRPr lang="en-US" sz="1200" dirty="0"/>
          </a:p>
        </p:txBody>
      </p:sp>
      <p:sp>
        <p:nvSpPr>
          <p:cNvPr id="21" name="Role 4"/>
          <p:cNvSpPr/>
          <p:nvPr/>
        </p:nvSpPr>
        <p:spPr>
          <a:xfrm>
            <a:off x="9075191" y="1463040"/>
            <a:ext cx="2567864" cy="1600200"/>
          </a:xfrm>
          <a:prstGeom prst="roundRect">
            <a:avLst>
              <a:gd name="adj" fmla="val 914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2" name="Step 4"/>
          <p:cNvSpPr/>
          <p:nvPr/>
        </p:nvSpPr>
        <p:spPr>
          <a:xfrm>
            <a:off x="9303791" y="1645920"/>
            <a:ext cx="411480" cy="411480"/>
          </a:xfrm>
          <a:prstGeom prst="ellipse">
            <a:avLst/>
          </a:prstGeom>
          <a:solidFill>
            <a:schemeClr val="tx1"/>
          </a:solidFill>
          <a:ln w="12700">
            <a:solidFill>
              <a:schemeClr val="tx1"/>
            </a:solidFill>
            <a:prstDash val="solid"/>
          </a:ln>
        </p:spPr>
      </p:sp>
      <p:sp>
        <p:nvSpPr>
          <p:cNvPr id="23" name="Text 21"/>
          <p:cNvSpPr txBox="1"/>
          <p:nvPr/>
        </p:nvSpPr>
        <p:spPr>
          <a:xfrm>
            <a:off x="9303791" y="1645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 22"/>
          <p:cNvSpPr txBox="1"/>
          <p:nvPr/>
        </p:nvSpPr>
        <p:spPr>
          <a:xfrm>
            <a:off x="9852431" y="1664208"/>
            <a:ext cx="1607744" cy="365760"/>
          </a:xfrm>
          <a:prstGeom prst="rect">
            <a:avLst/>
          </a:prstGeom>
          <a:noFill/>
          <a:ln/>
        </p:spPr>
        <p:txBody>
          <a:bodyPr wrap="square" lIns="0" tIns="0" rIns="0" bIns="0" rtlCol="0" anchor="ctr"/>
          <a:lstStyle/>
          <a:p>
            <a:pPr indent="0" marL="0">
              <a:buNone/>
            </a:pPr>
            <a:r>
              <a:rPr lang="en-US" sz="1800" b="1" dirty="0">
                <a:solidFill>
                  <a:schemeClr val="tx1"/>
                </a:solidFill>
              </a:rPr>
              <a:t>[이름]</a:t>
            </a:r>
            <a:endParaRPr lang="en-US" sz="1800" dirty="0"/>
          </a:p>
        </p:txBody>
      </p:sp>
      <p:sp>
        <p:nvSpPr>
          <p:cNvPr id="25" name="Text 23"/>
          <p:cNvSpPr txBox="1"/>
          <p:nvPr/>
        </p:nvSpPr>
        <p:spPr>
          <a:xfrm>
            <a:off x="9303791" y="2240280"/>
            <a:ext cx="2110664" cy="320040"/>
          </a:xfrm>
          <a:prstGeom prst="rect">
            <a:avLst/>
          </a:prstGeom>
          <a:noFill/>
          <a:ln/>
        </p:spPr>
        <p:txBody>
          <a:bodyPr wrap="square" lIns="0" tIns="0" rIns="0" bIns="0" rtlCol="0" anchor="t"/>
          <a:lstStyle/>
          <a:p>
            <a:pPr indent="0" marL="0">
              <a:buNone/>
            </a:pPr>
            <a:r>
              <a:rPr lang="en-US" sz="1400" b="1" dirty="0">
                <a:solidFill>
                  <a:schemeClr val="tx2"/>
                </a:solidFill>
              </a:rPr>
              <a:t>[담당 영역]</a:t>
            </a:r>
            <a:endParaRPr lang="en-US" sz="1400" dirty="0"/>
          </a:p>
        </p:txBody>
      </p:sp>
      <p:sp>
        <p:nvSpPr>
          <p:cNvPr id="26" name="Text 24"/>
          <p:cNvSpPr txBox="1"/>
          <p:nvPr/>
        </p:nvSpPr>
        <p:spPr>
          <a:xfrm>
            <a:off x="9303791" y="2606040"/>
            <a:ext cx="2110664" cy="320040"/>
          </a:xfrm>
          <a:prstGeom prst="rect">
            <a:avLst/>
          </a:prstGeom>
          <a:noFill/>
          <a:ln/>
        </p:spPr>
        <p:txBody>
          <a:bodyPr wrap="square" lIns="0" tIns="0" rIns="0" bIns="0" rtlCol="0" anchor="t"/>
          <a:lstStyle/>
          <a:p>
            <a:pPr indent="0" marL="0">
              <a:buNone/>
            </a:pPr>
            <a:r>
              <a:rPr lang="en-US" sz="1200" dirty="0">
                <a:solidFill>
                  <a:schemeClr val="tx2"/>
                </a:solidFill>
              </a:rPr>
              <a:t>[주요 기여 한 줄]</a:t>
            </a:r>
            <a:endParaRPr lang="en-US" sz="1200" dirty="0"/>
          </a:p>
        </p:txBody>
      </p:sp>
      <p:sp>
        <p:nvSpPr>
          <p:cNvPr id="27" name="Impact card"/>
          <p:cNvSpPr/>
          <p:nvPr/>
        </p:nvSpPr>
        <p:spPr>
          <a:xfrm>
            <a:off x="548640" y="3291840"/>
            <a:ext cx="5394960" cy="2743200"/>
          </a:xfrm>
          <a:prstGeom prst="roundRect">
            <a:avLst>
              <a:gd name="adj" fmla="val 533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28" name="Text 26"/>
          <p:cNvSpPr txBox="1"/>
          <p:nvPr/>
        </p:nvSpPr>
        <p:spPr>
          <a:xfrm>
            <a:off x="868680" y="3456432"/>
            <a:ext cx="4754880" cy="274320"/>
          </a:xfrm>
          <a:prstGeom prst="rect">
            <a:avLst/>
          </a:prstGeom>
          <a:noFill/>
          <a:ln/>
        </p:spPr>
        <p:txBody>
          <a:bodyPr wrap="square" lIns="0" tIns="0" rIns="0" bIns="0" rtlCol="0" anchor="t"/>
          <a:lstStyle/>
          <a:p>
            <a:pPr indent="0" marL="0">
              <a:buNone/>
            </a:pPr>
            <a:r>
              <a:rPr lang="en-US" sz="1200" dirty="0">
                <a:solidFill>
                  <a:schemeClr val="tx2"/>
                </a:solidFill>
              </a:rPr>
              <a:t>서울 지하철 2025년 기준 규모</a:t>
            </a:r>
            <a:endParaRPr lang="en-US" sz="1200" dirty="0"/>
          </a:p>
        </p:txBody>
      </p:sp>
      <p:sp>
        <p:nvSpPr>
          <p:cNvPr id="29" name="Text 27"/>
          <p:cNvSpPr txBox="1"/>
          <p:nvPr/>
        </p:nvSpPr>
        <p:spPr>
          <a:xfrm>
            <a:off x="868680" y="3749040"/>
            <a:ext cx="4754880" cy="640080"/>
          </a:xfrm>
          <a:prstGeom prst="rect">
            <a:avLst/>
          </a:prstGeom>
          <a:noFill/>
          <a:ln/>
        </p:spPr>
        <p:txBody>
          <a:bodyPr wrap="square" lIns="0" tIns="0" rIns="0" bIns="0" rtlCol="0" anchor="ctr"/>
          <a:lstStyle/>
          <a:p>
            <a:pPr indent="0" marL="0">
              <a:buNone/>
            </a:pPr>
            <a:r>
              <a:rPr lang="en-US" sz="3600" b="1" dirty="0">
                <a:solidFill>
                  <a:schemeClr val="tx1"/>
                </a:solidFill>
              </a:rPr>
              <a:t>약 8.1만 건</a:t>
            </a:r>
            <a:endParaRPr lang="en-US" sz="3600" dirty="0"/>
          </a:p>
        </p:txBody>
      </p:sp>
      <p:sp>
        <p:nvSpPr>
          <p:cNvPr id="30" name="Text 28"/>
          <p:cNvSpPr txBox="1"/>
          <p:nvPr/>
        </p:nvSpPr>
        <p:spPr>
          <a:xfrm>
            <a:off x="868680" y="4389120"/>
            <a:ext cx="4754880" cy="274320"/>
          </a:xfrm>
          <a:prstGeom prst="rect">
            <a:avLst/>
          </a:prstGeom>
          <a:noFill/>
          <a:ln/>
        </p:spPr>
        <p:txBody>
          <a:bodyPr wrap="square" lIns="0" tIns="0" rIns="0" bIns="0" rtlCol="0" anchor="t"/>
          <a:lstStyle/>
          <a:p>
            <a:pPr indent="0" marL="0">
              <a:buNone/>
            </a:pPr>
            <a:r>
              <a:rPr lang="en-US" sz="1300" dirty="0">
                <a:solidFill>
                  <a:schemeClr val="tx2"/>
                </a:solidFill>
              </a:rPr>
              <a:t>주인에게 직접 반환되지 않은 유실물</a:t>
            </a:r>
            <a:endParaRPr lang="en-US" sz="1300" dirty="0"/>
          </a:p>
        </p:txBody>
      </p:sp>
      <p:sp>
        <p:nvSpPr>
          <p:cNvPr id="31" name="Text 29"/>
          <p:cNvSpPr txBox="1"/>
          <p:nvPr/>
        </p:nvSpPr>
        <p:spPr>
          <a:xfrm>
            <a:off x="868680" y="4754880"/>
            <a:ext cx="4754880" cy="640080"/>
          </a:xfrm>
          <a:prstGeom prst="rect">
            <a:avLst/>
          </a:prstGeom>
          <a:noFill/>
          <a:ln/>
        </p:spPr>
        <p:txBody>
          <a:bodyPr wrap="square" lIns="0" tIns="0" rIns="0" bIns="0" rtlCol="0" anchor="ctr"/>
          <a:lstStyle/>
          <a:p>
            <a:pPr indent="0" marL="0">
              <a:buNone/>
            </a:pPr>
            <a:r>
              <a:rPr lang="en-US" sz="3600" b="1" dirty="0">
                <a:solidFill>
                  <a:schemeClr val="tx1"/>
                </a:solidFill>
              </a:rPr>
              <a:t>1%p ≈ 1,700건</a:t>
            </a:r>
            <a:endParaRPr lang="en-US" sz="3600" dirty="0"/>
          </a:p>
        </p:txBody>
      </p:sp>
      <p:sp>
        <p:nvSpPr>
          <p:cNvPr id="32" name="Text 30"/>
          <p:cNvSpPr txBox="1"/>
          <p:nvPr/>
        </p:nvSpPr>
        <p:spPr>
          <a:xfrm>
            <a:off x="868680" y="5394960"/>
            <a:ext cx="4754880" cy="502920"/>
          </a:xfrm>
          <a:prstGeom prst="rect">
            <a:avLst/>
          </a:prstGeom>
          <a:noFill/>
          <a:ln/>
        </p:spPr>
        <p:txBody>
          <a:bodyPr wrap="square" lIns="0" tIns="0" rIns="0" bIns="0" rtlCol="0" anchor="t"/>
          <a:lstStyle/>
          <a:p>
            <a:pPr indent="0" marL="0">
              <a:buNone/>
            </a:pPr>
            <a:r>
              <a:rPr lang="en-US" sz="1300" dirty="0">
                <a:solidFill>
                  <a:schemeClr val="tx2"/>
                </a:solidFill>
              </a:rPr>
              <a:t>반환율이 1%p 오를 때 추가로 돌아가는 물건 수 (산술 추정, 실측 아님)</a:t>
            </a:r>
            <a:endParaRPr lang="en-US" sz="1300" dirty="0"/>
          </a:p>
        </p:txBody>
      </p:sp>
      <p:sp>
        <p:nvSpPr>
          <p:cNvPr id="33" name="Next card"/>
          <p:cNvSpPr/>
          <p:nvPr/>
        </p:nvSpPr>
        <p:spPr>
          <a:xfrm>
            <a:off x="6217920" y="3291840"/>
            <a:ext cx="5425135" cy="2743200"/>
          </a:xfrm>
          <a:prstGeom prst="roundRect">
            <a:avLst>
              <a:gd name="adj" fmla="val 5333"/>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sp>
        <p:nvSpPr>
          <p:cNvPr id="34" name="Text 32"/>
          <p:cNvSpPr txBox="1"/>
          <p:nvPr/>
        </p:nvSpPr>
        <p:spPr>
          <a:xfrm>
            <a:off x="6492240" y="3456432"/>
            <a:ext cx="4876495" cy="320040"/>
          </a:xfrm>
          <a:prstGeom prst="rect">
            <a:avLst/>
          </a:prstGeom>
          <a:noFill/>
          <a:ln/>
        </p:spPr>
        <p:txBody>
          <a:bodyPr wrap="square" lIns="0" tIns="0" rIns="0" bIns="0" rtlCol="0" anchor="t"/>
          <a:lstStyle/>
          <a:p>
            <a:pPr indent="0" marL="0">
              <a:buNone/>
            </a:pPr>
            <a:r>
              <a:rPr lang="en-US" sz="1600" b="1" dirty="0">
                <a:solidFill>
                  <a:schemeClr val="tx1"/>
                </a:solidFill>
              </a:rPr>
              <a:t>누가 쓰고, 다음은 무엇인가</a:t>
            </a:r>
            <a:endParaRPr lang="en-US" sz="1600" dirty="0"/>
          </a:p>
        </p:txBody>
      </p:sp>
      <p:sp>
        <p:nvSpPr>
          <p:cNvPr id="35" name="Text 33"/>
          <p:cNvSpPr txBox="1"/>
          <p:nvPr/>
        </p:nvSpPr>
        <p:spPr>
          <a:xfrm>
            <a:off x="6492240" y="3931920"/>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이용자</a:t>
            </a:r>
            <a:endParaRPr lang="en-US" sz="1400" dirty="0"/>
          </a:p>
        </p:txBody>
      </p:sp>
      <p:sp>
        <p:nvSpPr>
          <p:cNvPr id="36" name="Text 34"/>
          <p:cNvSpPr txBox="1"/>
          <p:nvPr/>
        </p:nvSpPr>
        <p:spPr>
          <a:xfrm>
            <a:off x="7589520" y="3931920"/>
            <a:ext cx="3824935" cy="457200"/>
          </a:xfrm>
          <a:prstGeom prst="rect">
            <a:avLst/>
          </a:prstGeom>
          <a:noFill/>
          <a:ln/>
        </p:spPr>
        <p:txBody>
          <a:bodyPr wrap="square" lIns="0" tIns="0" rIns="0" bIns="0" rtlCol="0" anchor="ctr"/>
          <a:lstStyle/>
          <a:p>
            <a:pPr indent="0" marL="0">
              <a:buNone/>
            </a:pPr>
            <a:r>
              <a:rPr lang="en-US" sz="1300" dirty="0">
                <a:solidFill>
                  <a:schemeClr val="tx2"/>
                </a:solidFill>
              </a:rPr>
              <a:t>한 번 등록하고, 후보와 근거를 보며 판단</a:t>
            </a:r>
            <a:endParaRPr lang="en-US" sz="1300" dirty="0"/>
          </a:p>
        </p:txBody>
      </p:sp>
      <p:sp>
        <p:nvSpPr>
          <p:cNvPr id="37" name="Text 35"/>
          <p:cNvSpPr txBox="1"/>
          <p:nvPr/>
        </p:nvSpPr>
        <p:spPr>
          <a:xfrm>
            <a:off x="6492240" y="4453128"/>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지금</a:t>
            </a:r>
            <a:endParaRPr lang="en-US" sz="1400" dirty="0"/>
          </a:p>
        </p:txBody>
      </p:sp>
      <p:sp>
        <p:nvSpPr>
          <p:cNvPr id="38" name="Text 36"/>
          <p:cNvSpPr txBox="1"/>
          <p:nvPr/>
        </p:nvSpPr>
        <p:spPr>
          <a:xfrm>
            <a:off x="7589520" y="4453128"/>
            <a:ext cx="3824935" cy="457200"/>
          </a:xfrm>
          <a:prstGeom prst="rect">
            <a:avLst/>
          </a:prstGeom>
          <a:noFill/>
          <a:ln/>
        </p:spPr>
        <p:txBody>
          <a:bodyPr wrap="square" lIns="0" tIns="0" rIns="0" bIns="0" rtlCol="0" anchor="ctr"/>
          <a:lstStyle/>
          <a:p>
            <a:pPr indent="0" marL="0">
              <a:buNone/>
            </a:pPr>
            <a:r>
              <a:rPr lang="en-US" sz="1300" dirty="0">
                <a:solidFill>
                  <a:schemeClr val="tx2"/>
                </a:solidFill>
              </a:rPr>
              <a:t>텍스트·지역·날짜 매칭, 서비스 내 알림</a:t>
            </a:r>
            <a:endParaRPr lang="en-US" sz="1300" dirty="0"/>
          </a:p>
        </p:txBody>
      </p:sp>
      <p:sp>
        <p:nvSpPr>
          <p:cNvPr id="39" name="Text 37"/>
          <p:cNvSpPr txBox="1"/>
          <p:nvPr/>
        </p:nvSpPr>
        <p:spPr>
          <a:xfrm>
            <a:off x="6492240" y="4974336"/>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다음</a:t>
            </a:r>
            <a:endParaRPr lang="en-US" sz="1400" dirty="0"/>
          </a:p>
        </p:txBody>
      </p:sp>
      <p:sp>
        <p:nvSpPr>
          <p:cNvPr id="40" name="Text 38"/>
          <p:cNvSpPr txBox="1"/>
          <p:nvPr/>
        </p:nvSpPr>
        <p:spPr>
          <a:xfrm>
            <a:off x="7589520" y="4974336"/>
            <a:ext cx="3824935" cy="457200"/>
          </a:xfrm>
          <a:prstGeom prst="rect">
            <a:avLst/>
          </a:prstGeom>
          <a:noFill/>
          <a:ln/>
        </p:spPr>
        <p:txBody>
          <a:bodyPr wrap="square" lIns="0" tIns="0" rIns="0" bIns="0" rtlCol="0" anchor="ctr"/>
          <a:lstStyle/>
          <a:p>
            <a:pPr indent="0" marL="0">
              <a:buNone/>
            </a:pPr>
            <a:r>
              <a:rPr lang="en-US" sz="1300" dirty="0">
                <a:solidFill>
                  <a:schemeClr val="tx2"/>
                </a:solidFill>
              </a:rPr>
              <a:t>사진 유사도(CLIP) · 이메일 알림 연동</a:t>
            </a:r>
            <a:endParaRPr lang="en-US" sz="1300" dirty="0"/>
          </a:p>
        </p:txBody>
      </p:sp>
      <p:sp>
        <p:nvSpPr>
          <p:cNvPr id="41" name="Text 39"/>
          <p:cNvSpPr txBox="1"/>
          <p:nvPr/>
        </p:nvSpPr>
        <p:spPr>
          <a:xfrm>
            <a:off x="6492240" y="5495544"/>
            <a:ext cx="1097280" cy="457200"/>
          </a:xfrm>
          <a:prstGeom prst="rect">
            <a:avLst/>
          </a:prstGeom>
          <a:noFill/>
          <a:ln/>
        </p:spPr>
        <p:txBody>
          <a:bodyPr wrap="square" lIns="0" tIns="0" rIns="0" bIns="0" rtlCol="0" anchor="ctr"/>
          <a:lstStyle/>
          <a:p>
            <a:pPr indent="0" marL="0">
              <a:buNone/>
            </a:pPr>
            <a:r>
              <a:rPr lang="en-US" sz="1400" b="1" dirty="0">
                <a:solidFill>
                  <a:schemeClr val="tx1"/>
                </a:solidFill>
              </a:rPr>
              <a:t>확장</a:t>
            </a:r>
            <a:endParaRPr lang="en-US" sz="1400" dirty="0"/>
          </a:p>
        </p:txBody>
      </p:sp>
      <p:sp>
        <p:nvSpPr>
          <p:cNvPr id="42" name="Text 40"/>
          <p:cNvSpPr txBox="1"/>
          <p:nvPr/>
        </p:nvSpPr>
        <p:spPr>
          <a:xfrm>
            <a:off x="7589520" y="5495544"/>
            <a:ext cx="3824935" cy="457200"/>
          </a:xfrm>
          <a:prstGeom prst="rect">
            <a:avLst/>
          </a:prstGeom>
          <a:noFill/>
          <a:ln/>
        </p:spPr>
        <p:txBody>
          <a:bodyPr wrap="square" lIns="0" tIns="0" rIns="0" bIns="0" rtlCol="0" anchor="ctr"/>
          <a:lstStyle/>
          <a:p>
            <a:pPr indent="0" marL="0">
              <a:buNone/>
            </a:pPr>
            <a:r>
              <a:rPr lang="en-US" sz="1300" dirty="0">
                <a:solidFill>
                  <a:schemeClr val="tx2"/>
                </a:solidFill>
              </a:rPr>
              <a:t>기관 습득물 직접 등록 · 중고거래 연동(검토 중)</a:t>
            </a:r>
            <a:endParaRPr lang="en-US" sz="13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ReFind logo">    </p:cNvPr>
          <p:cNvPicPr>
            <a:picLocks noChangeAspect="1"/>
          </p:cNvPicPr>
          <p:nvPr/>
        </p:nvPicPr>
        <p:blipFill>
          <a:blip r:embed="rId1"/>
          <a:stretch>
            <a:fillRect/>
          </a:stretch>
        </p:blipFill>
        <p:spPr>
          <a:xfrm>
            <a:off x="548640" y="640080"/>
            <a:ext cx="548640" cy="548640"/>
          </a:xfrm>
          <a:prstGeom prst="rect">
            <a:avLst/>
          </a:prstGeom>
        </p:spPr>
      </p:pic>
      <p:sp>
        <p:nvSpPr>
          <p:cNvPr id="3" name="Text 0"/>
          <p:cNvSpPr txBox="1"/>
          <p:nvPr/>
        </p:nvSpPr>
        <p:spPr>
          <a:xfrm>
            <a:off x="548640" y="1325880"/>
            <a:ext cx="7315200" cy="1097280"/>
          </a:xfrm>
          <a:prstGeom prst="rect">
            <a:avLst/>
          </a:prstGeom>
          <a:noFill/>
          <a:ln/>
        </p:spPr>
        <p:txBody>
          <a:bodyPr wrap="square" lIns="0" tIns="0" rIns="0" bIns="0" rtlCol="0" anchor="ctr"/>
          <a:lstStyle/>
          <a:p>
            <a:pPr indent="0" marL="0">
              <a:buNone/>
            </a:pPr>
            <a:r>
              <a:rPr lang="en-US" sz="6600" b="1" dirty="0">
                <a:solidFill>
                  <a:schemeClr val="bg1"/>
                </a:solidFill>
              </a:rPr>
              <a:t>감사합니다</a:t>
            </a:r>
            <a:endParaRPr lang="en-US" sz="6600" dirty="0"/>
          </a:p>
        </p:txBody>
      </p:sp>
      <p:sp>
        <p:nvSpPr>
          <p:cNvPr id="4" name="Text 1"/>
          <p:cNvSpPr txBox="1"/>
          <p:nvPr/>
        </p:nvSpPr>
        <p:spPr>
          <a:xfrm>
            <a:off x="548640" y="2468880"/>
            <a:ext cx="8229600" cy="457200"/>
          </a:xfrm>
          <a:prstGeom prst="rect">
            <a:avLst/>
          </a:prstGeom>
          <a:noFill/>
          <a:ln/>
        </p:spPr>
        <p:txBody>
          <a:bodyPr wrap="square" lIns="0" tIns="0" rIns="0" bIns="0" rtlCol="0" anchor="t"/>
          <a:lstStyle/>
          <a:p>
            <a:pPr indent="0" marL="0">
              <a:buNone/>
            </a:pPr>
            <a:r>
              <a:rPr lang="en-US" sz="2200" dirty="0">
                <a:solidFill>
                  <a:schemeClr val="accent6"/>
                </a:solidFill>
              </a:rPr>
              <a:t>잃어버린 물건이 나를 먼저 찾아옵니다</a:t>
            </a:r>
            <a:endParaRPr lang="en-US" sz="2200" dirty="0"/>
          </a:p>
        </p:txBody>
      </p:sp>
      <p:sp>
        <p:nvSpPr>
          <p:cNvPr id="5" name="웹 사이트 link card"/>
          <p:cNvSpPr/>
          <p:nvPr/>
        </p:nvSpPr>
        <p:spPr>
          <a:xfrm>
            <a:off x="548640" y="3337560"/>
            <a:ext cx="5364328" cy="2697480"/>
          </a:xfrm>
          <a:prstGeom prst="roundRect">
            <a:avLst>
              <a:gd name="adj" fmla="val 6780"/>
            </a:avLst>
          </a:prstGeom>
          <a:solidFill>
            <a:schemeClr val="bg1"/>
          </a:solidFill>
          <a:ln w="12700">
            <a:solidFill>
              <a:schemeClr val="bg1"/>
            </a:solidFill>
            <a:prstDash val="solid"/>
          </a:ln>
        </p:spPr>
      </p:sp>
      <p:pic>
        <p:nvPicPr>
          <p:cNvPr id="6" name="Image 1" descr="웹 사이트 QR 코드">    </p:cNvPr>
          <p:cNvPicPr>
            <a:picLocks noChangeAspect="1"/>
          </p:cNvPicPr>
          <p:nvPr/>
        </p:nvPicPr>
        <p:blipFill>
          <a:blip r:embed="rId2"/>
          <a:stretch>
            <a:fillRect/>
          </a:stretch>
        </p:blipFill>
        <p:spPr>
          <a:xfrm>
            <a:off x="822960" y="3611880"/>
            <a:ext cx="2148840" cy="2148840"/>
          </a:xfrm>
          <a:prstGeom prst="rect">
            <a:avLst/>
          </a:prstGeom>
        </p:spPr>
      </p:pic>
      <p:pic>
        <p:nvPicPr>
          <p:cNvPr id="7" name="Image 2" descr="globe icon">    </p:cNvPr>
          <p:cNvPicPr>
            <a:picLocks noChangeAspect="1"/>
          </p:cNvPicPr>
          <p:nvPr/>
        </p:nvPicPr>
        <p:blipFill>
          <a:blip r:embed="rId3"/>
          <a:stretch>
            <a:fillRect/>
          </a:stretch>
        </p:blipFill>
        <p:spPr>
          <a:xfrm>
            <a:off x="3246120" y="3657600"/>
            <a:ext cx="384048" cy="384048"/>
          </a:xfrm>
          <a:prstGeom prst="rect">
            <a:avLst/>
          </a:prstGeom>
        </p:spPr>
      </p:pic>
      <p:sp>
        <p:nvSpPr>
          <p:cNvPr id="8" name="Text 3"/>
          <p:cNvSpPr txBox="1"/>
          <p:nvPr/>
        </p:nvSpPr>
        <p:spPr>
          <a:xfrm>
            <a:off x="3749040" y="3657600"/>
            <a:ext cx="1981048" cy="384048"/>
          </a:xfrm>
          <a:prstGeom prst="rect">
            <a:avLst/>
          </a:prstGeom>
          <a:noFill/>
          <a:ln/>
        </p:spPr>
        <p:txBody>
          <a:bodyPr wrap="square" lIns="0" tIns="0" rIns="0" bIns="0" rtlCol="0" anchor="ctr"/>
          <a:lstStyle/>
          <a:p>
            <a:pPr indent="0" marL="0">
              <a:buNone/>
            </a:pPr>
            <a:r>
              <a:rPr lang="en-US" sz="2000" b="1" dirty="0">
                <a:solidFill>
                  <a:schemeClr val="tx1"/>
                </a:solidFill>
              </a:rPr>
              <a:t>웹 사이트</a:t>
            </a:r>
            <a:endParaRPr lang="en-US" sz="2000" dirty="0"/>
          </a:p>
        </p:txBody>
      </p:sp>
      <p:sp>
        <p:nvSpPr>
          <p:cNvPr id="9" name="Text 4">
            <a:hlinkClick r:id="rId4" tooltip=""/>
          </p:cNvPr>
          <p:cNvSpPr txBox="1"/>
          <p:nvPr/>
        </p:nvSpPr>
        <p:spPr>
          <a:xfrm>
            <a:off x="3246120" y="4251960"/>
            <a:ext cx="2438248" cy="868680"/>
          </a:xfrm>
          <a:prstGeom prst="rect">
            <a:avLst/>
          </a:prstGeom>
          <a:noFill/>
          <a:ln/>
        </p:spPr>
        <p:txBody>
          <a:bodyPr wrap="square" lIns="0" tIns="0" rIns="0" bIns="0" rtlCol="0" anchor="t"/>
          <a:lstStyle/>
          <a:p>
            <a:pPr indent="0" marL="0">
              <a:buNone/>
            </a:pPr>
            <a:r>
              <a:rPr lang="en-US" sz="13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d29d7xry7tkopu.cloudfront.net</a:t>
            </a:r>
            <a:endParaRPr lang="en-US" sz="1300" dirty="0"/>
          </a:p>
        </p:txBody>
      </p:sp>
      <p:sp>
        <p:nvSpPr>
          <p:cNvPr id="10" name="Text 5"/>
          <p:cNvSpPr txBox="1"/>
          <p:nvPr/>
        </p:nvSpPr>
        <p:spPr>
          <a:xfrm>
            <a:off x="3246120" y="5257800"/>
            <a:ext cx="2438248" cy="274320"/>
          </a:xfrm>
          <a:prstGeom prst="rect">
            <a:avLst/>
          </a:prstGeom>
          <a:noFill/>
          <a:ln/>
        </p:spPr>
        <p:txBody>
          <a:bodyPr wrap="square" lIns="0" tIns="0" rIns="0" bIns="0" rtlCol="0" anchor="t"/>
          <a:lstStyle/>
          <a:p>
            <a:pPr indent="0" marL="0">
              <a:buNone/>
            </a:pPr>
            <a:r>
              <a:rPr lang="en-US" sz="1200" dirty="0">
                <a:solidFill>
                  <a:schemeClr val="tx2"/>
                </a:solidFill>
              </a:rPr>
              <a:t>QR로 바로 접속</a:t>
            </a:r>
            <a:endParaRPr lang="en-US" sz="1200" dirty="0"/>
          </a:p>
        </p:txBody>
      </p:sp>
      <p:sp>
        <p:nvSpPr>
          <p:cNvPr id="11" name="GitHub link card"/>
          <p:cNvSpPr/>
          <p:nvPr/>
        </p:nvSpPr>
        <p:spPr>
          <a:xfrm>
            <a:off x="6278728" y="3337560"/>
            <a:ext cx="5364328" cy="2697480"/>
          </a:xfrm>
          <a:prstGeom prst="roundRect">
            <a:avLst>
              <a:gd name="adj" fmla="val 6780"/>
            </a:avLst>
          </a:prstGeom>
          <a:solidFill>
            <a:schemeClr val="bg1"/>
          </a:solidFill>
          <a:ln w="12700">
            <a:solidFill>
              <a:schemeClr val="bg1"/>
            </a:solidFill>
            <a:prstDash val="solid"/>
          </a:ln>
        </p:spPr>
      </p:sp>
      <p:pic>
        <p:nvPicPr>
          <p:cNvPr id="12" name="Image 3" descr="GitHub QR 코드">    </p:cNvPr>
          <p:cNvPicPr>
            <a:picLocks noChangeAspect="1"/>
          </p:cNvPicPr>
          <p:nvPr/>
        </p:nvPicPr>
        <p:blipFill>
          <a:blip r:embed="rId5"/>
          <a:stretch>
            <a:fillRect/>
          </a:stretch>
        </p:blipFill>
        <p:spPr>
          <a:xfrm>
            <a:off x="6553048" y="3611880"/>
            <a:ext cx="2148840" cy="2148840"/>
          </a:xfrm>
          <a:prstGeom prst="rect">
            <a:avLst/>
          </a:prstGeom>
        </p:spPr>
      </p:pic>
      <p:pic>
        <p:nvPicPr>
          <p:cNvPr id="13" name="Image 4" descr="github icon">    </p:cNvPr>
          <p:cNvPicPr>
            <a:picLocks noChangeAspect="1"/>
          </p:cNvPicPr>
          <p:nvPr/>
        </p:nvPicPr>
        <p:blipFill>
          <a:blip r:embed="rId6"/>
          <a:stretch>
            <a:fillRect/>
          </a:stretch>
        </p:blipFill>
        <p:spPr>
          <a:xfrm>
            <a:off x="8976208" y="3657600"/>
            <a:ext cx="384048" cy="384048"/>
          </a:xfrm>
          <a:prstGeom prst="rect">
            <a:avLst/>
          </a:prstGeom>
        </p:spPr>
      </p:pic>
      <p:sp>
        <p:nvSpPr>
          <p:cNvPr id="14" name="Text 7"/>
          <p:cNvSpPr txBox="1"/>
          <p:nvPr/>
        </p:nvSpPr>
        <p:spPr>
          <a:xfrm>
            <a:off x="9479128" y="3657600"/>
            <a:ext cx="1981048" cy="384048"/>
          </a:xfrm>
          <a:prstGeom prst="rect">
            <a:avLst/>
          </a:prstGeom>
          <a:noFill/>
          <a:ln/>
        </p:spPr>
        <p:txBody>
          <a:bodyPr wrap="square" lIns="0" tIns="0" rIns="0" bIns="0" rtlCol="0" anchor="ctr"/>
          <a:lstStyle/>
          <a:p>
            <a:pPr indent="0" marL="0">
              <a:buNone/>
            </a:pPr>
            <a:r>
              <a:rPr lang="en-US" sz="2000" b="1" dirty="0">
                <a:solidFill>
                  <a:schemeClr val="tx1"/>
                </a:solidFill>
              </a:rPr>
              <a:t>GitHub</a:t>
            </a:r>
            <a:endParaRPr lang="en-US" sz="2000" dirty="0"/>
          </a:p>
        </p:txBody>
      </p:sp>
      <p:sp>
        <p:nvSpPr>
          <p:cNvPr id="15" name="Text 8">
            <a:hlinkClick r:id="rId7" tooltip=""/>
          </p:cNvPr>
          <p:cNvSpPr txBox="1"/>
          <p:nvPr/>
        </p:nvSpPr>
        <p:spPr>
          <a:xfrm>
            <a:off x="8976208" y="4251960"/>
            <a:ext cx="2438248" cy="868680"/>
          </a:xfrm>
          <a:prstGeom prst="rect">
            <a:avLst/>
          </a:prstGeom>
          <a:noFill/>
          <a:ln/>
        </p:spPr>
        <p:txBody>
          <a:bodyPr wrap="square" lIns="0" tIns="0" rIns="0" bIns="0" rtlCol="0" anchor="t"/>
          <a:lstStyle/>
          <a:p>
            <a:pPr indent="0" marL="0">
              <a:buNone/>
            </a:pPr>
            <a:r>
              <a:rPr lang="en-US" sz="130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github.com/Terra0305/</a:t>
            </a:r>
            <a:endParaRPr lang="en-US" sz="1300" dirty="0"/>
          </a:p>
          <a:p>
            <a:pPr indent="0" marL="0">
              <a:buNone/>
            </a:pPr>
            <a:r>
              <a:rPr lang="en-US" sz="130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ICTbuild-upProject</a:t>
            </a:r>
            <a:endParaRPr lang="en-US" sz="1300" dirty="0"/>
          </a:p>
        </p:txBody>
      </p:sp>
      <p:sp>
        <p:nvSpPr>
          <p:cNvPr id="16" name="Text 9"/>
          <p:cNvSpPr txBox="1"/>
          <p:nvPr/>
        </p:nvSpPr>
        <p:spPr>
          <a:xfrm>
            <a:off x="8976208" y="5257800"/>
            <a:ext cx="2438248" cy="274320"/>
          </a:xfrm>
          <a:prstGeom prst="rect">
            <a:avLst/>
          </a:prstGeom>
          <a:noFill/>
          <a:ln/>
        </p:spPr>
        <p:txBody>
          <a:bodyPr wrap="square" lIns="0" tIns="0" rIns="0" bIns="0" rtlCol="0" anchor="t"/>
          <a:lstStyle/>
          <a:p>
            <a:pPr indent="0" marL="0">
              <a:buNone/>
            </a:pPr>
            <a:r>
              <a:rPr lang="en-US" sz="1200" dirty="0">
                <a:solidFill>
                  <a:schemeClr val="tx2"/>
                </a:solidFill>
              </a:rPr>
              <a:t>QR로 바로 접속</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rPr>
              <a:t>부록 · 서비스 화면: 라이트 · 다크 · 모바일</a:t>
            </a:r>
            <a:endParaRPr lang="en-US" sz="3400" dirty="0"/>
          </a:p>
        </p:txBody>
      </p:sp>
      <p:pic>
        <p:nvPicPr>
          <p:cNvPr id="3" name="Screenshot light" descr="라이트 테마 랜딩 화면">    </p:cNvPr>
          <p:cNvPicPr>
            <a:picLocks noChangeAspect="1"/>
          </p:cNvPicPr>
          <p:nvPr/>
        </p:nvPicPr>
        <p:blipFill>
          <a:blip r:embed="rId1"/>
          <a:stretch>
            <a:fillRect/>
          </a:stretch>
        </p:blipFill>
        <p:spPr>
          <a:xfrm>
            <a:off x="548640" y="1554480"/>
            <a:ext cx="4522895" cy="2826810"/>
          </a:xfrm>
          <a:prstGeom prst="rect">
            <a:avLst/>
          </a:prstGeom>
        </p:spPr>
      </p:pic>
      <p:pic>
        <p:nvPicPr>
          <p:cNvPr id="4" name="Screenshot dark" descr="다크 테마 랜딩 화면">    </p:cNvPr>
          <p:cNvPicPr>
            <a:picLocks noChangeAspect="1"/>
          </p:cNvPicPr>
          <p:nvPr/>
        </p:nvPicPr>
        <p:blipFill>
          <a:blip r:embed="rId2"/>
          <a:stretch>
            <a:fillRect/>
          </a:stretch>
        </p:blipFill>
        <p:spPr>
          <a:xfrm>
            <a:off x="5345855" y="1554480"/>
            <a:ext cx="4522895" cy="2826810"/>
          </a:xfrm>
          <a:prstGeom prst="rect">
            <a:avLst/>
          </a:prstGeom>
        </p:spPr>
      </p:pic>
      <p:pic>
        <p:nvPicPr>
          <p:cNvPr id="5" name="Screenshot mobile" descr="모바일 화면">    </p:cNvPr>
          <p:cNvPicPr>
            <a:picLocks noChangeAspect="1"/>
          </p:cNvPicPr>
          <p:nvPr/>
        </p:nvPicPr>
        <p:blipFill>
          <a:blip r:embed="rId3"/>
          <a:stretch>
            <a:fillRect/>
          </a:stretch>
        </p:blipFill>
        <p:spPr>
          <a:xfrm>
            <a:off x="10143071" y="1554480"/>
            <a:ext cx="1499984" cy="3246120"/>
          </a:xfrm>
          <a:prstGeom prst="rect">
            <a:avLst/>
          </a:prstGeom>
        </p:spPr>
      </p:pic>
      <p:sp>
        <p:nvSpPr>
          <p:cNvPr id="6" name="Screenshot outline"/>
          <p:cNvSpPr/>
          <p:nvPr/>
        </p:nvSpPr>
        <p:spPr>
          <a:xfrm>
            <a:off x="548640" y="1554480"/>
            <a:ext cx="4522895" cy="2826810"/>
          </a:xfrm>
          <a:prstGeom prst="roundRect">
            <a:avLst>
              <a:gd name="adj" fmla="val 3235"/>
            </a:avLst>
          </a:prstGeom>
          <a:solidFill>
            <a:srgbClr val="FFFFFF">
              <a:alpha val="0"/>
            </a:srgbClr>
          </a:solidFill>
          <a:ln w="9525">
            <a:solidFill>
              <a:srgbClr val="C7C7CC"/>
            </a:solidFill>
            <a:prstDash val="solid"/>
          </a:ln>
        </p:spPr>
      </p:sp>
      <p:sp>
        <p:nvSpPr>
          <p:cNvPr id="7" name="Screenshot outline"/>
          <p:cNvSpPr/>
          <p:nvPr/>
        </p:nvSpPr>
        <p:spPr>
          <a:xfrm>
            <a:off x="5345855" y="1554480"/>
            <a:ext cx="4522895" cy="2826810"/>
          </a:xfrm>
          <a:prstGeom prst="roundRect">
            <a:avLst>
              <a:gd name="adj" fmla="val 3235"/>
            </a:avLst>
          </a:prstGeom>
          <a:solidFill>
            <a:srgbClr val="FFFFFF">
              <a:alpha val="0"/>
            </a:srgbClr>
          </a:solidFill>
          <a:ln w="9525">
            <a:solidFill>
              <a:srgbClr val="C7C7CC"/>
            </a:solidFill>
            <a:prstDash val="solid"/>
          </a:ln>
        </p:spPr>
      </p:sp>
      <p:sp>
        <p:nvSpPr>
          <p:cNvPr id="8" name="Text 3"/>
          <p:cNvSpPr txBox="1"/>
          <p:nvPr/>
        </p:nvSpPr>
        <p:spPr>
          <a:xfrm>
            <a:off x="548640" y="4472730"/>
            <a:ext cx="4522895" cy="274320"/>
          </a:xfrm>
          <a:prstGeom prst="rect">
            <a:avLst/>
          </a:prstGeom>
          <a:noFill/>
          <a:ln/>
        </p:spPr>
        <p:txBody>
          <a:bodyPr wrap="square" lIns="0" tIns="0" rIns="0" bIns="0" rtlCol="0" anchor="t"/>
          <a:lstStyle/>
          <a:p>
            <a:pPr indent="0" marL="0">
              <a:buNone/>
            </a:pPr>
            <a:r>
              <a:rPr lang="en-US" sz="1200" dirty="0">
                <a:solidFill>
                  <a:schemeClr val="tx2"/>
                </a:solidFill>
              </a:rPr>
              <a:t>라이트</a:t>
            </a:r>
            <a:endParaRPr lang="en-US" sz="1200" dirty="0"/>
          </a:p>
        </p:txBody>
      </p:sp>
      <p:sp>
        <p:nvSpPr>
          <p:cNvPr id="9" name="Text 4"/>
          <p:cNvSpPr txBox="1"/>
          <p:nvPr/>
        </p:nvSpPr>
        <p:spPr>
          <a:xfrm>
            <a:off x="5345855" y="4472730"/>
            <a:ext cx="4522895" cy="274320"/>
          </a:xfrm>
          <a:prstGeom prst="rect">
            <a:avLst/>
          </a:prstGeom>
          <a:noFill/>
          <a:ln/>
        </p:spPr>
        <p:txBody>
          <a:bodyPr wrap="square" lIns="0" tIns="0" rIns="0" bIns="0" rtlCol="0" anchor="t"/>
          <a:lstStyle/>
          <a:p>
            <a:pPr indent="0" marL="0">
              <a:buNone/>
            </a:pPr>
            <a:r>
              <a:rPr lang="en-US" sz="1200" dirty="0">
                <a:solidFill>
                  <a:schemeClr val="tx2"/>
                </a:solidFill>
              </a:rPr>
              <a:t>다크</a:t>
            </a:r>
            <a:endParaRPr lang="en-US" sz="1200" dirty="0"/>
          </a:p>
        </p:txBody>
      </p:sp>
      <p:sp>
        <p:nvSpPr>
          <p:cNvPr id="10" name="Text 5"/>
          <p:cNvSpPr txBox="1"/>
          <p:nvPr/>
        </p:nvSpPr>
        <p:spPr>
          <a:xfrm>
            <a:off x="10143071" y="4892040"/>
            <a:ext cx="1499984" cy="274320"/>
          </a:xfrm>
          <a:prstGeom prst="rect">
            <a:avLst/>
          </a:prstGeom>
          <a:noFill/>
          <a:ln/>
        </p:spPr>
        <p:txBody>
          <a:bodyPr wrap="square" lIns="0" tIns="0" rIns="0" bIns="0" rtlCol="0" anchor="t"/>
          <a:lstStyle/>
          <a:p>
            <a:pPr indent="0" marL="0">
              <a:buNone/>
            </a:pPr>
            <a:r>
              <a:rPr lang="en-US" sz="1200" dirty="0">
                <a:solidFill>
                  <a:schemeClr val="tx2"/>
                </a:solidFill>
              </a:rPr>
              <a:t>모바일</a:t>
            </a:r>
            <a:endParaRPr lang="en-US" sz="1200" dirty="0"/>
          </a:p>
        </p:txBody>
      </p:sp>
      <p:sp>
        <p:nvSpPr>
          <p:cNvPr id="11" name="Feature 분실물 태그 콘셉트"/>
          <p:cNvSpPr/>
          <p:nvPr/>
        </p:nvSpPr>
        <p:spPr>
          <a:xfrm>
            <a:off x="548640" y="5212080"/>
            <a:ext cx="3515258" cy="960120"/>
          </a:xfrm>
          <a:prstGeom prst="roundRect">
            <a:avLst>
              <a:gd name="adj" fmla="val 15238"/>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pic>
        <p:nvPicPr>
          <p:cNvPr id="12" name="Image 3" descr="tag icon">    </p:cNvPr>
          <p:cNvPicPr>
            <a:picLocks noChangeAspect="1"/>
          </p:cNvPicPr>
          <p:nvPr/>
        </p:nvPicPr>
        <p:blipFill>
          <a:blip r:embed="rId4"/>
          <a:stretch>
            <a:fillRect/>
          </a:stretch>
        </p:blipFill>
        <p:spPr>
          <a:xfrm>
            <a:off x="777240" y="5468112"/>
            <a:ext cx="365760" cy="365760"/>
          </a:xfrm>
          <a:prstGeom prst="rect">
            <a:avLst/>
          </a:prstGeom>
        </p:spPr>
      </p:pic>
      <p:sp>
        <p:nvSpPr>
          <p:cNvPr id="13" name="Text 7"/>
          <p:cNvSpPr txBox="1"/>
          <p:nvPr/>
        </p:nvSpPr>
        <p:spPr>
          <a:xfrm>
            <a:off x="1325880" y="5321808"/>
            <a:ext cx="2600858" cy="320040"/>
          </a:xfrm>
          <a:prstGeom prst="rect">
            <a:avLst/>
          </a:prstGeom>
          <a:noFill/>
          <a:ln/>
        </p:spPr>
        <p:txBody>
          <a:bodyPr wrap="square" lIns="0" tIns="0" rIns="0" bIns="0" rtlCol="0" anchor="t"/>
          <a:lstStyle/>
          <a:p>
            <a:pPr indent="0" marL="0">
              <a:buNone/>
            </a:pPr>
            <a:r>
              <a:rPr lang="en-US" sz="1600" b="1" dirty="0">
                <a:solidFill>
                  <a:schemeClr val="tx1"/>
                </a:solidFill>
              </a:rPr>
              <a:t>분실물 태그 콘셉트</a:t>
            </a:r>
            <a:endParaRPr lang="en-US" sz="1600" dirty="0"/>
          </a:p>
        </p:txBody>
      </p:sp>
      <p:sp>
        <p:nvSpPr>
          <p:cNvPr id="14" name="Text 8"/>
          <p:cNvSpPr txBox="1"/>
          <p:nvPr/>
        </p:nvSpPr>
        <p:spPr>
          <a:xfrm>
            <a:off x="1325880" y="5669280"/>
            <a:ext cx="2600858" cy="411480"/>
          </a:xfrm>
          <a:prstGeom prst="rect">
            <a:avLst/>
          </a:prstGeom>
          <a:noFill/>
          <a:ln/>
        </p:spPr>
        <p:txBody>
          <a:bodyPr wrap="square" lIns="0" tIns="0" rIns="0" bIns="0" rtlCol="0" anchor="t"/>
          <a:lstStyle/>
          <a:p>
            <a:pPr indent="0" marL="0">
              <a:buNone/>
            </a:pPr>
            <a:r>
              <a:rPr lang="en-US" sz="1300" dirty="0">
                <a:solidFill>
                  <a:schemeClr val="tx2"/>
                </a:solidFill>
              </a:rPr>
              <a:t>흑백 단색 · 점수는 검은 태그에</a:t>
            </a:r>
            <a:endParaRPr lang="en-US" sz="1300" dirty="0"/>
          </a:p>
        </p:txBody>
      </p:sp>
      <p:sp>
        <p:nvSpPr>
          <p:cNvPr id="15" name="Feature 테마 전환"/>
          <p:cNvSpPr/>
          <p:nvPr/>
        </p:nvSpPr>
        <p:spPr>
          <a:xfrm>
            <a:off x="4338218" y="5212080"/>
            <a:ext cx="3515258" cy="960120"/>
          </a:xfrm>
          <a:prstGeom prst="roundRect">
            <a:avLst>
              <a:gd name="adj" fmla="val 15238"/>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pic>
        <p:nvPicPr>
          <p:cNvPr id="16" name="Image 4" descr="check icon">    </p:cNvPr>
          <p:cNvPicPr>
            <a:picLocks noChangeAspect="1"/>
          </p:cNvPicPr>
          <p:nvPr/>
        </p:nvPicPr>
        <p:blipFill>
          <a:blip r:embed="rId5"/>
          <a:stretch>
            <a:fillRect/>
          </a:stretch>
        </p:blipFill>
        <p:spPr>
          <a:xfrm>
            <a:off x="4566818" y="5468112"/>
            <a:ext cx="365760" cy="365760"/>
          </a:xfrm>
          <a:prstGeom prst="rect">
            <a:avLst/>
          </a:prstGeom>
        </p:spPr>
      </p:pic>
      <p:sp>
        <p:nvSpPr>
          <p:cNvPr id="17" name="Text 10"/>
          <p:cNvSpPr txBox="1"/>
          <p:nvPr/>
        </p:nvSpPr>
        <p:spPr>
          <a:xfrm>
            <a:off x="5115458" y="5321808"/>
            <a:ext cx="2600858" cy="320040"/>
          </a:xfrm>
          <a:prstGeom prst="rect">
            <a:avLst/>
          </a:prstGeom>
          <a:noFill/>
          <a:ln/>
        </p:spPr>
        <p:txBody>
          <a:bodyPr wrap="square" lIns="0" tIns="0" rIns="0" bIns="0" rtlCol="0" anchor="t"/>
          <a:lstStyle/>
          <a:p>
            <a:pPr indent="0" marL="0">
              <a:buNone/>
            </a:pPr>
            <a:r>
              <a:rPr lang="en-US" sz="1600" b="1" dirty="0">
                <a:solidFill>
                  <a:schemeClr val="tx1"/>
                </a:solidFill>
              </a:rPr>
              <a:t>테마 전환</a:t>
            </a:r>
            <a:endParaRPr lang="en-US" sz="1600" dirty="0"/>
          </a:p>
        </p:txBody>
      </p:sp>
      <p:sp>
        <p:nvSpPr>
          <p:cNvPr id="18" name="Text 11"/>
          <p:cNvSpPr txBox="1"/>
          <p:nvPr/>
        </p:nvSpPr>
        <p:spPr>
          <a:xfrm>
            <a:off x="5115458" y="5669280"/>
            <a:ext cx="2600858" cy="411480"/>
          </a:xfrm>
          <a:prstGeom prst="rect">
            <a:avLst/>
          </a:prstGeom>
          <a:noFill/>
          <a:ln/>
        </p:spPr>
        <p:txBody>
          <a:bodyPr wrap="square" lIns="0" tIns="0" rIns="0" bIns="0" rtlCol="0" anchor="t"/>
          <a:lstStyle/>
          <a:p>
            <a:pPr indent="0" marL="0">
              <a:buNone/>
            </a:pPr>
            <a:r>
              <a:rPr lang="en-US" sz="1300" dirty="0">
                <a:solidFill>
                  <a:schemeClr val="tx2"/>
                </a:solidFill>
              </a:rPr>
              <a:t>선택값 저장 · 첫 페인트 전 적용</a:t>
            </a:r>
            <a:endParaRPr lang="en-US" sz="1300" dirty="0"/>
          </a:p>
        </p:txBody>
      </p:sp>
      <p:sp>
        <p:nvSpPr>
          <p:cNvPr id="19" name="Feature 접근성"/>
          <p:cNvSpPr/>
          <p:nvPr/>
        </p:nvSpPr>
        <p:spPr>
          <a:xfrm>
            <a:off x="8127797" y="5212080"/>
            <a:ext cx="3515258" cy="960120"/>
          </a:xfrm>
          <a:prstGeom prst="roundRect">
            <a:avLst>
              <a:gd name="adj" fmla="val 15238"/>
            </a:avLst>
          </a:prstGeom>
          <a:solidFill>
            <a:schemeClr val="bg1"/>
          </a:solidFill>
          <a:ln w="12700">
            <a:solidFill>
              <a:schemeClr val="bg1"/>
            </a:solidFill>
            <a:prstDash val="solid"/>
          </a:ln>
          <a:effectLst>
            <a:outerShdw sx="100000" sy="100000" kx="0" ky="0" algn="bl" rotWithShape="0" blurRad="127000" dist="25400" dir="5400000">
              <a:srgbClr val="000000">
                <a:alpha val="8000"/>
              </a:srgbClr>
            </a:outerShdw>
          </a:effectLst>
        </p:spPr>
      </p:sp>
      <p:pic>
        <p:nvPicPr>
          <p:cNvPr id="20" name="Image 5" descr="shield icon">    </p:cNvPr>
          <p:cNvPicPr>
            <a:picLocks noChangeAspect="1"/>
          </p:cNvPicPr>
          <p:nvPr/>
        </p:nvPicPr>
        <p:blipFill>
          <a:blip r:embed="rId6"/>
          <a:stretch>
            <a:fillRect/>
          </a:stretch>
        </p:blipFill>
        <p:spPr>
          <a:xfrm>
            <a:off x="8356397" y="5468112"/>
            <a:ext cx="365760" cy="365760"/>
          </a:xfrm>
          <a:prstGeom prst="rect">
            <a:avLst/>
          </a:prstGeom>
        </p:spPr>
      </p:pic>
      <p:sp>
        <p:nvSpPr>
          <p:cNvPr id="21" name="Text 13"/>
          <p:cNvSpPr txBox="1"/>
          <p:nvPr/>
        </p:nvSpPr>
        <p:spPr>
          <a:xfrm>
            <a:off x="8905037" y="5321808"/>
            <a:ext cx="2600858" cy="320040"/>
          </a:xfrm>
          <a:prstGeom prst="rect">
            <a:avLst/>
          </a:prstGeom>
          <a:noFill/>
          <a:ln/>
        </p:spPr>
        <p:txBody>
          <a:bodyPr wrap="square" lIns="0" tIns="0" rIns="0" bIns="0" rtlCol="0" anchor="t"/>
          <a:lstStyle/>
          <a:p>
            <a:pPr indent="0" marL="0">
              <a:buNone/>
            </a:pPr>
            <a:r>
              <a:rPr lang="en-US" sz="1600" b="1" dirty="0">
                <a:solidFill>
                  <a:schemeClr val="tx1"/>
                </a:solidFill>
              </a:rPr>
              <a:t>접근성</a:t>
            </a:r>
            <a:endParaRPr lang="en-US" sz="1600" dirty="0"/>
          </a:p>
        </p:txBody>
      </p:sp>
      <p:sp>
        <p:nvSpPr>
          <p:cNvPr id="22" name="Text 14"/>
          <p:cNvSpPr txBox="1"/>
          <p:nvPr/>
        </p:nvSpPr>
        <p:spPr>
          <a:xfrm>
            <a:off x="8905037" y="5669280"/>
            <a:ext cx="2600858" cy="411480"/>
          </a:xfrm>
          <a:prstGeom prst="rect">
            <a:avLst/>
          </a:prstGeom>
          <a:noFill/>
          <a:ln/>
        </p:spPr>
        <p:txBody>
          <a:bodyPr wrap="square" lIns="0" tIns="0" rIns="0" bIns="0" rtlCol="0" anchor="t"/>
          <a:lstStyle/>
          <a:p>
            <a:pPr indent="0" marL="0">
              <a:buNone/>
            </a:pPr>
            <a:r>
              <a:rPr lang="en-US" sz="1300" dirty="0">
                <a:solidFill>
                  <a:schemeClr val="tx2"/>
                </a:solidFill>
              </a:rPr>
              <a:t>본문 건너뛰기 · 동작 줄이기 대응</a:t>
            </a:r>
            <a:endParaRPr lang="en-US" sz="13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ReFind Claim Tag">
  <a:themeElements>
    <a:clrScheme name="ReFind Claim Tag">
      <a:dk1>
        <a:srgbClr val="000000"/>
      </a:dk1>
      <a:lt1>
        <a:srgbClr val="FFFFFF"/>
      </a:lt1>
      <a:dk2>
        <a:srgbClr val="636366"/>
      </a:dk2>
      <a:lt2>
        <a:srgbClr val="F2F2F7"/>
      </a:lt2>
      <a:accent1>
        <a:srgbClr val="1C1C1E"/>
      </a:accent1>
      <a:accent2>
        <a:srgbClr val="2C2C2E"/>
      </a:accent2>
      <a:accent3>
        <a:srgbClr val="1D7A36"/>
      </a:accent3>
      <a:accent4>
        <a:srgbClr val="D70015"/>
      </a:accent4>
      <a:accent5>
        <a:srgbClr val="E5E5EA"/>
      </a:accent5>
      <a:accent6>
        <a:srgbClr val="A1A1A6"/>
      </a:accent6>
      <a:hlink>
        <a:srgbClr val="000000"/>
      </a:hlink>
      <a:folHlink>
        <a:srgbClr val="636366"/>
      </a:folHlink>
    </a:clrScheme>
    <a:fontScheme name="ReFind Claim Tag">
      <a:majorFont>
        <a:latin typeface="Apple SD Gothic Neo"/>
        <a:ea typeface="Apple SD Gothic Neo"/>
        <a:cs typeface=""/>
        <a:font script="Jpan" typeface="游ゴシック Light"/>
        <a:font script="Hang" typeface="Apple SD Gothic Neo"/>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Apple SD Gothic Neo"/>
        <a:cs typeface=""/>
        <a:font script="Jpan" typeface="游ゴシック"/>
        <a:font script="Hang" typeface="Apple SD Gothic Neo"/>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ReFind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ReFind 최종발표</dc:title>
  <dc:subject>PptxGenJS Presentation</dc:subject>
  <dc:creator>김민서</dc:creator>
  <cp:lastModifiedBy>김민서</cp:lastModifiedBy>
  <cp:revision>1</cp:revision>
  <dcterms:created xsi:type="dcterms:W3CDTF">2026-10-29T05:51:01Z</dcterms:created>
  <dcterms:modified xsi:type="dcterms:W3CDTF">2026-10-29T05:51:01Z</dcterms:modified>
</cp:coreProperties>
</file>